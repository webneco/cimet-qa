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4451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CIMET QA Gate scores every sale against its retailer's checklist before it can be submitted. All green, it goes through. Any red, it is held with the exact line, timestamp and rule next to it. Everything you will see in this deck is the running product, not mock-ups.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from the brief. Today an auditor pulls the recording, listens to the whole call, fills an Excel form, and the sale waits. At thousands of sales a month across roughly 30 retailers, that does not scale and would not survive a serious retailer audit.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product decides. Every sale lands in exactly one of three states. HELD means a critical check failed with enough confidence; it goes to a team leader. QA means the machine is not sure about something critical; a human decides - nothing uncertain ever auto-passes. SUBMITTED means every critical check passed confidently; 5% of these are still sampled for a human audit so we keep measuring the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The dialler pushes the recording by API, keyed on Lead ID. Speech-to-text returns speaker-separated turns with timestamps. The transcript is stored against the lead after card numbers are masked and the agent is identified. Then the checklist runs, the gate decides, and the team leader sees the result with evidence. Nobody downloads or uploads anything.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ingestion, which the brief said to build first. Three ways in: raw audio body, a URL we fetch, or base64. Every job moves through received, transcribing, scoring, done or error, and each step is appended to a log. The agent is identified by what they say - compliance phrases only an agent says - not by who spoke first, and the margin is recorded. Card numbers are masked before anything touches disk, whether ASR wrote them as digits or words.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this part matters most. Type A compares the transcript to the approved script - deterministic, no LLM, so no hallucination surface. Type B checks facts: the LLM only reports what was said, and deterministic code compares it to the CRM and plan. Type C is behaviour - dead air, talk-over, confusion - and is removed before the gate so it can never block a sale.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Type B match can be trusted. The prompt is built from the check definition and the transcript only - the CRM and plan are not even in scope of that function. Before sending, a leak guard refuses any prompt that contains a reference value that was not spoken on the call. The quote the model returns must exist in the transcript, and the comparison is plain code. So a match means the agent actually said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Rules run in order, first match wins. Coaching notes are removed before anything is evaluated, so a Type C result can never influence the outcome. HELD and QA both write a routing record to a queue file, so 'queued to a team leader' is a real entry. Five percent of submitted sales are sampled with a stable hash so demos replay identically.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named guardrails. Each one is attached to the result it changed, visible in the console and in the audit JSON. The theme is judgment: unheard is not unsaid, an abstention is never a fail, invented evidence cannot reach a verdict, and a machine that isn't confident routes to a human instead of holding a customer's sale. G7 and G8 came directly from testing on real audio and the official NBN artefact.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console, review-first. One: the verdict in plain words. Two: the checks that need a human, as cards. Three: the call as a timeline you can click. Four: tabs for transcript, CRM and plan, audit, and overrides. Five: the lead picker and engine status. Plain HTML, CSS and JavaScript served by the Python server - no build step.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 picker. Brief leads first, synthetic test calls below. The dot is each lead's latest verdict - red held, amber QA, green submitted - and on startup any lead never scored is scored once in the background so every dot has a colour. Tags mark the NBN pack, calls scored from a real recording, and noisy audio.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first. Every failed or unsure check becomes a card: what was said against what it had to be, the reason in one sentence, the timestamp, Play 20 seconds, and Override. The team leader doesn't read a table - they read two cards. Passed checks and coaching notes are folded away but one click from their own evidence.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 card and every claim behind the verdict is on screen: the verbatim quote with its turn and time, what the extractor heard, the reference and where it came from, the comparison, which extractor ran and with what effort, the leak guard, whether the quote was grounded, the prompt hash, the check version and its regulatory basis. A team leader never has to take the machine's word for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as a timeline. Agent speech on the top lane, customer on the bottom, a pin for every check - red fail, amber unsure, green pass - and dead air hatched. Click a pin and the check opens and the audio plays from that moment for twenty seconds, exactly as the brief describes: the team leader clicks the timestamp, hears twenty seconds, and nobody listens to thirty minutes. With a recording, a playhead follows the audio and the line being spoken is highlighted.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recording end to end. This lead's audio was pushed through the dialler webhook and transcribed by ElevenLabs Scribe. The rate card is selected, the player is at 1:42, the playhead is on the timeline, and the evidence shows Claude extracted twenty-seven point nine against the plan's thirty-one point nine. The source line reads 'from dialler recording, elevenlabs scribe v1'.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stay one click away. CRM and plan are read-only and a field that failed is flagged in red - here the mistyped email. The audit tab shows the run ID, checklist version, extractor, confidence floor, weighted score, evidence coverage, queue and transcript checksum, then the pipeline trace with timings, and the download for the full audit JSON.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own worked example, lead 3613790, reproduced by the running system. The rate failure at 14:02 with 28.6 said against 31.9, the email failure at 22:10 with gmail said against gmial in the CRM, and the dead air coaching note at 18:30. Our transcript's opening checks land at different times than the illustration, but every verdict matches. The system adds one thing the brief didn't: it explains that gmial is not a real provider, so this is a keying error in the CRM, not a mishear.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Messy audio, lead 3613792. Crosstalk, inaudible markers, a dropped line. The DMO statement only matched 44% of its wording, which would normally be a fail - but G1 sees five audio markers and low ASR confidence in that span and downgrades it to unsure. The rate and email were obstructed, so the extractor abstained, G2. The checks that were audible still passed. Result: QA, not HELD. Silence is never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finding from real audio. We rendered test calls, pushed them through the webhook, and ElevenLabs Scribe heard 'bigpond' as 'bizpoint' on a noisy line. The old comparison called that a critical email failure and held a clean sale. G7 now recognises when the CRM has a real provider and the transcript has one that doesn't exist - or when two spellings sound identical - and routes it to a human with the clip. The brief's gmial case still fails, because that's a keying error in the CRM, not something anyone could mishear.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packs. The Retailer 1 energy checklist stays the default. Extra packs apply only to leads that name them. The official CIMET NBN artefact is lead 3613793: copied row for row from the redacted PDF, all fifteen placeholder tags preserved, and scored against a new twelve-check NBN pack. Adding it changed zero verdicts on the original three leads - we diffed every result before and after.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finding in the NBN call. At 06:07 the agent told the customer the total minimum cost would be forty-two ninety only. Later the agent read three hundred and seventeen off the customer's order screen three times and said not to worry. 317 minus the 275 development fee is 42 - the agent's figure is the order total without a fee the lead says doesn't apply, but the order still includes it and the agent guaranteed it wouldn't be charged. The call alone can't show which the provider will bill, so G8 scores it as a fail at reduced confidence, and at 0.57 it's below the floor: QA. The contract term is unsure because the agent said both 'month to month' and 'one to one contract' and the lead carries no term - we didn't invent 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the override. A team leader can flip any Type A or Type B verdict, but only with a written reason of at least ten characters - enforced in the console and again at the API. The machine's verdict and confidence are kept next to the human's, the gate re-runs live, and the entry is appended to a log that is never rewritten. The CRM is never touched. Coaching notes can't be overridden because they never affect the gate.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Traceability. Every result carries the check id, version and effective date, status, confidence, the quote, the start time, the turn, the speaker, whether it blocks the sale, the guardrails that fired, and type-specific evidence. Every run writes one audit file with the checklist version in force, the transcript checksum, the CRM and plan snapshots, all results, the gate decision, its history and the override log. One honest gap: versions are stamped on every result, but choosing the version that was live on the call date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non-negotiables and where each one lives in the product. Five are fully in place. The sixth - scoring against the rules that were live on the call date - is partly there: versions and effective dates are stamped on every result, and resolving by call date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accuracy, which is thirty percent of the judging. Twelve hand-labelled synthetic calls, labels written independently of the scorer. Zero critical false passes, zero sales wrongly submitted, zero wrongly held, kappa one. One call - the crosstalk one - was routed to QA instead of passed, which is the system declining to guess. On real audio through ElevenLabs Scribe, the three calls that went through also show zero false passes and zero wrong gates, with two email verdicts routed to a human by G7. The honest caveat: reference transcripts follow the scripts, so they are a floor; the real test is the recording on the day.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tested. Ninety-three behavioural assertions run offline in about a second, including the brief's worked example, the messy call, redaction, overrides, the leak guard, the dialler path and the NBN lead. Twelve synthetic calls each plant one or two defects with hand-written labels. Audio is generated with ElevenLabs or the free Windows voices and made to sound like a phone line. A dialler simulator pushes each recording through the real webhook, and the eval scores the ASR output against the labels.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Mapped to the judging criteria. Accuracy: the eval panel, zero critical false passes. Coverage: all three check types run end to end against the full Retailer 1 checklist and a second NBN pack. Traceability: quote, timestamp and check version on every result, click-to-play, audit JSON. Gate: held, QA and submitted with a confidence floor and sampling. Guardrails: G1 to G8, tested on messy and real audio.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one command. Python standard library only for the server, scoring engine and UI - no framework, no build step, no database, no Docker. Keys are optional: Anthropic for Type B extraction, ElevenLabs or Deepgram for recordings. Without keys everything still runs on the deterministic extractor and says so. Everything is configured from a .env file.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what's next. The brief's dashboards - agent-wise daily, weekly and monthly, first-pass yield and repeat offences - aren't built yet; the audit files already hold everything they need. Check versions are stamped but not yet resolved by call date. Stereo dialler recordings could use channels for certain speaker labels. The job queue is in memory. And if the LLM fails - for example when API credit runs out - every Type B check falls back to the deterministic extractor and records why.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three-minute live demo. Open on 3613790, the brief's example, held. Click 14:02 to show the evidence. Override the rate with a reason and show the gate stay held until the email clears too. Switch to 3613792 to show silence is never evidence. Open 3613793, the official NBN artefact, and show the forty-two ninety against three hundred and seventeen. Finish on the Accuracy panel.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ask from the brief, one more time: no sale ships unscored - and when it's held, explain exactly why, in seconds, not minutes. Thank you.</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a:effectLst/>
      </p:bgPr>
    </p:bg>
    <p:spTree>
      <p:nvGrpSpPr>
        <p:cNvPr id="1" name=""/>
        <p:cNvGrpSpPr/>
        <p:nvPr/>
      </p:nvGrpSpPr>
      <p:grpSpPr>
        <a:xfrm>
          <a:off x="0" y="0"/>
          <a:ext cx="0" cy="0"/>
          <a:chOff x="0" y="0"/>
          <a:chExt cx="0" cy="0"/>
        </a:xfrm>
      </p:grpSpPr>
      <p:sp>
        <p:nvSpPr>
          <p:cNvPr id="3" name="Text 0"/>
          <p:cNvSpPr txBox="1"/>
          <p:nvPr/>
        </p:nvSpPr>
        <p:spPr>
          <a:xfrm>
            <a:off x="548640" y="822960"/>
            <a:ext cx="5486400" cy="274320"/>
          </a:xfrm>
          <a:prstGeom prst="rect">
            <a:avLst/>
          </a:prstGeom>
          <a:noFill/>
          <a:ln/>
        </p:spPr>
        <p:txBody>
          <a:bodyPr wrap="square" lIns="0" tIns="0" rIns="0" bIns="0" rtlCol="0" anchor="ctr"/>
          <a:lstStyle/>
          <a:p>
            <a:pPr marL="0" indent="0">
              <a:buNone/>
            </a:pPr>
            <a:r>
              <a:rPr lang="en-US" sz="1200" b="1" kern="0" spc="300" dirty="0">
                <a:solidFill>
                  <a:srgbClr val="6AA8FF"/>
                </a:solidFill>
                <a:latin typeface="Calibri" pitchFamily="34" charset="0"/>
                <a:ea typeface="Calibri" pitchFamily="34" charset="-122"/>
                <a:cs typeface="Calibri" pitchFamily="34" charset="-120"/>
              </a:rPr>
              <a:t>HACKATHON BUILD  ·  QA AUTOMATION</a:t>
            </a:r>
            <a:endParaRPr lang="en-US" sz="1200" dirty="0"/>
          </a:p>
        </p:txBody>
      </p:sp>
      <p:sp>
        <p:nvSpPr>
          <p:cNvPr id="4" name="Text 1"/>
          <p:cNvSpPr txBox="1"/>
          <p:nvPr/>
        </p:nvSpPr>
        <p:spPr>
          <a:xfrm>
            <a:off x="548640" y="1234440"/>
            <a:ext cx="5486400" cy="914400"/>
          </a:xfrm>
          <a:prstGeom prst="rect">
            <a:avLst/>
          </a:prstGeom>
          <a:noFill/>
          <a:ln/>
        </p:spPr>
        <p:txBody>
          <a:bodyPr wrap="square" lIns="0" tIns="0" rIns="0" bIns="0" rtlCol="0" anchor="ctr"/>
          <a:lstStyle/>
          <a:p>
            <a:pPr marL="0" indent="0">
              <a:buNone/>
            </a:pPr>
            <a:r>
              <a:rPr lang="en-US" sz="5400" b="1" dirty="0">
                <a:solidFill>
                  <a:srgbClr val="E8EDF6"/>
                </a:solidFill>
                <a:latin typeface="Calibri" pitchFamily="34" charset="0"/>
                <a:ea typeface="Calibri" pitchFamily="34" charset="-122"/>
                <a:cs typeface="Calibri" pitchFamily="34" charset="-120"/>
              </a:rPr>
              <a:t>CIMET QA Gate</a:t>
            </a:r>
            <a:endParaRPr lang="en-US" sz="5400" dirty="0"/>
          </a:p>
        </p:txBody>
      </p:sp>
      <p:sp>
        <p:nvSpPr>
          <p:cNvPr id="5" name="Text 2"/>
          <p:cNvSpPr txBox="1"/>
          <p:nvPr/>
        </p:nvSpPr>
        <p:spPr>
          <a:xfrm>
            <a:off x="548640" y="2148840"/>
            <a:ext cx="5486400" cy="548640"/>
          </a:xfrm>
          <a:prstGeom prst="rect">
            <a:avLst/>
          </a:prstGeom>
          <a:noFill/>
          <a:ln/>
        </p:spPr>
        <p:txBody>
          <a:bodyPr wrap="square" lIns="0" tIns="0" rIns="0" bIns="0" rtlCol="0" anchor="ctr"/>
          <a:lstStyle/>
          <a:p>
            <a:pPr marL="0" indent="0">
              <a:buNone/>
            </a:pPr>
            <a:r>
              <a:rPr lang="en-US" sz="2800" b="1" dirty="0">
                <a:solidFill>
                  <a:srgbClr val="E8EDF6"/>
                </a:solidFill>
                <a:latin typeface="Calibri" pitchFamily="34" charset="0"/>
                <a:ea typeface="Calibri" pitchFamily="34" charset="-122"/>
                <a:cs typeface="Calibri" pitchFamily="34" charset="-120"/>
              </a:rPr>
              <a:t>Score the sale before it </a:t>
            </a:r>
            <a:r>
              <a:rPr lang="en-US" sz="2800" b="1" dirty="0">
                <a:solidFill>
                  <a:srgbClr val="F87171"/>
                </a:solidFill>
                <a:latin typeface="Calibri" pitchFamily="34" charset="0"/>
                <a:ea typeface="Calibri" pitchFamily="34" charset="-122"/>
                <a:cs typeface="Calibri" pitchFamily="34" charset="-120"/>
              </a:rPr>
              <a:t>ships.</a:t>
            </a:r>
            <a:endParaRPr lang="en-US" sz="2800" dirty="0"/>
          </a:p>
        </p:txBody>
      </p:sp>
      <p:sp>
        <p:nvSpPr>
          <p:cNvPr id="6" name="Text 3"/>
          <p:cNvSpPr txBox="1"/>
          <p:nvPr/>
        </p:nvSpPr>
        <p:spPr>
          <a:xfrm>
            <a:off x="548640" y="2880360"/>
            <a:ext cx="4937760" cy="1097280"/>
          </a:xfrm>
          <a:prstGeom prst="rect">
            <a:avLst/>
          </a:prstGeom>
          <a:noFill/>
          <a:ln/>
        </p:spPr>
        <p:txBody>
          <a:bodyPr wrap="square" lIns="0" tIns="0" rIns="0" bIns="0" rtlCol="0" anchor="t"/>
          <a:lstStyle/>
          <a:p>
            <a:pPr marL="0" indent="0">
              <a:buNone/>
            </a:pPr>
            <a:r>
              <a:rPr lang="en-US" sz="1500" dirty="0">
                <a:solidFill>
                  <a:srgbClr val="A3AEC3"/>
                </a:solidFill>
                <a:latin typeface="Calibri" pitchFamily="34" charset="0"/>
                <a:ea typeface="Calibri" pitchFamily="34" charset="-122"/>
                <a:cs typeface="Calibri" pitchFamily="34" charset="-120"/>
              </a:rPr>
              <a:t>Every sale is checked against its retailer's checklist before it can be submitted. Every verdict points to the exact transcript line, audio timestamp and rule version behind it.</a:t>
            </a:r>
            <a:endParaRPr lang="en-US" sz="1500" dirty="0"/>
          </a:p>
        </p:txBody>
      </p:sp>
      <p:sp>
        <p:nvSpPr>
          <p:cNvPr id="7" name="Text 4"/>
          <p:cNvSpPr txBox="1"/>
          <p:nvPr/>
        </p:nvSpPr>
        <p:spPr>
          <a:xfrm>
            <a:off x="548640" y="4343400"/>
            <a:ext cx="1188720" cy="548640"/>
          </a:xfrm>
          <a:prstGeom prst="rect">
            <a:avLst/>
          </a:prstGeom>
          <a:noFill/>
          <a:ln/>
        </p:spPr>
        <p:txBody>
          <a:bodyPr wrap="square" lIns="0" tIns="0" rIns="0" bIns="0" rtlCol="0" anchor="ctr"/>
          <a:lstStyle/>
          <a:p>
            <a:pPr marL="0" indent="0">
              <a:buNone/>
            </a:pPr>
            <a:r>
              <a:rPr lang="en-US" sz="3200" b="1" dirty="0">
                <a:solidFill>
                  <a:srgbClr val="F87171"/>
                </a:solidFill>
                <a:latin typeface="Calibri" pitchFamily="34" charset="0"/>
                <a:ea typeface="Calibri" pitchFamily="34" charset="-122"/>
                <a:cs typeface="Calibri" pitchFamily="34" charset="-120"/>
              </a:rPr>
              <a:t>3</a:t>
            </a:r>
            <a:endParaRPr lang="en-US" sz="3200" dirty="0"/>
          </a:p>
        </p:txBody>
      </p:sp>
      <p:sp>
        <p:nvSpPr>
          <p:cNvPr id="8" name="Text 5"/>
          <p:cNvSpPr txBox="1"/>
          <p:nvPr/>
        </p:nvSpPr>
        <p:spPr>
          <a:xfrm>
            <a:off x="548640" y="4892040"/>
            <a:ext cx="1188720" cy="548640"/>
          </a:xfrm>
          <a:prstGeom prst="rect">
            <a:avLst/>
          </a:prstGeom>
          <a:noFill/>
          <a:ln/>
        </p:spPr>
        <p:txBody>
          <a:bodyPr wrap="square" lIns="0" tIns="0" rIns="0" bIns="0" rtlCol="0" anchor="t"/>
          <a:lstStyle/>
          <a:p>
            <a:pPr marL="0" indent="0">
              <a:buNone/>
            </a:pPr>
            <a:r>
              <a:rPr lang="en-US" sz="1050" dirty="0">
                <a:solidFill>
                  <a:srgbClr val="6F7C94"/>
                </a:solidFill>
                <a:latin typeface="Calibri" pitchFamily="34" charset="0"/>
                <a:ea typeface="Calibri" pitchFamily="34" charset="-122"/>
                <a:cs typeface="Calibri" pitchFamily="34" charset="-120"/>
              </a:rPr>
              <a:t>outcomes: HELD · QA · SUBMITTED</a:t>
            </a:r>
            <a:endParaRPr lang="en-US" sz="1050" dirty="0"/>
          </a:p>
        </p:txBody>
      </p:sp>
      <p:sp>
        <p:nvSpPr>
          <p:cNvPr id="9" name="Text 6"/>
          <p:cNvSpPr txBox="1"/>
          <p:nvPr/>
        </p:nvSpPr>
        <p:spPr>
          <a:xfrm>
            <a:off x="1847088" y="4343400"/>
            <a:ext cx="1188720" cy="548640"/>
          </a:xfrm>
          <a:prstGeom prst="rect">
            <a:avLst/>
          </a:prstGeom>
          <a:noFill/>
          <a:ln/>
        </p:spPr>
        <p:txBody>
          <a:bodyPr wrap="square" lIns="0" tIns="0" rIns="0" bIns="0" rtlCol="0" anchor="ctr"/>
          <a:lstStyle/>
          <a:p>
            <a:pPr marL="0" indent="0">
              <a:buNone/>
            </a:pPr>
            <a:r>
              <a:rPr lang="en-US" sz="3200" b="1" dirty="0">
                <a:solidFill>
                  <a:srgbClr val="6AA8FF"/>
                </a:solidFill>
                <a:latin typeface="Calibri" pitchFamily="34" charset="0"/>
                <a:ea typeface="Calibri" pitchFamily="34" charset="-122"/>
                <a:cs typeface="Calibri" pitchFamily="34" charset="-120"/>
              </a:rPr>
              <a:t>21</a:t>
            </a:r>
            <a:endParaRPr lang="en-US" sz="3200" dirty="0"/>
          </a:p>
        </p:txBody>
      </p:sp>
      <p:sp>
        <p:nvSpPr>
          <p:cNvPr id="10" name="Text 7"/>
          <p:cNvSpPr txBox="1"/>
          <p:nvPr/>
        </p:nvSpPr>
        <p:spPr>
          <a:xfrm>
            <a:off x="1847088" y="4892040"/>
            <a:ext cx="1188720" cy="548640"/>
          </a:xfrm>
          <a:prstGeom prst="rect">
            <a:avLst/>
          </a:prstGeom>
          <a:noFill/>
          <a:ln/>
        </p:spPr>
        <p:txBody>
          <a:bodyPr wrap="square" lIns="0" tIns="0" rIns="0" bIns="0" rtlCol="0" anchor="t"/>
          <a:lstStyle/>
          <a:p>
            <a:pPr marL="0" indent="0">
              <a:buNone/>
            </a:pPr>
            <a:r>
              <a:rPr lang="en-US" sz="1050" dirty="0">
                <a:solidFill>
                  <a:srgbClr val="6F7C94"/>
                </a:solidFill>
                <a:latin typeface="Calibri" pitchFamily="34" charset="0"/>
                <a:ea typeface="Calibri" pitchFamily="34" charset="-122"/>
                <a:cs typeface="Calibri" pitchFamily="34" charset="-120"/>
              </a:rPr>
              <a:t>checks in 2 packs</a:t>
            </a:r>
            <a:endParaRPr lang="en-US" sz="1050" dirty="0"/>
          </a:p>
        </p:txBody>
      </p:sp>
      <p:sp>
        <p:nvSpPr>
          <p:cNvPr id="11" name="Text 8"/>
          <p:cNvSpPr txBox="1"/>
          <p:nvPr/>
        </p:nvSpPr>
        <p:spPr>
          <a:xfrm>
            <a:off x="3145536" y="4343400"/>
            <a:ext cx="1188720" cy="548640"/>
          </a:xfrm>
          <a:prstGeom prst="rect">
            <a:avLst/>
          </a:prstGeom>
          <a:noFill/>
          <a:ln/>
        </p:spPr>
        <p:txBody>
          <a:bodyPr wrap="square" lIns="0" tIns="0" rIns="0" bIns="0" rtlCol="0" anchor="ctr"/>
          <a:lstStyle/>
          <a:p>
            <a:pPr marL="0" indent="0">
              <a:buNone/>
            </a:pPr>
            <a:r>
              <a:rPr lang="en-US" sz="3200" b="1" dirty="0">
                <a:solidFill>
                  <a:srgbClr val="FBBF24"/>
                </a:solidFill>
                <a:latin typeface="Calibri" pitchFamily="34" charset="0"/>
                <a:ea typeface="Calibri" pitchFamily="34" charset="-122"/>
                <a:cs typeface="Calibri" pitchFamily="34" charset="-120"/>
              </a:rPr>
              <a:t>8</a:t>
            </a:r>
            <a:endParaRPr lang="en-US" sz="3200" dirty="0"/>
          </a:p>
        </p:txBody>
      </p:sp>
      <p:sp>
        <p:nvSpPr>
          <p:cNvPr id="12" name="Text 9"/>
          <p:cNvSpPr txBox="1"/>
          <p:nvPr/>
        </p:nvSpPr>
        <p:spPr>
          <a:xfrm>
            <a:off x="3145536" y="4892040"/>
            <a:ext cx="1188720" cy="548640"/>
          </a:xfrm>
          <a:prstGeom prst="rect">
            <a:avLst/>
          </a:prstGeom>
          <a:noFill/>
          <a:ln/>
        </p:spPr>
        <p:txBody>
          <a:bodyPr wrap="square" lIns="0" tIns="0" rIns="0" bIns="0" rtlCol="0" anchor="t"/>
          <a:lstStyle/>
          <a:p>
            <a:pPr marL="0" indent="0">
              <a:buNone/>
            </a:pPr>
            <a:r>
              <a:rPr lang="en-US" sz="1050" dirty="0">
                <a:solidFill>
                  <a:srgbClr val="6F7C94"/>
                </a:solidFill>
                <a:latin typeface="Calibri" pitchFamily="34" charset="0"/>
                <a:ea typeface="Calibri" pitchFamily="34" charset="-122"/>
                <a:cs typeface="Calibri" pitchFamily="34" charset="-120"/>
              </a:rPr>
              <a:t>named guardrails</a:t>
            </a:r>
            <a:endParaRPr lang="en-US" sz="1050" dirty="0"/>
          </a:p>
        </p:txBody>
      </p:sp>
      <p:sp>
        <p:nvSpPr>
          <p:cNvPr id="13" name="Text 10"/>
          <p:cNvSpPr txBox="1"/>
          <p:nvPr/>
        </p:nvSpPr>
        <p:spPr>
          <a:xfrm>
            <a:off x="4443984" y="4343400"/>
            <a:ext cx="1188720" cy="548640"/>
          </a:xfrm>
          <a:prstGeom prst="rect">
            <a:avLst/>
          </a:prstGeom>
          <a:noFill/>
          <a:ln/>
        </p:spPr>
        <p:txBody>
          <a:bodyPr wrap="square" lIns="0" tIns="0" rIns="0" bIns="0" rtlCol="0" anchor="ctr"/>
          <a:lstStyle/>
          <a:p>
            <a:pPr marL="0" indent="0">
              <a:buNone/>
            </a:pPr>
            <a:r>
              <a:rPr lang="en-US" sz="3200" b="1" dirty="0">
                <a:solidFill>
                  <a:srgbClr val="34D399"/>
                </a:solidFill>
                <a:latin typeface="Calibri" pitchFamily="34" charset="0"/>
                <a:ea typeface="Calibri" pitchFamily="34" charset="-122"/>
                <a:cs typeface="Calibri" pitchFamily="34" charset="-120"/>
              </a:rPr>
              <a:t>93</a:t>
            </a:r>
            <a:endParaRPr lang="en-US" sz="3200" dirty="0"/>
          </a:p>
        </p:txBody>
      </p:sp>
      <p:sp>
        <p:nvSpPr>
          <p:cNvPr id="14" name="Text 11"/>
          <p:cNvSpPr txBox="1"/>
          <p:nvPr/>
        </p:nvSpPr>
        <p:spPr>
          <a:xfrm>
            <a:off x="4443984" y="4892040"/>
            <a:ext cx="1188720" cy="548640"/>
          </a:xfrm>
          <a:prstGeom prst="rect">
            <a:avLst/>
          </a:prstGeom>
          <a:noFill/>
          <a:ln/>
        </p:spPr>
        <p:txBody>
          <a:bodyPr wrap="square" lIns="0" tIns="0" rIns="0" bIns="0" rtlCol="0" anchor="t"/>
          <a:lstStyle/>
          <a:p>
            <a:pPr marL="0" indent="0">
              <a:buNone/>
            </a:pPr>
            <a:r>
              <a:rPr lang="en-US" sz="1050" dirty="0">
                <a:solidFill>
                  <a:srgbClr val="6F7C94"/>
                </a:solidFill>
                <a:latin typeface="Calibri" pitchFamily="34" charset="0"/>
                <a:ea typeface="Calibri" pitchFamily="34" charset="-122"/>
                <a:cs typeface="Calibri" pitchFamily="34" charset="-120"/>
              </a:rPr>
              <a:t>self-test assertions</a:t>
            </a:r>
            <a:endParaRPr lang="en-US" sz="1050" dirty="0"/>
          </a:p>
        </p:txBody>
      </p:sp>
      <p:sp>
        <p:nvSpPr>
          <p:cNvPr id="15" name="Shape 12"/>
          <p:cNvSpPr/>
          <p:nvPr/>
        </p:nvSpPr>
        <p:spPr>
          <a:xfrm>
            <a:off x="6117336" y="1863947"/>
            <a:ext cx="5641848" cy="3221546"/>
          </a:xfrm>
          <a:prstGeom prst="roundRect">
            <a:avLst>
              <a:gd name="adj" fmla="val 2271"/>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16" name="Image 0" descr="C:\Users\adity\AppData\Local\Temp\claude\E--Webneco-Apps-cimet-qa\5d6d9e1f-a3b0-4938-a5a9-44ec7bd4cb64\scratchpad\deck\crops\main.png"/>
          <p:cNvPicPr>
            <a:picLocks noChangeAspect="1"/>
          </p:cNvPicPr>
          <p:nvPr/>
        </p:nvPicPr>
        <p:blipFill>
          <a:blip r:embed="rId3"/>
          <a:stretch>
            <a:fillRect/>
          </a:stretch>
        </p:blipFill>
        <p:spPr>
          <a:xfrm>
            <a:off x="6172200" y="1918811"/>
            <a:ext cx="5532120" cy="31118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01 · THE BOTTLENECK</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A manual process that can't scale</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Today every sale waits for a person to listen to the whole call.</a:t>
            </a:r>
            <a:endParaRPr lang="en-US" sz="1500" dirty="0"/>
          </a:p>
        </p:txBody>
      </p:sp>
      <p:sp>
        <p:nvSpPr>
          <p:cNvPr id="8" name="Shape 5"/>
          <p:cNvSpPr/>
          <p:nvPr/>
        </p:nvSpPr>
        <p:spPr>
          <a:xfrm>
            <a:off x="548640" y="2011680"/>
            <a:ext cx="5669280" cy="841248"/>
          </a:xfrm>
          <a:prstGeom prst="roundRect">
            <a:avLst>
              <a:gd name="adj" fmla="val 10870"/>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777240" y="2267712"/>
            <a:ext cx="329184" cy="329184"/>
          </a:xfrm>
          <a:prstGeom prst="ellipse">
            <a:avLst/>
          </a:prstGeom>
          <a:solidFill>
            <a:srgbClr val="6AA8FF"/>
          </a:solidFill>
          <a:ln w="12700">
            <a:solidFill>
              <a:srgbClr val="6AA8FF"/>
            </a:solidFill>
            <a:prstDash val="solid"/>
          </a:ln>
        </p:spPr>
        <p:txBody>
          <a:bodyPr/>
          <a:lstStyle/>
          <a:p>
            <a:endParaRPr lang="en-IN"/>
          </a:p>
        </p:txBody>
      </p:sp>
      <p:sp>
        <p:nvSpPr>
          <p:cNvPr id="10" name="Text 7"/>
          <p:cNvSpPr txBox="1"/>
          <p:nvPr/>
        </p:nvSpPr>
        <p:spPr>
          <a:xfrm>
            <a:off x="777240" y="2267712"/>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325880" y="2148840"/>
            <a:ext cx="466344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Auditor pulls the recording</a:t>
            </a:r>
            <a:endParaRPr lang="en-US" sz="1600" dirty="0"/>
          </a:p>
        </p:txBody>
      </p:sp>
      <p:sp>
        <p:nvSpPr>
          <p:cNvPr id="12" name="Text 9"/>
          <p:cNvSpPr txBox="1"/>
          <p:nvPr/>
        </p:nvSpPr>
        <p:spPr>
          <a:xfrm>
            <a:off x="1325880" y="2468880"/>
            <a:ext cx="4663440" cy="274320"/>
          </a:xfrm>
          <a:prstGeom prst="rect">
            <a:avLst/>
          </a:prstGeom>
          <a:noFill/>
          <a:ln/>
        </p:spPr>
        <p:txBody>
          <a:bodyPr wrap="square" lIns="0" tIns="0" rIns="0" bIns="0" rtlCol="0" anchor="t"/>
          <a:lstStyle/>
          <a:p>
            <a:pPr marL="0" indent="0">
              <a:buNone/>
            </a:pPr>
            <a:r>
              <a:rPr lang="en-US" sz="1250" dirty="0">
                <a:solidFill>
                  <a:srgbClr val="6F7C94"/>
                </a:solidFill>
                <a:latin typeface="Calibri" pitchFamily="34" charset="0"/>
                <a:ea typeface="Calibri" pitchFamily="34" charset="-122"/>
                <a:cs typeface="Calibri" pitchFamily="34" charset="-120"/>
              </a:rPr>
              <a:t>Downloaded by hand from the dialler</a:t>
            </a:r>
            <a:endParaRPr lang="en-US" sz="1250" dirty="0"/>
          </a:p>
        </p:txBody>
      </p:sp>
      <p:sp>
        <p:nvSpPr>
          <p:cNvPr id="13" name="Shape 10"/>
          <p:cNvSpPr/>
          <p:nvPr/>
        </p:nvSpPr>
        <p:spPr>
          <a:xfrm>
            <a:off x="548640" y="3035808"/>
            <a:ext cx="5669280" cy="841248"/>
          </a:xfrm>
          <a:prstGeom prst="roundRect">
            <a:avLst>
              <a:gd name="adj" fmla="val 10870"/>
            </a:avLst>
          </a:prstGeom>
          <a:solidFill>
            <a:srgbClr val="141B28"/>
          </a:solidFill>
          <a:ln w="9525">
            <a:solidFill>
              <a:srgbClr val="263248"/>
            </a:solidFill>
            <a:prstDash val="solid"/>
          </a:ln>
        </p:spPr>
        <p:txBody>
          <a:bodyPr/>
          <a:lstStyle/>
          <a:p>
            <a:endParaRPr lang="en-IN"/>
          </a:p>
        </p:txBody>
      </p:sp>
      <p:sp>
        <p:nvSpPr>
          <p:cNvPr id="14" name="Shape 11"/>
          <p:cNvSpPr/>
          <p:nvPr/>
        </p:nvSpPr>
        <p:spPr>
          <a:xfrm>
            <a:off x="777240" y="3291840"/>
            <a:ext cx="329184" cy="329184"/>
          </a:xfrm>
          <a:prstGeom prst="ellipse">
            <a:avLst/>
          </a:prstGeom>
          <a:solidFill>
            <a:srgbClr val="6AA8FF"/>
          </a:solidFill>
          <a:ln w="12700">
            <a:solidFill>
              <a:srgbClr val="6AA8FF"/>
            </a:solidFill>
            <a:prstDash val="solid"/>
          </a:ln>
        </p:spPr>
        <p:txBody>
          <a:bodyPr/>
          <a:lstStyle/>
          <a:p>
            <a:endParaRPr lang="en-IN"/>
          </a:p>
        </p:txBody>
      </p:sp>
      <p:sp>
        <p:nvSpPr>
          <p:cNvPr id="15" name="Text 12"/>
          <p:cNvSpPr txBox="1"/>
          <p:nvPr/>
        </p:nvSpPr>
        <p:spPr>
          <a:xfrm>
            <a:off x="777240" y="3291840"/>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1325880" y="3172968"/>
            <a:ext cx="466344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Listens end to end</a:t>
            </a:r>
            <a:endParaRPr lang="en-US" sz="1600" dirty="0"/>
          </a:p>
        </p:txBody>
      </p:sp>
      <p:sp>
        <p:nvSpPr>
          <p:cNvPr id="17" name="Text 14"/>
          <p:cNvSpPr txBox="1"/>
          <p:nvPr/>
        </p:nvSpPr>
        <p:spPr>
          <a:xfrm>
            <a:off x="1325880" y="3493008"/>
            <a:ext cx="4663440" cy="274320"/>
          </a:xfrm>
          <a:prstGeom prst="rect">
            <a:avLst/>
          </a:prstGeom>
          <a:noFill/>
          <a:ln/>
        </p:spPr>
        <p:txBody>
          <a:bodyPr wrap="square" lIns="0" tIns="0" rIns="0" bIns="0" rtlCol="0" anchor="t"/>
          <a:lstStyle/>
          <a:p>
            <a:pPr marL="0" indent="0">
              <a:buNone/>
            </a:pPr>
            <a:r>
              <a:rPr lang="en-US" sz="1250" dirty="0">
                <a:solidFill>
                  <a:srgbClr val="6F7C94"/>
                </a:solidFill>
                <a:latin typeface="Calibri" pitchFamily="34" charset="0"/>
                <a:ea typeface="Calibri" pitchFamily="34" charset="-122"/>
                <a:cs typeface="Calibri" pitchFamily="34" charset="-120"/>
              </a:rPr>
              <a:t>A 30-minute call is 30 minutes of listening</a:t>
            </a:r>
            <a:endParaRPr lang="en-US" sz="1250" dirty="0"/>
          </a:p>
        </p:txBody>
      </p:sp>
      <p:sp>
        <p:nvSpPr>
          <p:cNvPr id="18" name="Shape 15"/>
          <p:cNvSpPr/>
          <p:nvPr/>
        </p:nvSpPr>
        <p:spPr>
          <a:xfrm>
            <a:off x="548640" y="4059936"/>
            <a:ext cx="5669280" cy="841248"/>
          </a:xfrm>
          <a:prstGeom prst="roundRect">
            <a:avLst>
              <a:gd name="adj" fmla="val 10870"/>
            </a:avLst>
          </a:prstGeom>
          <a:solidFill>
            <a:srgbClr val="141B28"/>
          </a:solidFill>
          <a:ln w="9525">
            <a:solidFill>
              <a:srgbClr val="263248"/>
            </a:solidFill>
            <a:prstDash val="solid"/>
          </a:ln>
        </p:spPr>
        <p:txBody>
          <a:bodyPr/>
          <a:lstStyle/>
          <a:p>
            <a:endParaRPr lang="en-IN"/>
          </a:p>
        </p:txBody>
      </p:sp>
      <p:sp>
        <p:nvSpPr>
          <p:cNvPr id="19" name="Shape 16"/>
          <p:cNvSpPr/>
          <p:nvPr/>
        </p:nvSpPr>
        <p:spPr>
          <a:xfrm>
            <a:off x="777240" y="4315968"/>
            <a:ext cx="329184" cy="329184"/>
          </a:xfrm>
          <a:prstGeom prst="ellipse">
            <a:avLst/>
          </a:prstGeom>
          <a:solidFill>
            <a:srgbClr val="6AA8FF"/>
          </a:solidFill>
          <a:ln w="12700">
            <a:solidFill>
              <a:srgbClr val="6AA8FF"/>
            </a:solidFill>
            <a:prstDash val="solid"/>
          </a:ln>
        </p:spPr>
        <p:txBody>
          <a:bodyPr/>
          <a:lstStyle/>
          <a:p>
            <a:endParaRPr lang="en-IN"/>
          </a:p>
        </p:txBody>
      </p:sp>
      <p:sp>
        <p:nvSpPr>
          <p:cNvPr id="20" name="Text 17"/>
          <p:cNvSpPr txBox="1"/>
          <p:nvPr/>
        </p:nvSpPr>
        <p:spPr>
          <a:xfrm>
            <a:off x="777240" y="4315968"/>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3</a:t>
            </a:r>
            <a:endParaRPr lang="en-US" sz="1300" dirty="0"/>
          </a:p>
        </p:txBody>
      </p:sp>
      <p:sp>
        <p:nvSpPr>
          <p:cNvPr id="21" name="Text 18"/>
          <p:cNvSpPr txBox="1"/>
          <p:nvPr/>
        </p:nvSpPr>
        <p:spPr>
          <a:xfrm>
            <a:off x="1325880" y="4197096"/>
            <a:ext cx="466344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Fills an Excel form</a:t>
            </a:r>
            <a:endParaRPr lang="en-US" sz="1600" dirty="0"/>
          </a:p>
        </p:txBody>
      </p:sp>
      <p:sp>
        <p:nvSpPr>
          <p:cNvPr id="22" name="Text 19"/>
          <p:cNvSpPr txBox="1"/>
          <p:nvPr/>
        </p:nvSpPr>
        <p:spPr>
          <a:xfrm>
            <a:off x="1325880" y="4517136"/>
            <a:ext cx="4663440" cy="274320"/>
          </a:xfrm>
          <a:prstGeom prst="rect">
            <a:avLst/>
          </a:prstGeom>
          <a:noFill/>
          <a:ln/>
        </p:spPr>
        <p:txBody>
          <a:bodyPr wrap="square" lIns="0" tIns="0" rIns="0" bIns="0" rtlCol="0" anchor="t"/>
          <a:lstStyle/>
          <a:p>
            <a:pPr marL="0" indent="0">
              <a:buNone/>
            </a:pPr>
            <a:r>
              <a:rPr lang="en-US" sz="1250" dirty="0">
                <a:solidFill>
                  <a:srgbClr val="6F7C94"/>
                </a:solidFill>
                <a:latin typeface="Calibri" pitchFamily="34" charset="0"/>
                <a:ea typeface="Calibri" pitchFamily="34" charset="-122"/>
                <a:cs typeface="Calibri" pitchFamily="34" charset="-120"/>
              </a:rPr>
              <a:t>No link back to the moment in the call</a:t>
            </a:r>
            <a:endParaRPr lang="en-US" sz="1250" dirty="0"/>
          </a:p>
        </p:txBody>
      </p:sp>
      <p:sp>
        <p:nvSpPr>
          <p:cNvPr id="23" name="Shape 20"/>
          <p:cNvSpPr/>
          <p:nvPr/>
        </p:nvSpPr>
        <p:spPr>
          <a:xfrm>
            <a:off x="548640" y="5084064"/>
            <a:ext cx="5669280" cy="841248"/>
          </a:xfrm>
          <a:prstGeom prst="roundRect">
            <a:avLst>
              <a:gd name="adj" fmla="val 10870"/>
            </a:avLst>
          </a:prstGeom>
          <a:solidFill>
            <a:srgbClr val="141B28"/>
          </a:solidFill>
          <a:ln w="9525">
            <a:solidFill>
              <a:srgbClr val="263248"/>
            </a:solidFill>
            <a:prstDash val="solid"/>
          </a:ln>
        </p:spPr>
        <p:txBody>
          <a:bodyPr/>
          <a:lstStyle/>
          <a:p>
            <a:endParaRPr lang="en-IN"/>
          </a:p>
        </p:txBody>
      </p:sp>
      <p:sp>
        <p:nvSpPr>
          <p:cNvPr id="24" name="Shape 21"/>
          <p:cNvSpPr/>
          <p:nvPr/>
        </p:nvSpPr>
        <p:spPr>
          <a:xfrm>
            <a:off x="777240" y="5340096"/>
            <a:ext cx="329184" cy="329184"/>
          </a:xfrm>
          <a:prstGeom prst="ellipse">
            <a:avLst/>
          </a:prstGeom>
          <a:solidFill>
            <a:srgbClr val="F87171"/>
          </a:solidFill>
          <a:ln w="12700">
            <a:solidFill>
              <a:srgbClr val="F87171"/>
            </a:solidFill>
            <a:prstDash val="solid"/>
          </a:ln>
        </p:spPr>
        <p:txBody>
          <a:bodyPr/>
          <a:lstStyle/>
          <a:p>
            <a:endParaRPr lang="en-IN"/>
          </a:p>
        </p:txBody>
      </p:sp>
      <p:sp>
        <p:nvSpPr>
          <p:cNvPr id="25" name="Text 22"/>
          <p:cNvSpPr txBox="1"/>
          <p:nvPr/>
        </p:nvSpPr>
        <p:spPr>
          <a:xfrm>
            <a:off x="777240" y="5340096"/>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4</a:t>
            </a:r>
            <a:endParaRPr lang="en-US" sz="1300" dirty="0"/>
          </a:p>
        </p:txBody>
      </p:sp>
      <p:sp>
        <p:nvSpPr>
          <p:cNvPr id="26" name="Text 23"/>
          <p:cNvSpPr txBox="1"/>
          <p:nvPr/>
        </p:nvSpPr>
        <p:spPr>
          <a:xfrm>
            <a:off x="1325880" y="5221224"/>
            <a:ext cx="466344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The sale waits</a:t>
            </a:r>
            <a:endParaRPr lang="en-US" sz="1600" dirty="0"/>
          </a:p>
        </p:txBody>
      </p:sp>
      <p:sp>
        <p:nvSpPr>
          <p:cNvPr id="27" name="Text 24"/>
          <p:cNvSpPr txBox="1"/>
          <p:nvPr/>
        </p:nvSpPr>
        <p:spPr>
          <a:xfrm>
            <a:off x="1325880" y="5541264"/>
            <a:ext cx="4663440" cy="274320"/>
          </a:xfrm>
          <a:prstGeom prst="rect">
            <a:avLst/>
          </a:prstGeom>
          <a:noFill/>
          <a:ln/>
        </p:spPr>
        <p:txBody>
          <a:bodyPr wrap="square" lIns="0" tIns="0" rIns="0" bIns="0" rtlCol="0" anchor="t"/>
          <a:lstStyle/>
          <a:p>
            <a:pPr marL="0" indent="0">
              <a:buNone/>
            </a:pPr>
            <a:r>
              <a:rPr lang="en-US" sz="1250" dirty="0">
                <a:solidFill>
                  <a:srgbClr val="6F7C94"/>
                </a:solidFill>
                <a:latin typeface="Calibri" pitchFamily="34" charset="0"/>
                <a:ea typeface="Calibri" pitchFamily="34" charset="-122"/>
                <a:cs typeface="Calibri" pitchFamily="34" charset="-120"/>
              </a:rPr>
              <a:t>Customers and agents are blocked meanwhile</a:t>
            </a:r>
            <a:endParaRPr lang="en-US" sz="1250" dirty="0"/>
          </a:p>
        </p:txBody>
      </p:sp>
      <p:sp>
        <p:nvSpPr>
          <p:cNvPr id="28" name="Text 25"/>
          <p:cNvSpPr txBox="1"/>
          <p:nvPr/>
        </p:nvSpPr>
        <p:spPr>
          <a:xfrm>
            <a:off x="6858000" y="2011680"/>
            <a:ext cx="2194560" cy="731520"/>
          </a:xfrm>
          <a:prstGeom prst="rect">
            <a:avLst/>
          </a:prstGeom>
          <a:noFill/>
          <a:ln/>
        </p:spPr>
        <p:txBody>
          <a:bodyPr wrap="square" lIns="0" tIns="0" rIns="0" bIns="0" rtlCol="0" anchor="ctr"/>
          <a:lstStyle/>
          <a:p>
            <a:pPr marL="0" indent="0">
              <a:buNone/>
            </a:pPr>
            <a:r>
              <a:rPr lang="en-US" sz="4400" b="1" dirty="0">
                <a:solidFill>
                  <a:srgbClr val="FBBF24"/>
                </a:solidFill>
                <a:latin typeface="Calibri" pitchFamily="34" charset="0"/>
                <a:ea typeface="Calibri" pitchFamily="34" charset="-122"/>
                <a:cs typeface="Calibri" pitchFamily="34" charset="-120"/>
              </a:rPr>
              <a:t>1,000s</a:t>
            </a:r>
            <a:endParaRPr lang="en-US" sz="4400" dirty="0"/>
          </a:p>
        </p:txBody>
      </p:sp>
      <p:sp>
        <p:nvSpPr>
          <p:cNvPr id="29" name="Text 26"/>
          <p:cNvSpPr txBox="1"/>
          <p:nvPr/>
        </p:nvSpPr>
        <p:spPr>
          <a:xfrm>
            <a:off x="6858000" y="2743200"/>
            <a:ext cx="219456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sales a month</a:t>
            </a:r>
            <a:endParaRPr lang="en-US" sz="1250" dirty="0"/>
          </a:p>
        </p:txBody>
      </p:sp>
      <p:sp>
        <p:nvSpPr>
          <p:cNvPr id="30" name="Text 27"/>
          <p:cNvSpPr txBox="1"/>
          <p:nvPr/>
        </p:nvSpPr>
        <p:spPr>
          <a:xfrm>
            <a:off x="9235440" y="2011680"/>
            <a:ext cx="2377440" cy="731520"/>
          </a:xfrm>
          <a:prstGeom prst="rect">
            <a:avLst/>
          </a:prstGeom>
          <a:noFill/>
          <a:ln/>
        </p:spPr>
        <p:txBody>
          <a:bodyPr wrap="square" lIns="0" tIns="0" rIns="0" bIns="0" rtlCol="0" anchor="ctr"/>
          <a:lstStyle/>
          <a:p>
            <a:pPr marL="0" indent="0">
              <a:buNone/>
            </a:pPr>
            <a:r>
              <a:rPr lang="en-US" sz="4400" b="1" dirty="0">
                <a:solidFill>
                  <a:srgbClr val="6AA8FF"/>
                </a:solidFill>
                <a:latin typeface="Calibri" pitchFamily="34" charset="0"/>
                <a:ea typeface="Calibri" pitchFamily="34" charset="-122"/>
                <a:cs typeface="Calibri" pitchFamily="34" charset="-120"/>
              </a:rPr>
              <a:t>~30</a:t>
            </a:r>
            <a:endParaRPr lang="en-US" sz="4400" dirty="0"/>
          </a:p>
        </p:txBody>
      </p:sp>
      <p:sp>
        <p:nvSpPr>
          <p:cNvPr id="31" name="Text 28"/>
          <p:cNvSpPr txBox="1"/>
          <p:nvPr/>
        </p:nvSpPr>
        <p:spPr>
          <a:xfrm>
            <a:off x="9235440" y="2743200"/>
            <a:ext cx="237744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retailers, each with its own checklist</a:t>
            </a:r>
            <a:endParaRPr lang="en-US" sz="1250" dirty="0"/>
          </a:p>
        </p:txBody>
      </p:sp>
      <p:sp>
        <p:nvSpPr>
          <p:cNvPr id="32" name="Text 29"/>
          <p:cNvSpPr txBox="1"/>
          <p:nvPr/>
        </p:nvSpPr>
        <p:spPr>
          <a:xfrm>
            <a:off x="6858000" y="3429000"/>
            <a:ext cx="2194560" cy="731520"/>
          </a:xfrm>
          <a:prstGeom prst="rect">
            <a:avLst/>
          </a:prstGeom>
          <a:noFill/>
          <a:ln/>
        </p:spPr>
        <p:txBody>
          <a:bodyPr wrap="square" lIns="0" tIns="0" rIns="0" bIns="0" rtlCol="0" anchor="ctr"/>
          <a:lstStyle/>
          <a:p>
            <a:pPr marL="0" indent="0">
              <a:buNone/>
            </a:pPr>
            <a:r>
              <a:rPr lang="en-US" sz="4400" b="1" dirty="0">
                <a:solidFill>
                  <a:srgbClr val="F87171"/>
                </a:solidFill>
                <a:latin typeface="Calibri" pitchFamily="34" charset="0"/>
                <a:ea typeface="Calibri" pitchFamily="34" charset="-122"/>
                <a:cs typeface="Calibri" pitchFamily="34" charset="-120"/>
              </a:rPr>
              <a:t>30 min</a:t>
            </a:r>
            <a:endParaRPr lang="en-US" sz="4400" dirty="0"/>
          </a:p>
        </p:txBody>
      </p:sp>
      <p:sp>
        <p:nvSpPr>
          <p:cNvPr id="33" name="Text 30"/>
          <p:cNvSpPr txBox="1"/>
          <p:nvPr/>
        </p:nvSpPr>
        <p:spPr>
          <a:xfrm>
            <a:off x="6858000" y="4160520"/>
            <a:ext cx="219456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of listening to review one call</a:t>
            </a:r>
            <a:endParaRPr lang="en-US" sz="1250" dirty="0"/>
          </a:p>
        </p:txBody>
      </p:sp>
      <p:sp>
        <p:nvSpPr>
          <p:cNvPr id="34" name="Text 31"/>
          <p:cNvSpPr txBox="1"/>
          <p:nvPr/>
        </p:nvSpPr>
        <p:spPr>
          <a:xfrm>
            <a:off x="9235440" y="3429000"/>
            <a:ext cx="2377440" cy="731520"/>
          </a:xfrm>
          <a:prstGeom prst="rect">
            <a:avLst/>
          </a:prstGeom>
          <a:noFill/>
          <a:ln/>
        </p:spPr>
        <p:txBody>
          <a:bodyPr wrap="square" lIns="0" tIns="0" rIns="0" bIns="0" rtlCol="0" anchor="ctr"/>
          <a:lstStyle/>
          <a:p>
            <a:pPr marL="0" indent="0">
              <a:buNone/>
            </a:pPr>
            <a:r>
              <a:rPr lang="en-US" sz="4400" b="1" dirty="0">
                <a:solidFill>
                  <a:srgbClr val="F87171"/>
                </a:solidFill>
                <a:latin typeface="Calibri" pitchFamily="34" charset="0"/>
                <a:ea typeface="Calibri" pitchFamily="34" charset="-122"/>
                <a:cs typeface="Calibri" pitchFamily="34" charset="-120"/>
              </a:rPr>
              <a:t>0</a:t>
            </a:r>
            <a:endParaRPr lang="en-US" sz="4400" dirty="0"/>
          </a:p>
        </p:txBody>
      </p:sp>
      <p:sp>
        <p:nvSpPr>
          <p:cNvPr id="35" name="Text 32"/>
          <p:cNvSpPr txBox="1"/>
          <p:nvPr/>
        </p:nvSpPr>
        <p:spPr>
          <a:xfrm>
            <a:off x="9235440" y="4160520"/>
            <a:ext cx="237744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links from the form back to the audio</a:t>
            </a:r>
            <a:endParaRPr lang="en-US" sz="1250" dirty="0"/>
          </a:p>
        </p:txBody>
      </p:sp>
      <p:sp>
        <p:nvSpPr>
          <p:cNvPr id="36" name="Shape 33"/>
          <p:cNvSpPr/>
          <p:nvPr/>
        </p:nvSpPr>
        <p:spPr>
          <a:xfrm>
            <a:off x="6858000" y="4937760"/>
            <a:ext cx="4754880" cy="1051560"/>
          </a:xfrm>
          <a:prstGeom prst="roundRect">
            <a:avLst>
              <a:gd name="adj" fmla="val 8696"/>
            </a:avLst>
          </a:prstGeom>
          <a:solidFill>
            <a:srgbClr val="1A2332"/>
          </a:solidFill>
          <a:ln w="9525">
            <a:solidFill>
              <a:srgbClr val="263248"/>
            </a:solidFill>
            <a:prstDash val="solid"/>
          </a:ln>
        </p:spPr>
        <p:txBody>
          <a:bodyPr/>
          <a:lstStyle/>
          <a:p>
            <a:endParaRPr lang="en-IN"/>
          </a:p>
        </p:txBody>
      </p:sp>
      <p:sp>
        <p:nvSpPr>
          <p:cNvPr id="37" name="Text 34"/>
          <p:cNvSpPr txBox="1"/>
          <p:nvPr/>
        </p:nvSpPr>
        <p:spPr>
          <a:xfrm>
            <a:off x="7086600" y="5074920"/>
            <a:ext cx="4389120" cy="502920"/>
          </a:xfrm>
          <a:prstGeom prst="rect">
            <a:avLst/>
          </a:prstGeom>
          <a:noFill/>
          <a:ln/>
        </p:spPr>
        <p:txBody>
          <a:bodyPr wrap="square" lIns="0" tIns="0" rIns="0" bIns="0" rtlCol="0" anchor="t"/>
          <a:lstStyle/>
          <a:p>
            <a:pPr marL="0" indent="0">
              <a:buNone/>
            </a:pPr>
            <a:r>
              <a:rPr lang="en-US" sz="1500" i="1" dirty="0">
                <a:solidFill>
                  <a:srgbClr val="E8EDF6"/>
                </a:solidFill>
                <a:latin typeface="Calibri" pitchFamily="34" charset="0"/>
                <a:ea typeface="Calibri" pitchFamily="34" charset="-122"/>
                <a:cs typeface="Calibri" pitchFamily="34" charset="-120"/>
              </a:rPr>
              <a:t>“This doesn't scale, and it won't survive a serious retailer audit.”</a:t>
            </a:r>
            <a:endParaRPr lang="en-US" sz="1500" dirty="0"/>
          </a:p>
        </p:txBody>
      </p:sp>
      <p:sp>
        <p:nvSpPr>
          <p:cNvPr id="38" name="Text 35"/>
          <p:cNvSpPr txBox="1"/>
          <p:nvPr/>
        </p:nvSpPr>
        <p:spPr>
          <a:xfrm>
            <a:off x="7086600" y="5577840"/>
            <a:ext cx="4389120" cy="274320"/>
          </a:xfrm>
          <a:prstGeom prst="rect">
            <a:avLst/>
          </a:prstGeom>
          <a:noFill/>
          <a:ln/>
        </p:spPr>
        <p:txBody>
          <a:bodyPr wrap="square" lIns="0" tIns="0" rIns="0" bIns="0" rtlCol="0" anchor="t"/>
          <a:lstStyle/>
          <a:p>
            <a:pPr marL="0" indent="0">
              <a:buNone/>
            </a:pPr>
            <a:r>
              <a:rPr lang="en-US" sz="1100" dirty="0">
                <a:solidFill>
                  <a:srgbClr val="6F7C94"/>
                </a:solidFill>
                <a:latin typeface="Calibri" pitchFamily="34" charset="0"/>
                <a:ea typeface="Calibri" pitchFamily="34" charset="-122"/>
                <a:cs typeface="Calibri" pitchFamily="34" charset="-120"/>
              </a:rPr>
              <a:t>CIMET QA Automation brief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3</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02 · THE ANSWER</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Every sale gets one of three verdicts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Decided before the sale can be submitted, in seconds, with the reason attached.</a:t>
            </a:r>
            <a:endParaRPr lang="en-US" sz="1500" dirty="0"/>
          </a:p>
        </p:txBody>
      </p:sp>
      <p:sp>
        <p:nvSpPr>
          <p:cNvPr id="8" name="Shape 5"/>
          <p:cNvSpPr/>
          <p:nvPr/>
        </p:nvSpPr>
        <p:spPr>
          <a:xfrm>
            <a:off x="548640" y="1920240"/>
            <a:ext cx="3520440" cy="3429000"/>
          </a:xfrm>
          <a:prstGeom prst="roundRect">
            <a:avLst>
              <a:gd name="adj" fmla="val 2667"/>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822960" y="2240280"/>
            <a:ext cx="1920240" cy="566928"/>
          </a:xfrm>
          <a:prstGeom prst="roundRect">
            <a:avLst>
              <a:gd name="adj" fmla="val 16129"/>
            </a:avLst>
          </a:prstGeom>
          <a:solidFill>
            <a:srgbClr val="F87171">
              <a:alpha val="16000"/>
            </a:srgbClr>
          </a:solidFill>
          <a:ln w="12700">
            <a:solidFill>
              <a:srgbClr val="F87171"/>
            </a:solidFill>
            <a:prstDash val="solid"/>
          </a:ln>
        </p:spPr>
        <p:txBody>
          <a:bodyPr/>
          <a:lstStyle/>
          <a:p>
            <a:endParaRPr lang="en-IN"/>
          </a:p>
        </p:txBody>
      </p:sp>
      <p:sp>
        <p:nvSpPr>
          <p:cNvPr id="10" name="Text 7"/>
          <p:cNvSpPr txBox="1"/>
          <p:nvPr/>
        </p:nvSpPr>
        <p:spPr>
          <a:xfrm>
            <a:off x="822960" y="2240280"/>
            <a:ext cx="1920240" cy="566928"/>
          </a:xfrm>
          <a:prstGeom prst="rect">
            <a:avLst/>
          </a:prstGeom>
          <a:noFill/>
          <a:ln/>
        </p:spPr>
        <p:txBody>
          <a:bodyPr wrap="square" lIns="0" tIns="0" rIns="0" bIns="0" rtlCol="0" anchor="ctr"/>
          <a:lstStyle/>
          <a:p>
            <a:pPr marL="0" indent="0" algn="ctr">
              <a:buNone/>
            </a:pPr>
            <a:r>
              <a:rPr lang="en-US" sz="2000" b="1" dirty="0">
                <a:solidFill>
                  <a:srgbClr val="F87171"/>
                </a:solidFill>
                <a:latin typeface="Courier New" pitchFamily="34" charset="0"/>
                <a:ea typeface="Courier New" pitchFamily="34" charset="-122"/>
                <a:cs typeface="Courier New" pitchFamily="34" charset="-120"/>
              </a:rPr>
              <a:t>HELD</a:t>
            </a:r>
            <a:endParaRPr lang="en-US" sz="2000" dirty="0"/>
          </a:p>
        </p:txBody>
      </p:sp>
      <p:sp>
        <p:nvSpPr>
          <p:cNvPr id="11" name="Text 8"/>
          <p:cNvSpPr txBox="1"/>
          <p:nvPr/>
        </p:nvSpPr>
        <p:spPr>
          <a:xfrm>
            <a:off x="822960" y="3017520"/>
            <a:ext cx="2971800" cy="365760"/>
          </a:xfrm>
          <a:prstGeom prst="rect">
            <a:avLst/>
          </a:prstGeom>
          <a:noFill/>
          <a:ln/>
        </p:spPr>
        <p:txBody>
          <a:bodyPr wrap="square" lIns="0" tIns="0" rIns="0" bIns="0" rtlCol="0" anchor="t"/>
          <a:lstStyle/>
          <a:p>
            <a:pPr marL="0" indent="0">
              <a:buNone/>
            </a:pPr>
            <a:r>
              <a:rPr lang="en-US" sz="1700" b="1" dirty="0">
                <a:solidFill>
                  <a:srgbClr val="E8EDF6"/>
                </a:solidFill>
                <a:latin typeface="Calibri" pitchFamily="34" charset="0"/>
                <a:ea typeface="Calibri" pitchFamily="34" charset="-122"/>
                <a:cs typeface="Calibri" pitchFamily="34" charset="-120"/>
              </a:rPr>
              <a:t>A critical check failed</a:t>
            </a:r>
            <a:endParaRPr lang="en-US" sz="1700" dirty="0"/>
          </a:p>
        </p:txBody>
      </p:sp>
      <p:sp>
        <p:nvSpPr>
          <p:cNvPr id="12" name="Text 9"/>
          <p:cNvSpPr txBox="1"/>
          <p:nvPr/>
        </p:nvSpPr>
        <p:spPr>
          <a:xfrm>
            <a:off x="822960" y="3566160"/>
            <a:ext cx="2971800" cy="228600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Routed to a team leader queue</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Card shows said vs expected</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Click the time, hear 20 seconds</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Fix it, or override with a reason</a:t>
            </a:r>
            <a:endParaRPr lang="en-US" sz="1400" dirty="0"/>
          </a:p>
        </p:txBody>
      </p:sp>
      <p:sp>
        <p:nvSpPr>
          <p:cNvPr id="13" name="Shape 10"/>
          <p:cNvSpPr/>
          <p:nvPr/>
        </p:nvSpPr>
        <p:spPr>
          <a:xfrm>
            <a:off x="4297680" y="1920240"/>
            <a:ext cx="3520440" cy="3429000"/>
          </a:xfrm>
          <a:prstGeom prst="roundRect">
            <a:avLst>
              <a:gd name="adj" fmla="val 2667"/>
            </a:avLst>
          </a:prstGeom>
          <a:solidFill>
            <a:srgbClr val="141B28"/>
          </a:solidFill>
          <a:ln w="9525">
            <a:solidFill>
              <a:srgbClr val="263248"/>
            </a:solidFill>
            <a:prstDash val="solid"/>
          </a:ln>
        </p:spPr>
        <p:txBody>
          <a:bodyPr/>
          <a:lstStyle/>
          <a:p>
            <a:endParaRPr lang="en-IN"/>
          </a:p>
        </p:txBody>
      </p:sp>
      <p:sp>
        <p:nvSpPr>
          <p:cNvPr id="14" name="Shape 11"/>
          <p:cNvSpPr/>
          <p:nvPr/>
        </p:nvSpPr>
        <p:spPr>
          <a:xfrm>
            <a:off x="4572000" y="2240280"/>
            <a:ext cx="1920240" cy="566928"/>
          </a:xfrm>
          <a:prstGeom prst="roundRect">
            <a:avLst>
              <a:gd name="adj" fmla="val 16129"/>
            </a:avLst>
          </a:prstGeom>
          <a:solidFill>
            <a:srgbClr val="FBBF24">
              <a:alpha val="16000"/>
            </a:srgbClr>
          </a:solidFill>
          <a:ln w="12700">
            <a:solidFill>
              <a:srgbClr val="FBBF24"/>
            </a:solidFill>
            <a:prstDash val="solid"/>
          </a:ln>
        </p:spPr>
        <p:txBody>
          <a:bodyPr/>
          <a:lstStyle/>
          <a:p>
            <a:endParaRPr lang="en-IN"/>
          </a:p>
        </p:txBody>
      </p:sp>
      <p:sp>
        <p:nvSpPr>
          <p:cNvPr id="15" name="Text 12"/>
          <p:cNvSpPr txBox="1"/>
          <p:nvPr/>
        </p:nvSpPr>
        <p:spPr>
          <a:xfrm>
            <a:off x="4572000" y="2240280"/>
            <a:ext cx="1920240" cy="566928"/>
          </a:xfrm>
          <a:prstGeom prst="rect">
            <a:avLst/>
          </a:prstGeom>
          <a:noFill/>
          <a:ln/>
        </p:spPr>
        <p:txBody>
          <a:bodyPr wrap="square" lIns="0" tIns="0" rIns="0" bIns="0" rtlCol="0" anchor="ctr"/>
          <a:lstStyle/>
          <a:p>
            <a:pPr marL="0" indent="0" algn="ctr">
              <a:buNone/>
            </a:pPr>
            <a:r>
              <a:rPr lang="en-US" sz="2000" b="1" dirty="0">
                <a:solidFill>
                  <a:srgbClr val="FBBF24"/>
                </a:solidFill>
                <a:latin typeface="Courier New" pitchFamily="34" charset="0"/>
                <a:ea typeface="Courier New" pitchFamily="34" charset="-122"/>
                <a:cs typeface="Courier New" pitchFamily="34" charset="-120"/>
              </a:rPr>
              <a:t>QA</a:t>
            </a:r>
            <a:endParaRPr lang="en-US" sz="2000" dirty="0"/>
          </a:p>
        </p:txBody>
      </p:sp>
      <p:sp>
        <p:nvSpPr>
          <p:cNvPr id="16" name="Text 13"/>
          <p:cNvSpPr txBox="1"/>
          <p:nvPr/>
        </p:nvSpPr>
        <p:spPr>
          <a:xfrm>
            <a:off x="4572000" y="3017520"/>
            <a:ext cx="2971800" cy="365760"/>
          </a:xfrm>
          <a:prstGeom prst="rect">
            <a:avLst/>
          </a:prstGeom>
          <a:noFill/>
          <a:ln/>
        </p:spPr>
        <p:txBody>
          <a:bodyPr wrap="square" lIns="0" tIns="0" rIns="0" bIns="0" rtlCol="0" anchor="t"/>
          <a:lstStyle/>
          <a:p>
            <a:pPr marL="0" indent="0">
              <a:buNone/>
            </a:pPr>
            <a:r>
              <a:rPr lang="en-US" sz="1700" b="1" dirty="0">
                <a:solidFill>
                  <a:srgbClr val="E8EDF6"/>
                </a:solidFill>
                <a:latin typeface="Calibri" pitchFamily="34" charset="0"/>
                <a:ea typeface="Calibri" pitchFamily="34" charset="-122"/>
                <a:cs typeface="Calibri" pitchFamily="34" charset="-120"/>
              </a:rPr>
              <a:t>A critical check is uncertain</a:t>
            </a:r>
            <a:endParaRPr lang="en-US" sz="1700" dirty="0"/>
          </a:p>
        </p:txBody>
      </p:sp>
      <p:sp>
        <p:nvSpPr>
          <p:cNvPr id="17" name="Text 14"/>
          <p:cNvSpPr txBox="1"/>
          <p:nvPr/>
        </p:nvSpPr>
        <p:spPr>
          <a:xfrm>
            <a:off x="4572000" y="3566160"/>
            <a:ext cx="2971800" cy="228600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Unsure, or confidence below 0.60</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Routed to QA review</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Nothing uncertain auto-passes</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Silence is never treated as a fail</a:t>
            </a:r>
            <a:endParaRPr lang="en-US" sz="1400" dirty="0"/>
          </a:p>
        </p:txBody>
      </p:sp>
      <p:sp>
        <p:nvSpPr>
          <p:cNvPr id="18" name="Shape 15"/>
          <p:cNvSpPr/>
          <p:nvPr/>
        </p:nvSpPr>
        <p:spPr>
          <a:xfrm>
            <a:off x="8046720" y="1920240"/>
            <a:ext cx="3520440" cy="3429000"/>
          </a:xfrm>
          <a:prstGeom prst="roundRect">
            <a:avLst>
              <a:gd name="adj" fmla="val 2667"/>
            </a:avLst>
          </a:prstGeom>
          <a:solidFill>
            <a:srgbClr val="141B28"/>
          </a:solidFill>
          <a:ln w="9525">
            <a:solidFill>
              <a:srgbClr val="263248"/>
            </a:solidFill>
            <a:prstDash val="solid"/>
          </a:ln>
        </p:spPr>
        <p:txBody>
          <a:bodyPr/>
          <a:lstStyle/>
          <a:p>
            <a:endParaRPr lang="en-IN"/>
          </a:p>
        </p:txBody>
      </p:sp>
      <p:sp>
        <p:nvSpPr>
          <p:cNvPr id="19" name="Shape 16"/>
          <p:cNvSpPr/>
          <p:nvPr/>
        </p:nvSpPr>
        <p:spPr>
          <a:xfrm>
            <a:off x="8321040" y="2240280"/>
            <a:ext cx="1920240" cy="566928"/>
          </a:xfrm>
          <a:prstGeom prst="roundRect">
            <a:avLst>
              <a:gd name="adj" fmla="val 16129"/>
            </a:avLst>
          </a:prstGeom>
          <a:solidFill>
            <a:srgbClr val="34D399">
              <a:alpha val="16000"/>
            </a:srgbClr>
          </a:solidFill>
          <a:ln w="12700">
            <a:solidFill>
              <a:srgbClr val="34D399"/>
            </a:solidFill>
            <a:prstDash val="solid"/>
          </a:ln>
        </p:spPr>
        <p:txBody>
          <a:bodyPr/>
          <a:lstStyle/>
          <a:p>
            <a:endParaRPr lang="en-IN"/>
          </a:p>
        </p:txBody>
      </p:sp>
      <p:sp>
        <p:nvSpPr>
          <p:cNvPr id="20" name="Text 17"/>
          <p:cNvSpPr txBox="1"/>
          <p:nvPr/>
        </p:nvSpPr>
        <p:spPr>
          <a:xfrm>
            <a:off x="8321040" y="2240280"/>
            <a:ext cx="1920240" cy="566928"/>
          </a:xfrm>
          <a:prstGeom prst="rect">
            <a:avLst/>
          </a:prstGeom>
          <a:noFill/>
          <a:ln/>
        </p:spPr>
        <p:txBody>
          <a:bodyPr wrap="square" lIns="0" tIns="0" rIns="0" bIns="0" rtlCol="0" anchor="ctr"/>
          <a:lstStyle/>
          <a:p>
            <a:pPr marL="0" indent="0" algn="ctr">
              <a:buNone/>
            </a:pPr>
            <a:r>
              <a:rPr lang="en-US" sz="2000" b="1" dirty="0">
                <a:solidFill>
                  <a:srgbClr val="34D399"/>
                </a:solidFill>
                <a:latin typeface="Courier New" pitchFamily="34" charset="0"/>
                <a:ea typeface="Courier New" pitchFamily="34" charset="-122"/>
                <a:cs typeface="Courier New" pitchFamily="34" charset="-120"/>
              </a:rPr>
              <a:t>SUBMITTED</a:t>
            </a:r>
            <a:endParaRPr lang="en-US" sz="2000" dirty="0"/>
          </a:p>
        </p:txBody>
      </p:sp>
      <p:sp>
        <p:nvSpPr>
          <p:cNvPr id="21" name="Text 18"/>
          <p:cNvSpPr txBox="1"/>
          <p:nvPr/>
        </p:nvSpPr>
        <p:spPr>
          <a:xfrm>
            <a:off x="8321040" y="3017520"/>
            <a:ext cx="2971800" cy="365760"/>
          </a:xfrm>
          <a:prstGeom prst="rect">
            <a:avLst/>
          </a:prstGeom>
          <a:noFill/>
          <a:ln/>
        </p:spPr>
        <p:txBody>
          <a:bodyPr wrap="square" lIns="0" tIns="0" rIns="0" bIns="0" rtlCol="0" anchor="t"/>
          <a:lstStyle/>
          <a:p>
            <a:pPr marL="0" indent="0">
              <a:buNone/>
            </a:pPr>
            <a:r>
              <a:rPr lang="en-US" sz="1700" b="1" dirty="0">
                <a:solidFill>
                  <a:srgbClr val="E8EDF6"/>
                </a:solidFill>
                <a:latin typeface="Calibri" pitchFamily="34" charset="0"/>
                <a:ea typeface="Calibri" pitchFamily="34" charset="-122"/>
                <a:cs typeface="Calibri" pitchFamily="34" charset="-120"/>
              </a:rPr>
              <a:t>Every critical check passed</a:t>
            </a:r>
            <a:endParaRPr lang="en-US" sz="1700" dirty="0"/>
          </a:p>
        </p:txBody>
      </p:sp>
      <p:sp>
        <p:nvSpPr>
          <p:cNvPr id="22" name="Text 19"/>
          <p:cNvSpPr txBox="1"/>
          <p:nvPr/>
        </p:nvSpPr>
        <p:spPr>
          <a:xfrm>
            <a:off x="8321040" y="3566160"/>
            <a:ext cx="2971800" cy="228600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Cleared to submit to the CRM</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No human touch needed</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5% still sampled for human audit</a:t>
            </a:r>
            <a:endParaRPr lang="en-US" sz="1400" dirty="0"/>
          </a:p>
          <a:p>
            <a:pPr marL="203200" indent="-203200">
              <a:spcAft>
                <a:spcPts val="900"/>
              </a:spcAft>
              <a:buSzPct val="100000"/>
              <a:buChar char="•"/>
            </a:pPr>
            <a:r>
              <a:rPr lang="en-US" sz="1400" dirty="0">
                <a:solidFill>
                  <a:srgbClr val="A3AEC3"/>
                </a:solidFill>
                <a:latin typeface="Calibri" pitchFamily="34" charset="0"/>
                <a:ea typeface="Calibri" pitchFamily="34" charset="-122"/>
                <a:cs typeface="Calibri" pitchFamily="34" charset="-120"/>
              </a:rPr>
              <a:t>Measures the model, not just trusts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4</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03 · HOW IT WORKS</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From hang-up to verdict, with zero manual handling</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Built in the order the brief asked for: recording ingestion first.</a:t>
            </a:r>
            <a:endParaRPr lang="en-US" sz="1500" dirty="0"/>
          </a:p>
        </p:txBody>
      </p:sp>
      <p:sp>
        <p:nvSpPr>
          <p:cNvPr id="8" name="Shape 5"/>
          <p:cNvSpPr/>
          <p:nvPr/>
        </p:nvSpPr>
        <p:spPr>
          <a:xfrm>
            <a:off x="548640" y="2240280"/>
            <a:ext cx="1664208" cy="1920240"/>
          </a:xfrm>
          <a:prstGeom prst="roundRect">
            <a:avLst>
              <a:gd name="adj" fmla="val 5495"/>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731520" y="2514600"/>
            <a:ext cx="182880" cy="182880"/>
          </a:xfrm>
          <a:prstGeom prst="ellipse">
            <a:avLst/>
          </a:prstGeom>
          <a:solidFill>
            <a:srgbClr val="6AA8FF"/>
          </a:solidFill>
          <a:ln w="12700">
            <a:solidFill>
              <a:srgbClr val="6AA8FF"/>
            </a:solidFill>
            <a:prstDash val="solid"/>
          </a:ln>
        </p:spPr>
        <p:txBody>
          <a:bodyPr/>
          <a:lstStyle/>
          <a:p>
            <a:endParaRPr lang="en-IN"/>
          </a:p>
        </p:txBody>
      </p:sp>
      <p:sp>
        <p:nvSpPr>
          <p:cNvPr id="10" name="Text 7"/>
          <p:cNvSpPr txBox="1"/>
          <p:nvPr/>
        </p:nvSpPr>
        <p:spPr>
          <a:xfrm>
            <a:off x="731520" y="2834640"/>
            <a:ext cx="1298448"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Dialler</a:t>
            </a:r>
            <a:endParaRPr lang="en-US" sz="1500" dirty="0"/>
          </a:p>
        </p:txBody>
      </p:sp>
      <p:sp>
        <p:nvSpPr>
          <p:cNvPr id="11" name="Text 8"/>
          <p:cNvSpPr txBox="1"/>
          <p:nvPr/>
        </p:nvSpPr>
        <p:spPr>
          <a:xfrm>
            <a:off x="731520" y="3227832"/>
            <a:ext cx="1344168" cy="8686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POST recording, keyed on Lead ID</a:t>
            </a:r>
            <a:endParaRPr lang="en-US" sz="1150" dirty="0"/>
          </a:p>
        </p:txBody>
      </p:sp>
      <p:sp>
        <p:nvSpPr>
          <p:cNvPr id="12" name="Shape 9"/>
          <p:cNvSpPr/>
          <p:nvPr/>
        </p:nvSpPr>
        <p:spPr>
          <a:xfrm>
            <a:off x="2240280" y="3200400"/>
            <a:ext cx="182880" cy="0"/>
          </a:xfrm>
          <a:prstGeom prst="line">
            <a:avLst/>
          </a:prstGeom>
          <a:noFill/>
          <a:ln w="19050">
            <a:solidFill>
              <a:srgbClr val="A3AEC3"/>
            </a:solidFill>
            <a:prstDash val="solid"/>
            <a:tailEnd type="triangle"/>
          </a:ln>
        </p:spPr>
        <p:txBody>
          <a:bodyPr/>
          <a:lstStyle/>
          <a:p>
            <a:endParaRPr lang="en-IN"/>
          </a:p>
        </p:txBody>
      </p:sp>
      <p:sp>
        <p:nvSpPr>
          <p:cNvPr id="13" name="Shape 10"/>
          <p:cNvSpPr/>
          <p:nvPr/>
        </p:nvSpPr>
        <p:spPr>
          <a:xfrm>
            <a:off x="2450592" y="2240280"/>
            <a:ext cx="1664208" cy="1920240"/>
          </a:xfrm>
          <a:prstGeom prst="roundRect">
            <a:avLst>
              <a:gd name="adj" fmla="val 5495"/>
            </a:avLst>
          </a:prstGeom>
          <a:solidFill>
            <a:srgbClr val="141B28"/>
          </a:solidFill>
          <a:ln w="9525">
            <a:solidFill>
              <a:srgbClr val="263248"/>
            </a:solidFill>
            <a:prstDash val="solid"/>
          </a:ln>
        </p:spPr>
        <p:txBody>
          <a:bodyPr/>
          <a:lstStyle/>
          <a:p>
            <a:endParaRPr lang="en-IN"/>
          </a:p>
        </p:txBody>
      </p:sp>
      <p:sp>
        <p:nvSpPr>
          <p:cNvPr id="14" name="Shape 11"/>
          <p:cNvSpPr/>
          <p:nvPr/>
        </p:nvSpPr>
        <p:spPr>
          <a:xfrm>
            <a:off x="2633472" y="2514600"/>
            <a:ext cx="182880" cy="182880"/>
          </a:xfrm>
          <a:prstGeom prst="ellipse">
            <a:avLst/>
          </a:prstGeom>
          <a:solidFill>
            <a:srgbClr val="5EEAD4"/>
          </a:solidFill>
          <a:ln w="12700">
            <a:solidFill>
              <a:srgbClr val="5EEAD4"/>
            </a:solidFill>
            <a:prstDash val="solid"/>
          </a:ln>
        </p:spPr>
        <p:txBody>
          <a:bodyPr/>
          <a:lstStyle/>
          <a:p>
            <a:endParaRPr lang="en-IN"/>
          </a:p>
        </p:txBody>
      </p:sp>
      <p:sp>
        <p:nvSpPr>
          <p:cNvPr id="15" name="Text 12"/>
          <p:cNvSpPr txBox="1"/>
          <p:nvPr/>
        </p:nvSpPr>
        <p:spPr>
          <a:xfrm>
            <a:off x="2633472" y="2834640"/>
            <a:ext cx="1298448"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Speech-to-text</a:t>
            </a:r>
            <a:endParaRPr lang="en-US" sz="1500" dirty="0"/>
          </a:p>
        </p:txBody>
      </p:sp>
      <p:sp>
        <p:nvSpPr>
          <p:cNvPr id="16" name="Text 13"/>
          <p:cNvSpPr txBox="1"/>
          <p:nvPr/>
        </p:nvSpPr>
        <p:spPr>
          <a:xfrm>
            <a:off x="2633472" y="3227832"/>
            <a:ext cx="1344168" cy="8686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ElevenLabs Scribe or Deepgram: speakers + timestamps</a:t>
            </a:r>
            <a:endParaRPr lang="en-US" sz="1150" dirty="0"/>
          </a:p>
        </p:txBody>
      </p:sp>
      <p:sp>
        <p:nvSpPr>
          <p:cNvPr id="17" name="Shape 14"/>
          <p:cNvSpPr/>
          <p:nvPr/>
        </p:nvSpPr>
        <p:spPr>
          <a:xfrm>
            <a:off x="4142232" y="3200400"/>
            <a:ext cx="182880" cy="0"/>
          </a:xfrm>
          <a:prstGeom prst="line">
            <a:avLst/>
          </a:prstGeom>
          <a:noFill/>
          <a:ln w="19050">
            <a:solidFill>
              <a:srgbClr val="A3AEC3"/>
            </a:solidFill>
            <a:prstDash val="solid"/>
            <a:tailEnd type="triangle"/>
          </a:ln>
        </p:spPr>
        <p:txBody>
          <a:bodyPr/>
          <a:lstStyle/>
          <a:p>
            <a:endParaRPr lang="en-IN"/>
          </a:p>
        </p:txBody>
      </p:sp>
      <p:sp>
        <p:nvSpPr>
          <p:cNvPr id="18" name="Shape 15"/>
          <p:cNvSpPr/>
          <p:nvPr/>
        </p:nvSpPr>
        <p:spPr>
          <a:xfrm>
            <a:off x="4352544" y="2240280"/>
            <a:ext cx="1664208" cy="1920240"/>
          </a:xfrm>
          <a:prstGeom prst="roundRect">
            <a:avLst>
              <a:gd name="adj" fmla="val 5495"/>
            </a:avLst>
          </a:prstGeom>
          <a:solidFill>
            <a:srgbClr val="141B28"/>
          </a:solidFill>
          <a:ln w="9525">
            <a:solidFill>
              <a:srgbClr val="263248"/>
            </a:solidFill>
            <a:prstDash val="solid"/>
          </a:ln>
        </p:spPr>
        <p:txBody>
          <a:bodyPr/>
          <a:lstStyle/>
          <a:p>
            <a:endParaRPr lang="en-IN"/>
          </a:p>
        </p:txBody>
      </p:sp>
      <p:sp>
        <p:nvSpPr>
          <p:cNvPr id="19" name="Shape 16"/>
          <p:cNvSpPr/>
          <p:nvPr/>
        </p:nvSpPr>
        <p:spPr>
          <a:xfrm>
            <a:off x="4535424" y="2514600"/>
            <a:ext cx="182880" cy="182880"/>
          </a:xfrm>
          <a:prstGeom prst="ellipse">
            <a:avLst/>
          </a:prstGeom>
          <a:solidFill>
            <a:srgbClr val="B9A4FF"/>
          </a:solidFill>
          <a:ln w="12700">
            <a:solidFill>
              <a:srgbClr val="B9A4FF"/>
            </a:solidFill>
            <a:prstDash val="solid"/>
          </a:ln>
        </p:spPr>
        <p:txBody>
          <a:bodyPr/>
          <a:lstStyle/>
          <a:p>
            <a:endParaRPr lang="en-IN"/>
          </a:p>
        </p:txBody>
      </p:sp>
      <p:sp>
        <p:nvSpPr>
          <p:cNvPr id="20" name="Text 17"/>
          <p:cNvSpPr txBox="1"/>
          <p:nvPr/>
        </p:nvSpPr>
        <p:spPr>
          <a:xfrm>
            <a:off x="4535424" y="2834640"/>
            <a:ext cx="1298448"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Transcript</a:t>
            </a:r>
            <a:endParaRPr lang="en-US" sz="1500" dirty="0"/>
          </a:p>
        </p:txBody>
      </p:sp>
      <p:sp>
        <p:nvSpPr>
          <p:cNvPr id="21" name="Text 18"/>
          <p:cNvSpPr txBox="1"/>
          <p:nvPr/>
        </p:nvSpPr>
        <p:spPr>
          <a:xfrm>
            <a:off x="4535424" y="3227832"/>
            <a:ext cx="1344168" cy="8686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Card numbers masked, agent identified, stored on the lead</a:t>
            </a:r>
            <a:endParaRPr lang="en-US" sz="1150" dirty="0"/>
          </a:p>
        </p:txBody>
      </p:sp>
      <p:sp>
        <p:nvSpPr>
          <p:cNvPr id="22" name="Shape 19"/>
          <p:cNvSpPr/>
          <p:nvPr/>
        </p:nvSpPr>
        <p:spPr>
          <a:xfrm>
            <a:off x="6044184" y="3200400"/>
            <a:ext cx="182880" cy="0"/>
          </a:xfrm>
          <a:prstGeom prst="line">
            <a:avLst/>
          </a:prstGeom>
          <a:noFill/>
          <a:ln w="19050">
            <a:solidFill>
              <a:srgbClr val="A3AEC3"/>
            </a:solidFill>
            <a:prstDash val="solid"/>
            <a:tailEnd type="triangle"/>
          </a:ln>
        </p:spPr>
        <p:txBody>
          <a:bodyPr/>
          <a:lstStyle/>
          <a:p>
            <a:endParaRPr lang="en-IN"/>
          </a:p>
        </p:txBody>
      </p:sp>
      <p:sp>
        <p:nvSpPr>
          <p:cNvPr id="23" name="Shape 20"/>
          <p:cNvSpPr/>
          <p:nvPr/>
        </p:nvSpPr>
        <p:spPr>
          <a:xfrm>
            <a:off x="6254496" y="2240280"/>
            <a:ext cx="1664208" cy="1920240"/>
          </a:xfrm>
          <a:prstGeom prst="roundRect">
            <a:avLst>
              <a:gd name="adj" fmla="val 5495"/>
            </a:avLst>
          </a:prstGeom>
          <a:solidFill>
            <a:srgbClr val="141B28"/>
          </a:solidFill>
          <a:ln w="9525">
            <a:solidFill>
              <a:srgbClr val="263248"/>
            </a:solidFill>
            <a:prstDash val="solid"/>
          </a:ln>
        </p:spPr>
        <p:txBody>
          <a:bodyPr/>
          <a:lstStyle/>
          <a:p>
            <a:endParaRPr lang="en-IN"/>
          </a:p>
        </p:txBody>
      </p:sp>
      <p:sp>
        <p:nvSpPr>
          <p:cNvPr id="24" name="Shape 21"/>
          <p:cNvSpPr/>
          <p:nvPr/>
        </p:nvSpPr>
        <p:spPr>
          <a:xfrm>
            <a:off x="6437376" y="2514600"/>
            <a:ext cx="182880" cy="182880"/>
          </a:xfrm>
          <a:prstGeom prst="ellipse">
            <a:avLst/>
          </a:prstGeom>
          <a:solidFill>
            <a:srgbClr val="FBBF24"/>
          </a:solidFill>
          <a:ln w="12700">
            <a:solidFill>
              <a:srgbClr val="FBBF24"/>
            </a:solidFill>
            <a:prstDash val="solid"/>
          </a:ln>
        </p:spPr>
        <p:txBody>
          <a:bodyPr/>
          <a:lstStyle/>
          <a:p>
            <a:endParaRPr lang="en-IN"/>
          </a:p>
        </p:txBody>
      </p:sp>
      <p:sp>
        <p:nvSpPr>
          <p:cNvPr id="25" name="Text 22"/>
          <p:cNvSpPr txBox="1"/>
          <p:nvPr/>
        </p:nvSpPr>
        <p:spPr>
          <a:xfrm>
            <a:off x="6437376" y="2834640"/>
            <a:ext cx="1298448"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Checklist</a:t>
            </a:r>
            <a:endParaRPr lang="en-US" sz="1500" dirty="0"/>
          </a:p>
        </p:txBody>
      </p:sp>
      <p:sp>
        <p:nvSpPr>
          <p:cNvPr id="26" name="Text 23"/>
          <p:cNvSpPr txBox="1"/>
          <p:nvPr/>
        </p:nvSpPr>
        <p:spPr>
          <a:xfrm>
            <a:off x="6437376" y="3227832"/>
            <a:ext cx="1344168" cy="8686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Type A script · Type B facts · Type C behaviour</a:t>
            </a:r>
            <a:endParaRPr lang="en-US" sz="1150" dirty="0"/>
          </a:p>
        </p:txBody>
      </p:sp>
      <p:sp>
        <p:nvSpPr>
          <p:cNvPr id="27" name="Shape 24"/>
          <p:cNvSpPr/>
          <p:nvPr/>
        </p:nvSpPr>
        <p:spPr>
          <a:xfrm>
            <a:off x="7946136" y="3200400"/>
            <a:ext cx="182880" cy="0"/>
          </a:xfrm>
          <a:prstGeom prst="line">
            <a:avLst/>
          </a:prstGeom>
          <a:noFill/>
          <a:ln w="19050">
            <a:solidFill>
              <a:srgbClr val="A3AEC3"/>
            </a:solidFill>
            <a:prstDash val="solid"/>
            <a:tailEnd type="triangle"/>
          </a:ln>
        </p:spPr>
        <p:txBody>
          <a:bodyPr/>
          <a:lstStyle/>
          <a:p>
            <a:endParaRPr lang="en-IN"/>
          </a:p>
        </p:txBody>
      </p:sp>
      <p:sp>
        <p:nvSpPr>
          <p:cNvPr id="28" name="Shape 25"/>
          <p:cNvSpPr/>
          <p:nvPr/>
        </p:nvSpPr>
        <p:spPr>
          <a:xfrm>
            <a:off x="8156448" y="2240280"/>
            <a:ext cx="1664208" cy="1920240"/>
          </a:xfrm>
          <a:prstGeom prst="roundRect">
            <a:avLst>
              <a:gd name="adj" fmla="val 5495"/>
            </a:avLst>
          </a:prstGeom>
          <a:solidFill>
            <a:srgbClr val="141B28"/>
          </a:solidFill>
          <a:ln w="9525">
            <a:solidFill>
              <a:srgbClr val="263248"/>
            </a:solidFill>
            <a:prstDash val="solid"/>
          </a:ln>
        </p:spPr>
        <p:txBody>
          <a:bodyPr/>
          <a:lstStyle/>
          <a:p>
            <a:endParaRPr lang="en-IN"/>
          </a:p>
        </p:txBody>
      </p:sp>
      <p:sp>
        <p:nvSpPr>
          <p:cNvPr id="29" name="Shape 26"/>
          <p:cNvSpPr/>
          <p:nvPr/>
        </p:nvSpPr>
        <p:spPr>
          <a:xfrm>
            <a:off x="8339328" y="2514600"/>
            <a:ext cx="182880" cy="182880"/>
          </a:xfrm>
          <a:prstGeom prst="ellipse">
            <a:avLst/>
          </a:prstGeom>
          <a:solidFill>
            <a:srgbClr val="F87171"/>
          </a:solidFill>
          <a:ln w="12700">
            <a:solidFill>
              <a:srgbClr val="F87171"/>
            </a:solidFill>
            <a:prstDash val="solid"/>
          </a:ln>
        </p:spPr>
        <p:txBody>
          <a:bodyPr/>
          <a:lstStyle/>
          <a:p>
            <a:endParaRPr lang="en-IN"/>
          </a:p>
        </p:txBody>
      </p:sp>
      <p:sp>
        <p:nvSpPr>
          <p:cNvPr id="30" name="Text 27"/>
          <p:cNvSpPr txBox="1"/>
          <p:nvPr/>
        </p:nvSpPr>
        <p:spPr>
          <a:xfrm>
            <a:off x="8339328" y="2834640"/>
            <a:ext cx="1298448"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Gate</a:t>
            </a:r>
            <a:endParaRPr lang="en-US" sz="1500" dirty="0"/>
          </a:p>
        </p:txBody>
      </p:sp>
      <p:sp>
        <p:nvSpPr>
          <p:cNvPr id="31" name="Text 28"/>
          <p:cNvSpPr txBox="1"/>
          <p:nvPr/>
        </p:nvSpPr>
        <p:spPr>
          <a:xfrm>
            <a:off x="8339328" y="3227832"/>
            <a:ext cx="1344168" cy="8686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HELD · QA · SUBMITTED, with reasons and queue</a:t>
            </a:r>
            <a:endParaRPr lang="en-US" sz="1150" dirty="0"/>
          </a:p>
        </p:txBody>
      </p:sp>
      <p:sp>
        <p:nvSpPr>
          <p:cNvPr id="32" name="Shape 29"/>
          <p:cNvSpPr/>
          <p:nvPr/>
        </p:nvSpPr>
        <p:spPr>
          <a:xfrm>
            <a:off x="9848088" y="3200400"/>
            <a:ext cx="182880" cy="0"/>
          </a:xfrm>
          <a:prstGeom prst="line">
            <a:avLst/>
          </a:prstGeom>
          <a:noFill/>
          <a:ln w="19050">
            <a:solidFill>
              <a:srgbClr val="A3AEC3"/>
            </a:solidFill>
            <a:prstDash val="solid"/>
            <a:tailEnd type="triangle"/>
          </a:ln>
        </p:spPr>
        <p:txBody>
          <a:bodyPr/>
          <a:lstStyle/>
          <a:p>
            <a:endParaRPr lang="en-IN"/>
          </a:p>
        </p:txBody>
      </p:sp>
      <p:sp>
        <p:nvSpPr>
          <p:cNvPr id="33" name="Shape 30"/>
          <p:cNvSpPr/>
          <p:nvPr/>
        </p:nvSpPr>
        <p:spPr>
          <a:xfrm>
            <a:off x="10058400" y="2240280"/>
            <a:ext cx="1664208" cy="1920240"/>
          </a:xfrm>
          <a:prstGeom prst="roundRect">
            <a:avLst>
              <a:gd name="adj" fmla="val 5495"/>
            </a:avLst>
          </a:prstGeom>
          <a:solidFill>
            <a:srgbClr val="141B28"/>
          </a:solidFill>
          <a:ln w="9525">
            <a:solidFill>
              <a:srgbClr val="263248"/>
            </a:solidFill>
            <a:prstDash val="solid"/>
          </a:ln>
        </p:spPr>
        <p:txBody>
          <a:bodyPr/>
          <a:lstStyle/>
          <a:p>
            <a:endParaRPr lang="en-IN"/>
          </a:p>
        </p:txBody>
      </p:sp>
      <p:sp>
        <p:nvSpPr>
          <p:cNvPr id="34" name="Shape 31"/>
          <p:cNvSpPr/>
          <p:nvPr/>
        </p:nvSpPr>
        <p:spPr>
          <a:xfrm>
            <a:off x="10241280" y="2514600"/>
            <a:ext cx="182880" cy="182880"/>
          </a:xfrm>
          <a:prstGeom prst="ellipse">
            <a:avLst/>
          </a:prstGeom>
          <a:solidFill>
            <a:srgbClr val="34D399"/>
          </a:solidFill>
          <a:ln w="12700">
            <a:solidFill>
              <a:srgbClr val="34D399"/>
            </a:solidFill>
            <a:prstDash val="solid"/>
          </a:ln>
        </p:spPr>
        <p:txBody>
          <a:bodyPr/>
          <a:lstStyle/>
          <a:p>
            <a:endParaRPr lang="en-IN"/>
          </a:p>
        </p:txBody>
      </p:sp>
      <p:sp>
        <p:nvSpPr>
          <p:cNvPr id="35" name="Text 32"/>
          <p:cNvSpPr txBox="1"/>
          <p:nvPr/>
        </p:nvSpPr>
        <p:spPr>
          <a:xfrm>
            <a:off x="10241280" y="2834640"/>
            <a:ext cx="1298448"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Console + audit</a:t>
            </a:r>
            <a:endParaRPr lang="en-US" sz="1500" dirty="0"/>
          </a:p>
        </p:txBody>
      </p:sp>
      <p:sp>
        <p:nvSpPr>
          <p:cNvPr id="36" name="Text 33"/>
          <p:cNvSpPr txBox="1"/>
          <p:nvPr/>
        </p:nvSpPr>
        <p:spPr>
          <a:xfrm>
            <a:off x="10241280" y="3227832"/>
            <a:ext cx="1344168" cy="8686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Evidence, click-to-play, override, audit JSON</a:t>
            </a:r>
            <a:endParaRPr lang="en-US" sz="1150" dirty="0"/>
          </a:p>
        </p:txBody>
      </p:sp>
      <p:sp>
        <p:nvSpPr>
          <p:cNvPr id="37" name="Shape 34"/>
          <p:cNvSpPr/>
          <p:nvPr/>
        </p:nvSpPr>
        <p:spPr>
          <a:xfrm>
            <a:off x="548640" y="4572000"/>
            <a:ext cx="11094415" cy="1371600"/>
          </a:xfrm>
          <a:prstGeom prst="roundRect">
            <a:avLst>
              <a:gd name="adj" fmla="val 6667"/>
            </a:avLst>
          </a:prstGeom>
          <a:solidFill>
            <a:srgbClr val="1A2332"/>
          </a:solidFill>
          <a:ln w="9525">
            <a:solidFill>
              <a:srgbClr val="263248"/>
            </a:solidFill>
            <a:prstDash val="solid"/>
          </a:ln>
        </p:spPr>
        <p:txBody>
          <a:bodyPr/>
          <a:lstStyle/>
          <a:p>
            <a:endParaRPr lang="en-IN"/>
          </a:p>
        </p:txBody>
      </p:sp>
      <p:sp>
        <p:nvSpPr>
          <p:cNvPr id="38" name="Text 35"/>
          <p:cNvSpPr txBox="1"/>
          <p:nvPr/>
        </p:nvSpPr>
        <p:spPr>
          <a:xfrm>
            <a:off x="822960" y="4736592"/>
            <a:ext cx="10545775" cy="1097280"/>
          </a:xfrm>
          <a:prstGeom prst="rect">
            <a:avLst/>
          </a:prstGeom>
          <a:noFill/>
          <a:ln/>
        </p:spPr>
        <p:txBody>
          <a:bodyPr wrap="square" lIns="0" tIns="0" rIns="0" bIns="0" rtlCol="0" anchor="t"/>
          <a:lstStyle/>
          <a:p>
            <a:pPr marL="203200" indent="-203200">
              <a:spcAft>
                <a:spcPts val="500"/>
              </a:spcAft>
              <a:buSzPct val="100000"/>
              <a:buChar char="•"/>
            </a:pPr>
            <a:r>
              <a:rPr lang="en-US" sz="1350" b="1" dirty="0">
                <a:solidFill>
                  <a:srgbClr val="E8EDF6"/>
                </a:solidFill>
                <a:latin typeface="Calibri" pitchFamily="34" charset="0"/>
                <a:ea typeface="Calibri" pitchFamily="34" charset="-122"/>
                <a:cs typeface="Calibri" pitchFamily="34" charset="-120"/>
              </a:rPr>
              <a:t>Asynchronous:</a:t>
            </a:r>
            <a:r>
              <a:rPr lang="en-US" sz="1350" dirty="0">
                <a:solidFill>
                  <a:srgbClr val="A3AEC3"/>
                </a:solidFill>
                <a:latin typeface="Calibri" pitchFamily="34" charset="0"/>
                <a:ea typeface="Calibri" pitchFamily="34" charset="-122"/>
                <a:cs typeface="Calibri" pitchFamily="34" charset="-120"/>
              </a:rPr>
              <a:t> the webhook answers 202 at once; the dialler never waits on transcription.</a:t>
            </a:r>
            <a:endParaRPr lang="en-US" sz="1350" dirty="0"/>
          </a:p>
          <a:p>
            <a:pPr marL="203200" indent="-203200">
              <a:spcAft>
                <a:spcPts val="500"/>
              </a:spcAft>
              <a:buSzPct val="100000"/>
              <a:buChar char="•"/>
            </a:pPr>
            <a:r>
              <a:rPr lang="en-US" sz="1350" b="1" dirty="0">
                <a:solidFill>
                  <a:srgbClr val="E8EDF6"/>
                </a:solidFill>
                <a:latin typeface="Calibri" pitchFamily="34" charset="0"/>
                <a:ea typeface="Calibri" pitchFamily="34" charset="-122"/>
                <a:cs typeface="Calibri" pitchFamily="34" charset="-120"/>
              </a:rPr>
              <a:t>Nothing lost:</a:t>
            </a:r>
            <a:r>
              <a:rPr lang="en-US" sz="1350" dirty="0">
                <a:solidFill>
                  <a:srgbClr val="A3AEC3"/>
                </a:solidFill>
                <a:latin typeface="Calibri" pitchFamily="34" charset="0"/>
                <a:ea typeface="Calibri" pitchFamily="34" charset="-122"/>
                <a:cs typeface="Calibri" pitchFamily="34" charset="-120"/>
              </a:rPr>
              <a:t> the recording is saved before speech-to-text runs, so a failed transcription never loses the call.</a:t>
            </a:r>
            <a:endParaRPr lang="en-US" sz="1350" dirty="0"/>
          </a:p>
          <a:p>
            <a:pPr marL="203200" indent="-203200">
              <a:spcAft>
                <a:spcPts val="500"/>
              </a:spcAft>
              <a:buSzPct val="100000"/>
              <a:buChar char="•"/>
            </a:pPr>
            <a:r>
              <a:rPr lang="en-US" sz="1350" b="1" dirty="0">
                <a:solidFill>
                  <a:srgbClr val="E8EDF6"/>
                </a:solidFill>
                <a:latin typeface="Calibri" pitchFamily="34" charset="0"/>
                <a:ea typeface="Calibri" pitchFamily="34" charset="-122"/>
                <a:cs typeface="Calibri" pitchFamily="34" charset="-120"/>
              </a:rPr>
              <a:t>Honest:</a:t>
            </a:r>
            <a:r>
              <a:rPr lang="en-US" sz="1350" dirty="0">
                <a:solidFill>
                  <a:srgbClr val="A3AEC3"/>
                </a:solidFill>
                <a:latin typeface="Calibri" pitchFamily="34" charset="0"/>
                <a:ea typeface="Calibri" pitchFamily="34" charset="-122"/>
                <a:cs typeface="Calibri" pitchFamily="34" charset="-120"/>
              </a:rPr>
              <a:t> with no speech-to-text key the webhook refuses (503) - it never passes a canned transcript off as the call.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5</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04 · BUILD THIS FIRST</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Recording ingestion: the dialler webhook</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POST /api/dialler/recording — recording in, keyed on Lead ID, scored automatically.</a:t>
            </a:r>
            <a:endParaRPr lang="en-US" sz="1500" dirty="0"/>
          </a:p>
        </p:txBody>
      </p:sp>
      <p:sp>
        <p:nvSpPr>
          <p:cNvPr id="8" name="Shape 5"/>
          <p:cNvSpPr/>
          <p:nvPr/>
        </p:nvSpPr>
        <p:spPr>
          <a:xfrm>
            <a:off x="548640" y="1874520"/>
            <a:ext cx="5852160" cy="2697480"/>
          </a:xfrm>
          <a:prstGeom prst="roundRect">
            <a:avLst>
              <a:gd name="adj" fmla="val 3390"/>
            </a:avLst>
          </a:prstGeom>
          <a:solidFill>
            <a:srgbClr val="0F1520"/>
          </a:solidFill>
          <a:ln w="9525">
            <a:solidFill>
              <a:srgbClr val="263248"/>
            </a:solidFill>
            <a:prstDash val="solid"/>
          </a:ln>
        </p:spPr>
        <p:txBody>
          <a:bodyPr/>
          <a:lstStyle/>
          <a:p>
            <a:endParaRPr lang="en-IN"/>
          </a:p>
        </p:txBody>
      </p:sp>
      <p:sp>
        <p:nvSpPr>
          <p:cNvPr id="9" name="Text 6"/>
          <p:cNvSpPr txBox="1"/>
          <p:nvPr/>
        </p:nvSpPr>
        <p:spPr>
          <a:xfrm>
            <a:off x="731520" y="2011680"/>
            <a:ext cx="5486400" cy="2423160"/>
          </a:xfrm>
          <a:prstGeom prst="rect">
            <a:avLst/>
          </a:prstGeom>
          <a:noFill/>
          <a:ln/>
        </p:spPr>
        <p:txBody>
          <a:bodyPr wrap="square" lIns="0" tIns="0" rIns="0" bIns="0" rtlCol="0" anchor="t"/>
          <a:lstStyle/>
          <a:p>
            <a:pPr marL="0" indent="0">
              <a:buNone/>
            </a:pPr>
            <a:r>
              <a:rPr lang="en-US" sz="1150" dirty="0">
                <a:solidFill>
                  <a:srgbClr val="6F7C94"/>
                </a:solidFill>
                <a:latin typeface="Courier New" pitchFamily="34" charset="0"/>
                <a:ea typeface="Courier New" pitchFamily="34" charset="-122"/>
                <a:cs typeface="Courier New" pitchFamily="34" charset="-120"/>
              </a:rPr>
              <a:t># raw audio body - what a dialler integration sends</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POST /api/dialler/recording?lead_id=3613802</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Content-Type: audio/wav      &lt;binary&gt;</a:t>
            </a:r>
            <a:endParaRPr lang="en-US" sz="1150" dirty="0"/>
          </a:p>
          <a:p>
            <a:pPr marL="0" indent="0">
              <a:buNone/>
            </a:pPr>
            <a:endParaRPr lang="en-US" sz="1150" dirty="0"/>
          </a:p>
          <a:p>
            <a:pPr marL="0" indent="0">
              <a:buNone/>
            </a:pPr>
            <a:r>
              <a:rPr lang="en-US" sz="1150" dirty="0">
                <a:solidFill>
                  <a:srgbClr val="6F7C94"/>
                </a:solidFill>
                <a:latin typeface="Courier New" pitchFamily="34" charset="0"/>
                <a:ea typeface="Courier New" pitchFamily="34" charset="-122"/>
                <a:cs typeface="Courier New" pitchFamily="34" charset="-120"/>
              </a:rPr>
              <a:t># or a URL the server fetches</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{"lead_id": "3613802", "recording_url": "https://..."}</a:t>
            </a:r>
            <a:endParaRPr lang="en-US" sz="1150" dirty="0"/>
          </a:p>
          <a:p>
            <a:pPr marL="0" indent="0">
              <a:buNone/>
            </a:pPr>
            <a:endParaRPr lang="en-US" sz="1150" dirty="0"/>
          </a:p>
          <a:p>
            <a:pPr marL="0" indent="0">
              <a:buNone/>
            </a:pPr>
            <a:r>
              <a:rPr lang="en-US" sz="1150" dirty="0">
                <a:solidFill>
                  <a:srgbClr val="6F7C94"/>
                </a:solidFill>
                <a:latin typeface="Courier New" pitchFamily="34" charset="0"/>
                <a:ea typeface="Courier New" pitchFamily="34" charset="-122"/>
                <a:cs typeface="Courier New" pitchFamily="34" charset="-120"/>
              </a:rPr>
              <a:t># or base64 in JSON</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{"lead_id": "...", "audio_base64": "...", "filename": "call.wav"}</a:t>
            </a:r>
            <a:endParaRPr lang="en-US" sz="1150" dirty="0"/>
          </a:p>
          <a:p>
            <a:pPr marL="0" indent="0">
              <a:buNone/>
            </a:pP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-&gt; 202 {job_id, poll: /api/jobs/&lt;job_id&gt;}</a:t>
            </a:r>
            <a:endParaRPr lang="en-US" sz="1150" dirty="0"/>
          </a:p>
        </p:txBody>
      </p:sp>
      <p:sp>
        <p:nvSpPr>
          <p:cNvPr id="10" name="Shape 7"/>
          <p:cNvSpPr/>
          <p:nvPr/>
        </p:nvSpPr>
        <p:spPr>
          <a:xfrm>
            <a:off x="548640" y="4846320"/>
            <a:ext cx="768096" cy="274320"/>
          </a:xfrm>
          <a:prstGeom prst="roundRect">
            <a:avLst>
              <a:gd name="adj" fmla="val 50000"/>
            </a:avLst>
          </a:prstGeom>
          <a:solidFill>
            <a:srgbClr val="6F7C94">
              <a:alpha val="18000"/>
            </a:srgbClr>
          </a:solidFill>
          <a:ln w="9525">
            <a:solidFill>
              <a:srgbClr val="6F7C94"/>
            </a:solidFill>
            <a:prstDash val="solid"/>
          </a:ln>
        </p:spPr>
        <p:txBody>
          <a:bodyPr/>
          <a:lstStyle/>
          <a:p>
            <a:endParaRPr lang="en-IN"/>
          </a:p>
        </p:txBody>
      </p:sp>
      <p:sp>
        <p:nvSpPr>
          <p:cNvPr id="11" name="Text 8"/>
          <p:cNvSpPr txBox="1"/>
          <p:nvPr/>
        </p:nvSpPr>
        <p:spPr>
          <a:xfrm>
            <a:off x="548640" y="4846320"/>
            <a:ext cx="768096" cy="274320"/>
          </a:xfrm>
          <a:prstGeom prst="rect">
            <a:avLst/>
          </a:prstGeom>
          <a:noFill/>
          <a:ln/>
        </p:spPr>
        <p:txBody>
          <a:bodyPr wrap="square" lIns="0" tIns="0" rIns="0" bIns="0" rtlCol="0" anchor="ctr"/>
          <a:lstStyle/>
          <a:p>
            <a:pPr marL="0" indent="0" algn="ctr">
              <a:buNone/>
            </a:pPr>
            <a:r>
              <a:rPr lang="en-US" sz="1050" b="1" dirty="0">
                <a:solidFill>
                  <a:srgbClr val="6F7C94"/>
                </a:solidFill>
                <a:latin typeface="Calibri" pitchFamily="34" charset="0"/>
                <a:ea typeface="Calibri" pitchFamily="34" charset="-122"/>
                <a:cs typeface="Calibri" pitchFamily="34" charset="-120"/>
              </a:rPr>
              <a:t>received</a:t>
            </a:r>
            <a:endParaRPr lang="en-US" sz="1050" dirty="0"/>
          </a:p>
        </p:txBody>
      </p:sp>
      <p:sp>
        <p:nvSpPr>
          <p:cNvPr id="12" name="Shape 9"/>
          <p:cNvSpPr/>
          <p:nvPr/>
        </p:nvSpPr>
        <p:spPr>
          <a:xfrm>
            <a:off x="1335024" y="4983480"/>
            <a:ext cx="128016" cy="0"/>
          </a:xfrm>
          <a:prstGeom prst="line">
            <a:avLst/>
          </a:prstGeom>
          <a:noFill/>
          <a:ln w="19050">
            <a:solidFill>
              <a:srgbClr val="6F7C94"/>
            </a:solidFill>
            <a:prstDash val="solid"/>
            <a:tailEnd type="triangle"/>
          </a:ln>
        </p:spPr>
        <p:txBody>
          <a:bodyPr/>
          <a:lstStyle/>
          <a:p>
            <a:endParaRPr lang="en-IN"/>
          </a:p>
        </p:txBody>
      </p:sp>
      <p:sp>
        <p:nvSpPr>
          <p:cNvPr id="13" name="Shape 10"/>
          <p:cNvSpPr/>
          <p:nvPr/>
        </p:nvSpPr>
        <p:spPr>
          <a:xfrm>
            <a:off x="1527048" y="4846320"/>
            <a:ext cx="1078992" cy="274320"/>
          </a:xfrm>
          <a:prstGeom prst="roundRect">
            <a:avLst>
              <a:gd name="adj" fmla="val 50000"/>
            </a:avLst>
          </a:prstGeom>
          <a:solidFill>
            <a:srgbClr val="5EEAD4">
              <a:alpha val="18000"/>
            </a:srgbClr>
          </a:solidFill>
          <a:ln w="9525">
            <a:solidFill>
              <a:srgbClr val="5EEAD4"/>
            </a:solidFill>
            <a:prstDash val="solid"/>
          </a:ln>
        </p:spPr>
        <p:txBody>
          <a:bodyPr/>
          <a:lstStyle/>
          <a:p>
            <a:endParaRPr lang="en-IN"/>
          </a:p>
        </p:txBody>
      </p:sp>
      <p:sp>
        <p:nvSpPr>
          <p:cNvPr id="14" name="Text 11"/>
          <p:cNvSpPr txBox="1"/>
          <p:nvPr/>
        </p:nvSpPr>
        <p:spPr>
          <a:xfrm>
            <a:off x="1527048" y="4846320"/>
            <a:ext cx="1078992" cy="274320"/>
          </a:xfrm>
          <a:prstGeom prst="rect">
            <a:avLst/>
          </a:prstGeom>
          <a:noFill/>
          <a:ln/>
        </p:spPr>
        <p:txBody>
          <a:bodyPr wrap="square" lIns="0" tIns="0" rIns="0" bIns="0" rtlCol="0" anchor="ctr"/>
          <a:lstStyle/>
          <a:p>
            <a:pPr marL="0" indent="0" algn="ctr">
              <a:buNone/>
            </a:pPr>
            <a:r>
              <a:rPr lang="en-US" sz="1050" b="1" dirty="0">
                <a:solidFill>
                  <a:srgbClr val="5EEAD4"/>
                </a:solidFill>
                <a:latin typeface="Calibri" pitchFamily="34" charset="0"/>
                <a:ea typeface="Calibri" pitchFamily="34" charset="-122"/>
                <a:cs typeface="Calibri" pitchFamily="34" charset="-120"/>
              </a:rPr>
              <a:t>transcribing</a:t>
            </a:r>
            <a:endParaRPr lang="en-US" sz="1050" dirty="0"/>
          </a:p>
        </p:txBody>
      </p:sp>
      <p:sp>
        <p:nvSpPr>
          <p:cNvPr id="15" name="Shape 12"/>
          <p:cNvSpPr/>
          <p:nvPr/>
        </p:nvSpPr>
        <p:spPr>
          <a:xfrm>
            <a:off x="2624328" y="4983480"/>
            <a:ext cx="128016" cy="0"/>
          </a:xfrm>
          <a:prstGeom prst="line">
            <a:avLst/>
          </a:prstGeom>
          <a:noFill/>
          <a:ln w="19050">
            <a:solidFill>
              <a:srgbClr val="6F7C94"/>
            </a:solidFill>
            <a:prstDash val="solid"/>
            <a:tailEnd type="triangle"/>
          </a:ln>
        </p:spPr>
        <p:txBody>
          <a:bodyPr/>
          <a:lstStyle/>
          <a:p>
            <a:endParaRPr lang="en-IN"/>
          </a:p>
        </p:txBody>
      </p:sp>
      <p:sp>
        <p:nvSpPr>
          <p:cNvPr id="16" name="Shape 13"/>
          <p:cNvSpPr/>
          <p:nvPr/>
        </p:nvSpPr>
        <p:spPr>
          <a:xfrm>
            <a:off x="2816352" y="4846320"/>
            <a:ext cx="690372"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17" name="Text 14"/>
          <p:cNvSpPr txBox="1"/>
          <p:nvPr/>
        </p:nvSpPr>
        <p:spPr>
          <a:xfrm>
            <a:off x="2816352" y="4846320"/>
            <a:ext cx="690372"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scoring</a:t>
            </a:r>
            <a:endParaRPr lang="en-US" sz="1050" dirty="0"/>
          </a:p>
        </p:txBody>
      </p:sp>
      <p:sp>
        <p:nvSpPr>
          <p:cNvPr id="18" name="Shape 15"/>
          <p:cNvSpPr/>
          <p:nvPr/>
        </p:nvSpPr>
        <p:spPr>
          <a:xfrm>
            <a:off x="3525012" y="4983480"/>
            <a:ext cx="128016" cy="0"/>
          </a:xfrm>
          <a:prstGeom prst="line">
            <a:avLst/>
          </a:prstGeom>
          <a:noFill/>
          <a:ln w="19050">
            <a:solidFill>
              <a:srgbClr val="6F7C94"/>
            </a:solidFill>
            <a:prstDash val="solid"/>
            <a:tailEnd type="triangle"/>
          </a:ln>
        </p:spPr>
        <p:txBody>
          <a:bodyPr/>
          <a:lstStyle/>
          <a:p>
            <a:endParaRPr lang="en-IN"/>
          </a:p>
        </p:txBody>
      </p:sp>
      <p:sp>
        <p:nvSpPr>
          <p:cNvPr id="19" name="Shape 16"/>
          <p:cNvSpPr/>
          <p:nvPr/>
        </p:nvSpPr>
        <p:spPr>
          <a:xfrm>
            <a:off x="3717036" y="4846320"/>
            <a:ext cx="45720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20" name="Text 17"/>
          <p:cNvSpPr txBox="1"/>
          <p:nvPr/>
        </p:nvSpPr>
        <p:spPr>
          <a:xfrm>
            <a:off x="3717036" y="4846320"/>
            <a:ext cx="45720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done</a:t>
            </a:r>
            <a:endParaRPr lang="en-US" sz="1050" dirty="0"/>
          </a:p>
        </p:txBody>
      </p:sp>
      <p:sp>
        <p:nvSpPr>
          <p:cNvPr id="21" name="Shape 18"/>
          <p:cNvSpPr/>
          <p:nvPr/>
        </p:nvSpPr>
        <p:spPr>
          <a:xfrm>
            <a:off x="4567428" y="4846320"/>
            <a:ext cx="534924" cy="274320"/>
          </a:xfrm>
          <a:prstGeom prst="roundRect">
            <a:avLst>
              <a:gd name="adj" fmla="val 50000"/>
            </a:avLst>
          </a:prstGeom>
          <a:solidFill>
            <a:srgbClr val="F87171">
              <a:alpha val="18000"/>
            </a:srgbClr>
          </a:solidFill>
          <a:ln w="9525">
            <a:solidFill>
              <a:srgbClr val="F87171"/>
            </a:solidFill>
            <a:prstDash val="solid"/>
          </a:ln>
        </p:spPr>
        <p:txBody>
          <a:bodyPr/>
          <a:lstStyle/>
          <a:p>
            <a:endParaRPr lang="en-IN"/>
          </a:p>
        </p:txBody>
      </p:sp>
      <p:sp>
        <p:nvSpPr>
          <p:cNvPr id="22" name="Text 19"/>
          <p:cNvSpPr txBox="1"/>
          <p:nvPr/>
        </p:nvSpPr>
        <p:spPr>
          <a:xfrm>
            <a:off x="4567428" y="4846320"/>
            <a:ext cx="534924" cy="274320"/>
          </a:xfrm>
          <a:prstGeom prst="rect">
            <a:avLst/>
          </a:prstGeom>
          <a:noFill/>
          <a:ln/>
        </p:spPr>
        <p:txBody>
          <a:bodyPr wrap="square" lIns="0" tIns="0" rIns="0" bIns="0"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error</a:t>
            </a:r>
            <a:endParaRPr lang="en-US" sz="1050" dirty="0"/>
          </a:p>
        </p:txBody>
      </p:sp>
      <p:sp>
        <p:nvSpPr>
          <p:cNvPr id="23" name="Text 20"/>
          <p:cNvSpPr txBox="1"/>
          <p:nvPr/>
        </p:nvSpPr>
        <p:spPr>
          <a:xfrm>
            <a:off x="548640" y="5285232"/>
            <a:ext cx="5852160" cy="27432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Every transition is appended to runs/dialler_log.jsonl.</a:t>
            </a:r>
            <a:endParaRPr lang="en-US" sz="1150" dirty="0"/>
          </a:p>
        </p:txBody>
      </p:sp>
      <p:sp>
        <p:nvSpPr>
          <p:cNvPr id="24" name="Text 21"/>
          <p:cNvSpPr txBox="1"/>
          <p:nvPr/>
        </p:nvSpPr>
        <p:spPr>
          <a:xfrm>
            <a:off x="6766560" y="1874520"/>
            <a:ext cx="4892040" cy="4206240"/>
          </a:xfrm>
          <a:prstGeom prst="rect">
            <a:avLst/>
          </a:prstGeom>
          <a:noFill/>
          <a:ln/>
        </p:spPr>
        <p:txBody>
          <a:bodyPr wrap="square" lIns="0" tIns="0" rIns="0" bIns="0" rtlCol="0" anchor="t"/>
          <a:lstStyle/>
          <a:p>
            <a:pPr marL="203200" indent="-203200">
              <a:spcAft>
                <a:spcPts val="800"/>
              </a:spcAft>
              <a:buSzPct val="100000"/>
              <a:buChar char="•"/>
            </a:pPr>
            <a:r>
              <a:rPr lang="en-US" sz="1350" b="1" dirty="0">
                <a:solidFill>
                  <a:srgbClr val="E8EDF6"/>
                </a:solidFill>
                <a:latin typeface="Calibri" pitchFamily="34" charset="0"/>
                <a:ea typeface="Calibri" pitchFamily="34" charset="-122"/>
                <a:cs typeface="Calibri" pitchFamily="34" charset="-120"/>
              </a:rPr>
              <a:t>Speaker separation + timestamps</a:t>
            </a:r>
            <a:r>
              <a:rPr lang="en-US" sz="1350" dirty="0">
                <a:solidFill>
                  <a:srgbClr val="A3AEC3"/>
                </a:solidFill>
                <a:latin typeface="Calibri" pitchFamily="34" charset="0"/>
                <a:ea typeface="Calibri" pitchFamily="34" charset="-122"/>
                <a:cs typeface="Calibri" pitchFamily="34" charset="-120"/>
              </a:rPr>
              <a:t> from ElevenLabs Scribe or Deepgram, chosen by which key is set.</a:t>
            </a:r>
            <a:endParaRPr lang="en-US" sz="1350" dirty="0"/>
          </a:p>
          <a:p>
            <a:pPr marL="203200" indent="-203200">
              <a:spcAft>
                <a:spcPts val="800"/>
              </a:spcAft>
              <a:buSzPct val="100000"/>
              <a:buChar char="•"/>
            </a:pPr>
            <a:r>
              <a:rPr lang="en-US" sz="1350" b="1" dirty="0">
                <a:solidFill>
                  <a:srgbClr val="E8EDF6"/>
                </a:solidFill>
                <a:latin typeface="Calibri" pitchFamily="34" charset="0"/>
                <a:ea typeface="Calibri" pitchFamily="34" charset="-122"/>
                <a:cs typeface="Calibri" pitchFamily="34" charset="-120"/>
              </a:rPr>
              <a:t>Agent found by what they say</a:t>
            </a:r>
            <a:r>
              <a:rPr lang="en-US" sz="1350" dirty="0">
                <a:solidFill>
                  <a:srgbClr val="A3AEC3"/>
                </a:solidFill>
                <a:latin typeface="Calibri" pitchFamily="34" charset="0"/>
                <a:ea typeface="Calibri" pitchFamily="34" charset="-122"/>
                <a:cs typeface="Calibri" pitchFamily="34" charset="-120"/>
              </a:rPr>
              <a:t> - compliance phrases only an agent uses - not by who spoke first. Method and margin are recorded.</a:t>
            </a:r>
            <a:endParaRPr lang="en-US" sz="1350" dirty="0"/>
          </a:p>
          <a:p>
            <a:pPr marL="203200" indent="-203200">
              <a:spcAft>
                <a:spcPts val="800"/>
              </a:spcAft>
              <a:buSzPct val="100000"/>
              <a:buChar char="•"/>
            </a:pPr>
            <a:r>
              <a:rPr lang="en-US" sz="1350" b="1" dirty="0">
                <a:solidFill>
                  <a:srgbClr val="E8EDF6"/>
                </a:solidFill>
                <a:latin typeface="Calibri" pitchFamily="34" charset="0"/>
                <a:ea typeface="Calibri" pitchFamily="34" charset="-122"/>
                <a:cs typeface="Calibri" pitchFamily="34" charset="-120"/>
              </a:rPr>
              <a:t>Card numbers masked before disk</a:t>
            </a:r>
            <a:r>
              <a:rPr lang="en-US" sz="1350" dirty="0">
                <a:solidFill>
                  <a:srgbClr val="A3AEC3"/>
                </a:solidFill>
                <a:latin typeface="Calibri" pitchFamily="34" charset="0"/>
                <a:ea typeface="Calibri" pitchFamily="34" charset="-122"/>
                <a:cs typeface="Calibri" pitchFamily="34" charset="-120"/>
              </a:rPr>
              <a:t> - 13+ digits, whether ASR wrote “4111…” or “four one one one…”.</a:t>
            </a:r>
            <a:endParaRPr lang="en-US" sz="1350" dirty="0"/>
          </a:p>
          <a:p>
            <a:pPr marL="203200" indent="-203200">
              <a:spcAft>
                <a:spcPts val="800"/>
              </a:spcAft>
              <a:buSzPct val="100000"/>
              <a:buChar char="•"/>
            </a:pPr>
            <a:r>
              <a:rPr lang="en-US" sz="1350" b="1" dirty="0">
                <a:solidFill>
                  <a:srgbClr val="E8EDF6"/>
                </a:solidFill>
                <a:latin typeface="Calibri" pitchFamily="34" charset="0"/>
                <a:ea typeface="Calibri" pitchFamily="34" charset="-122"/>
                <a:cs typeface="Calibri" pitchFamily="34" charset="-120"/>
              </a:rPr>
              <a:t>Recording kept + checksummed</a:t>
            </a:r>
            <a:r>
              <a:rPr lang="en-US" sz="1350" dirty="0">
                <a:solidFill>
                  <a:srgbClr val="A3AEC3"/>
                </a:solidFill>
                <a:latin typeface="Calibri" pitchFamily="34" charset="0"/>
                <a:ea typeface="Calibri" pitchFamily="34" charset="-122"/>
                <a:cs typeface="Calibri" pitchFamily="34" charset="-120"/>
              </a:rPr>
              <a:t> - SHA-256 on the transcript, served back with seek support for click-to-play.</a:t>
            </a:r>
            <a:endParaRPr lang="en-US" sz="1350" dirty="0"/>
          </a:p>
          <a:p>
            <a:pPr marL="203200" indent="-203200">
              <a:spcAft>
                <a:spcPts val="800"/>
              </a:spcAft>
              <a:buSzPct val="100000"/>
              <a:buChar char="•"/>
            </a:pPr>
            <a:r>
              <a:rPr lang="en-US" sz="1350" b="1" dirty="0">
                <a:solidFill>
                  <a:srgbClr val="E8EDF6"/>
                </a:solidFill>
                <a:latin typeface="Calibri" pitchFamily="34" charset="0"/>
                <a:ea typeface="Calibri" pitchFamily="34" charset="-122"/>
                <a:cs typeface="Calibri" pitchFamily="34" charset="-120"/>
              </a:rPr>
              <a:t>Optional shared secret</a:t>
            </a:r>
            <a:r>
              <a:rPr lang="en-US" sz="1350" dirty="0">
                <a:solidFill>
                  <a:srgbClr val="A3AEC3"/>
                </a:solidFill>
                <a:latin typeface="Calibri" pitchFamily="34" charset="0"/>
                <a:ea typeface="Calibri" pitchFamily="34" charset="-122"/>
                <a:cs typeface="Calibri" pitchFamily="34" charset="-120"/>
              </a:rPr>
              <a:t> - set CIMET_DIALLER_TOKEN and the dialler must send X-Dialler-Token.</a:t>
            </a:r>
            <a:endParaRPr lang="en-US" sz="1350" dirty="0"/>
          </a:p>
          <a:p>
            <a:pPr marL="203200" indent="-203200">
              <a:spcAft>
                <a:spcPts val="800"/>
              </a:spcAft>
              <a:buSzPct val="100000"/>
              <a:buChar char="•"/>
            </a:pPr>
            <a:r>
              <a:rPr lang="en-US" sz="1350" b="1" dirty="0">
                <a:solidFill>
                  <a:srgbClr val="E8EDF6"/>
                </a:solidFill>
                <a:latin typeface="Calibri" pitchFamily="34" charset="0"/>
                <a:ea typeface="Calibri" pitchFamily="34" charset="-122"/>
                <a:cs typeface="Calibri" pitchFamily="34" charset="-120"/>
              </a:rPr>
              <a:t>Proven on real audio</a:t>
            </a:r>
            <a:r>
              <a:rPr lang="en-US" sz="1350" dirty="0">
                <a:solidFill>
                  <a:srgbClr val="A3AEC3"/>
                </a:solidFill>
                <a:latin typeface="Calibri" pitchFamily="34" charset="0"/>
                <a:ea typeface="Calibri" pitchFamily="34" charset="-122"/>
                <a:cs typeface="Calibri" pitchFamily="34" charset="-120"/>
              </a:rPr>
              <a:t> - calls rendered with ElevenLabs and transcribed by Scribe through this exact webhook.</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6</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05 · THE THREE CHECK TYPES</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Script, facts, behaviour — each scored its own way</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The part the brief said matters most.</a:t>
            </a:r>
            <a:endParaRPr lang="en-US" sz="1500" dirty="0"/>
          </a:p>
        </p:txBody>
      </p:sp>
      <p:sp>
        <p:nvSpPr>
          <p:cNvPr id="8" name="Shape 5"/>
          <p:cNvSpPr/>
          <p:nvPr/>
        </p:nvSpPr>
        <p:spPr>
          <a:xfrm>
            <a:off x="548640" y="1874520"/>
            <a:ext cx="3520440" cy="4251960"/>
          </a:xfrm>
          <a:prstGeom prst="roundRect">
            <a:avLst>
              <a:gd name="adj" fmla="val 2597"/>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822960" y="2148840"/>
            <a:ext cx="566928" cy="566928"/>
          </a:xfrm>
          <a:prstGeom prst="ellipse">
            <a:avLst/>
          </a:prstGeom>
          <a:solidFill>
            <a:srgbClr val="6AA8FF">
              <a:alpha val="20000"/>
            </a:srgbClr>
          </a:solidFill>
          <a:ln w="15875">
            <a:solidFill>
              <a:srgbClr val="6AA8FF"/>
            </a:solidFill>
            <a:prstDash val="solid"/>
          </a:ln>
        </p:spPr>
        <p:txBody>
          <a:bodyPr/>
          <a:lstStyle/>
          <a:p>
            <a:endParaRPr lang="en-IN"/>
          </a:p>
        </p:txBody>
      </p:sp>
      <p:sp>
        <p:nvSpPr>
          <p:cNvPr id="10" name="Text 7"/>
          <p:cNvSpPr txBox="1"/>
          <p:nvPr/>
        </p:nvSpPr>
        <p:spPr>
          <a:xfrm>
            <a:off x="822960" y="2148840"/>
            <a:ext cx="566928" cy="566928"/>
          </a:xfrm>
          <a:prstGeom prst="rect">
            <a:avLst/>
          </a:prstGeom>
          <a:noFill/>
          <a:ln/>
        </p:spPr>
        <p:txBody>
          <a:bodyPr wrap="square" lIns="0" tIns="0" rIns="0" bIns="0" rtlCol="0" anchor="ctr"/>
          <a:lstStyle/>
          <a:p>
            <a:pPr marL="0" indent="0" algn="ctr">
              <a:buNone/>
            </a:pPr>
            <a:r>
              <a:rPr lang="en-US" sz="2200" b="1" dirty="0">
                <a:solidFill>
                  <a:srgbClr val="6AA8FF"/>
                </a:solidFill>
                <a:latin typeface="Calibri" pitchFamily="34" charset="0"/>
                <a:ea typeface="Calibri" pitchFamily="34" charset="-122"/>
                <a:cs typeface="Calibri" pitchFamily="34" charset="-120"/>
              </a:rPr>
              <a:t>A</a:t>
            </a:r>
            <a:endParaRPr lang="en-US" sz="2200" dirty="0"/>
          </a:p>
        </p:txBody>
      </p:sp>
      <p:sp>
        <p:nvSpPr>
          <p:cNvPr id="11" name="Text 8"/>
          <p:cNvSpPr txBox="1"/>
          <p:nvPr/>
        </p:nvSpPr>
        <p:spPr>
          <a:xfrm>
            <a:off x="1554480" y="2167128"/>
            <a:ext cx="2331720" cy="320040"/>
          </a:xfrm>
          <a:prstGeom prst="rect">
            <a:avLst/>
          </a:prstGeom>
          <a:noFill/>
          <a:ln/>
        </p:spPr>
        <p:txBody>
          <a:bodyPr wrap="square" lIns="0" tIns="0" rIns="0" bIns="0" rtlCol="0" anchor="t"/>
          <a:lstStyle/>
          <a:p>
            <a:pPr marL="0" indent="0">
              <a:buNone/>
            </a:pPr>
            <a:r>
              <a:rPr lang="en-US" sz="1800" b="1" dirty="0">
                <a:solidFill>
                  <a:srgbClr val="E8EDF6"/>
                </a:solidFill>
                <a:latin typeface="Calibri" pitchFamily="34" charset="0"/>
                <a:ea typeface="Calibri" pitchFamily="34" charset="-122"/>
                <a:cs typeface="Calibri" pitchFamily="34" charset="-120"/>
              </a:rPr>
              <a:t>Verbatim / script</a:t>
            </a:r>
            <a:endParaRPr lang="en-US" sz="1800" dirty="0"/>
          </a:p>
        </p:txBody>
      </p:sp>
      <p:sp>
        <p:nvSpPr>
          <p:cNvPr id="12" name="Text 9"/>
          <p:cNvSpPr txBox="1"/>
          <p:nvPr/>
        </p:nvSpPr>
        <p:spPr>
          <a:xfrm>
            <a:off x="1554480" y="2496312"/>
            <a:ext cx="2331720" cy="27432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Transcript vs approved script</a:t>
            </a:r>
            <a:endParaRPr lang="en-US" sz="1150" dirty="0"/>
          </a:p>
        </p:txBody>
      </p:sp>
      <p:sp>
        <p:nvSpPr>
          <p:cNvPr id="13" name="Text 10"/>
          <p:cNvSpPr txBox="1"/>
          <p:nvPr/>
        </p:nvSpPr>
        <p:spPr>
          <a:xfrm>
            <a:off x="822960" y="2971800"/>
            <a:ext cx="2971800" cy="1143000"/>
          </a:xfrm>
          <a:prstGeom prst="rect">
            <a:avLst/>
          </a:prstGeom>
          <a:noFill/>
          <a:ln/>
        </p:spPr>
        <p:txBody>
          <a:bodyPr wrap="square" lIns="0" tIns="0" rIns="0" bIns="0" rtlCol="0" anchor="t"/>
          <a:lstStyle/>
          <a:p>
            <a:pPr marL="0" indent="0">
              <a:buNone/>
            </a:pPr>
            <a:r>
              <a:rPr lang="en-US" sz="1250" dirty="0">
                <a:solidFill>
                  <a:srgbClr val="A3AEC3"/>
                </a:solidFill>
                <a:latin typeface="Calibri" pitchFamily="34" charset="0"/>
                <a:ea typeface="Calibri" pitchFamily="34" charset="-122"/>
                <a:cs typeface="Calibri" pitchFamily="34" charset="-120"/>
              </a:rPr>
              <a:t>Token-level match over a sliding window of turns, tightened to the moment it was said. Handles ASR run-together words and alternative wordings.</a:t>
            </a:r>
            <a:endParaRPr lang="en-US" sz="1250" dirty="0"/>
          </a:p>
        </p:txBody>
      </p:sp>
      <p:sp>
        <p:nvSpPr>
          <p:cNvPr id="14" name="Text 11"/>
          <p:cNvSpPr txBox="1"/>
          <p:nvPr/>
        </p:nvSpPr>
        <p:spPr>
          <a:xfrm>
            <a:off x="822960" y="4206240"/>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LLM</a:t>
            </a:r>
            <a:endParaRPr lang="en-US" sz="950" dirty="0"/>
          </a:p>
        </p:txBody>
      </p:sp>
      <p:sp>
        <p:nvSpPr>
          <p:cNvPr id="15" name="Text 12"/>
          <p:cNvSpPr txBox="1"/>
          <p:nvPr/>
        </p:nvSpPr>
        <p:spPr>
          <a:xfrm>
            <a:off x="1737360" y="4187952"/>
            <a:ext cx="210312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No LLM. No hallucination surface.</a:t>
            </a:r>
            <a:endParaRPr lang="en-US" sz="1150" dirty="0"/>
          </a:p>
        </p:txBody>
      </p:sp>
      <p:sp>
        <p:nvSpPr>
          <p:cNvPr id="16" name="Text 13"/>
          <p:cNvSpPr txBox="1"/>
          <p:nvPr/>
        </p:nvSpPr>
        <p:spPr>
          <a:xfrm>
            <a:off x="822960" y="4773168"/>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BLOCKS SALE</a:t>
            </a:r>
            <a:endParaRPr lang="en-US" sz="950" dirty="0"/>
          </a:p>
        </p:txBody>
      </p:sp>
      <p:sp>
        <p:nvSpPr>
          <p:cNvPr id="17" name="Text 14"/>
          <p:cNvSpPr txBox="1"/>
          <p:nvPr/>
        </p:nvSpPr>
        <p:spPr>
          <a:xfrm>
            <a:off x="1737360" y="4754880"/>
            <a:ext cx="2103120" cy="548640"/>
          </a:xfrm>
          <a:prstGeom prst="rect">
            <a:avLst/>
          </a:prstGeom>
          <a:noFill/>
          <a:ln/>
        </p:spPr>
        <p:txBody>
          <a:bodyPr wrap="square" lIns="0" tIns="0" rIns="0" bIns="0" rtlCol="0" anchor="t"/>
          <a:lstStyle/>
          <a:p>
            <a:pPr marL="0" indent="0">
              <a:buNone/>
            </a:pPr>
            <a:r>
              <a:rPr lang="en-US" sz="1150" b="1" dirty="0">
                <a:solidFill>
                  <a:srgbClr val="6AA8FF"/>
                </a:solidFill>
                <a:latin typeface="Calibri" pitchFamily="34" charset="0"/>
                <a:ea typeface="Calibri" pitchFamily="34" charset="-122"/>
                <a:cs typeface="Calibri" pitchFamily="34" charset="-120"/>
              </a:rPr>
              <a:t>Yes, if critical</a:t>
            </a:r>
            <a:endParaRPr lang="en-US" sz="1150" dirty="0"/>
          </a:p>
        </p:txBody>
      </p:sp>
      <p:sp>
        <p:nvSpPr>
          <p:cNvPr id="18" name="Text 15"/>
          <p:cNvSpPr txBox="1"/>
          <p:nvPr/>
        </p:nvSpPr>
        <p:spPr>
          <a:xfrm>
            <a:off x="822960" y="5340096"/>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EXAMPLES</a:t>
            </a:r>
            <a:endParaRPr lang="en-US" sz="950" dirty="0"/>
          </a:p>
        </p:txBody>
      </p:sp>
      <p:sp>
        <p:nvSpPr>
          <p:cNvPr id="19" name="Text 16"/>
          <p:cNvSpPr txBox="1"/>
          <p:nvPr/>
        </p:nvSpPr>
        <p:spPr>
          <a:xfrm>
            <a:off x="1737360" y="5321808"/>
            <a:ext cx="210312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Recording disclaimer + consent, account holder, DMO read verbatim</a:t>
            </a:r>
            <a:endParaRPr lang="en-US" sz="1150" dirty="0"/>
          </a:p>
        </p:txBody>
      </p:sp>
      <p:sp>
        <p:nvSpPr>
          <p:cNvPr id="20" name="Shape 17"/>
          <p:cNvSpPr/>
          <p:nvPr/>
        </p:nvSpPr>
        <p:spPr>
          <a:xfrm>
            <a:off x="4297680" y="1874520"/>
            <a:ext cx="3520440" cy="4251960"/>
          </a:xfrm>
          <a:prstGeom prst="roundRect">
            <a:avLst>
              <a:gd name="adj" fmla="val 2597"/>
            </a:avLst>
          </a:prstGeom>
          <a:solidFill>
            <a:srgbClr val="141B28"/>
          </a:solidFill>
          <a:ln w="9525">
            <a:solidFill>
              <a:srgbClr val="263248"/>
            </a:solidFill>
            <a:prstDash val="solid"/>
          </a:ln>
        </p:spPr>
        <p:txBody>
          <a:bodyPr/>
          <a:lstStyle/>
          <a:p>
            <a:endParaRPr lang="en-IN"/>
          </a:p>
        </p:txBody>
      </p:sp>
      <p:sp>
        <p:nvSpPr>
          <p:cNvPr id="21" name="Shape 18"/>
          <p:cNvSpPr/>
          <p:nvPr/>
        </p:nvSpPr>
        <p:spPr>
          <a:xfrm>
            <a:off x="4572000" y="2148840"/>
            <a:ext cx="566928" cy="566928"/>
          </a:xfrm>
          <a:prstGeom prst="ellipse">
            <a:avLst/>
          </a:prstGeom>
          <a:solidFill>
            <a:srgbClr val="FBBF24">
              <a:alpha val="20000"/>
            </a:srgbClr>
          </a:solidFill>
          <a:ln w="15875">
            <a:solidFill>
              <a:srgbClr val="FBBF24"/>
            </a:solidFill>
            <a:prstDash val="solid"/>
          </a:ln>
        </p:spPr>
        <p:txBody>
          <a:bodyPr/>
          <a:lstStyle/>
          <a:p>
            <a:endParaRPr lang="en-IN"/>
          </a:p>
        </p:txBody>
      </p:sp>
      <p:sp>
        <p:nvSpPr>
          <p:cNvPr id="22" name="Text 19"/>
          <p:cNvSpPr txBox="1"/>
          <p:nvPr/>
        </p:nvSpPr>
        <p:spPr>
          <a:xfrm>
            <a:off x="4572000" y="2148840"/>
            <a:ext cx="566928" cy="566928"/>
          </a:xfrm>
          <a:prstGeom prst="rect">
            <a:avLst/>
          </a:prstGeom>
          <a:noFill/>
          <a:ln/>
        </p:spPr>
        <p:txBody>
          <a:bodyPr wrap="square" lIns="0" tIns="0" rIns="0" bIns="0" rtlCol="0" anchor="ctr"/>
          <a:lstStyle/>
          <a:p>
            <a:pPr marL="0" indent="0" algn="ctr">
              <a:buNone/>
            </a:pPr>
            <a:r>
              <a:rPr lang="en-US" sz="2200" b="1" dirty="0">
                <a:solidFill>
                  <a:srgbClr val="FBBF24"/>
                </a:solidFill>
                <a:latin typeface="Calibri" pitchFamily="34" charset="0"/>
                <a:ea typeface="Calibri" pitchFamily="34" charset="-122"/>
                <a:cs typeface="Calibri" pitchFamily="34" charset="-120"/>
              </a:rPr>
              <a:t>B</a:t>
            </a:r>
            <a:endParaRPr lang="en-US" sz="2200" dirty="0"/>
          </a:p>
        </p:txBody>
      </p:sp>
      <p:sp>
        <p:nvSpPr>
          <p:cNvPr id="23" name="Text 20"/>
          <p:cNvSpPr txBox="1"/>
          <p:nvPr/>
        </p:nvSpPr>
        <p:spPr>
          <a:xfrm>
            <a:off x="5303520" y="2167128"/>
            <a:ext cx="2331720" cy="320040"/>
          </a:xfrm>
          <a:prstGeom prst="rect">
            <a:avLst/>
          </a:prstGeom>
          <a:noFill/>
          <a:ln/>
        </p:spPr>
        <p:txBody>
          <a:bodyPr wrap="square" lIns="0" tIns="0" rIns="0" bIns="0" rtlCol="0" anchor="t"/>
          <a:lstStyle/>
          <a:p>
            <a:pPr marL="0" indent="0">
              <a:buNone/>
            </a:pPr>
            <a:r>
              <a:rPr lang="en-US" sz="1800" b="1" dirty="0">
                <a:solidFill>
                  <a:srgbClr val="E8EDF6"/>
                </a:solidFill>
                <a:latin typeface="Calibri" pitchFamily="34" charset="0"/>
                <a:ea typeface="Calibri" pitchFamily="34" charset="-122"/>
                <a:cs typeface="Calibri" pitchFamily="34" charset="-120"/>
              </a:rPr>
              <a:t>Factual match</a:t>
            </a:r>
            <a:endParaRPr lang="en-US" sz="1800" dirty="0"/>
          </a:p>
        </p:txBody>
      </p:sp>
      <p:sp>
        <p:nvSpPr>
          <p:cNvPr id="24" name="Text 21"/>
          <p:cNvSpPr txBox="1"/>
          <p:nvPr/>
        </p:nvSpPr>
        <p:spPr>
          <a:xfrm>
            <a:off x="5303520" y="2496312"/>
            <a:ext cx="2331720" cy="27432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Transcript vs CRM fields vs plan</a:t>
            </a:r>
            <a:endParaRPr lang="en-US" sz="1150" dirty="0"/>
          </a:p>
        </p:txBody>
      </p:sp>
      <p:sp>
        <p:nvSpPr>
          <p:cNvPr id="25" name="Text 22"/>
          <p:cNvSpPr txBox="1"/>
          <p:nvPr/>
        </p:nvSpPr>
        <p:spPr>
          <a:xfrm>
            <a:off x="4572000" y="2971800"/>
            <a:ext cx="2971800" cy="1143000"/>
          </a:xfrm>
          <a:prstGeom prst="rect">
            <a:avLst/>
          </a:prstGeom>
          <a:noFill/>
          <a:ln/>
        </p:spPr>
        <p:txBody>
          <a:bodyPr wrap="square" lIns="0" tIns="0" rIns="0" bIns="0" rtlCol="0" anchor="t"/>
          <a:lstStyle/>
          <a:p>
            <a:pPr marL="0" indent="0">
              <a:buNone/>
            </a:pPr>
            <a:r>
              <a:rPr lang="en-US" sz="1250" dirty="0">
                <a:solidFill>
                  <a:srgbClr val="A3AEC3"/>
                </a:solidFill>
                <a:latin typeface="Calibri" pitchFamily="34" charset="0"/>
                <a:ea typeface="Calibri" pitchFamily="34" charset="-122"/>
                <a:cs typeface="Calibri" pitchFamily="34" charset="-120"/>
              </a:rPr>
              <a:t>The extractor reports what was SAID (quote + time). Deterministic code compares it to the CRM or plan value.</a:t>
            </a:r>
            <a:endParaRPr lang="en-US" sz="1250" dirty="0"/>
          </a:p>
        </p:txBody>
      </p:sp>
      <p:sp>
        <p:nvSpPr>
          <p:cNvPr id="26" name="Text 23"/>
          <p:cNvSpPr txBox="1"/>
          <p:nvPr/>
        </p:nvSpPr>
        <p:spPr>
          <a:xfrm>
            <a:off x="4572000" y="4206240"/>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LLM</a:t>
            </a:r>
            <a:endParaRPr lang="en-US" sz="950" dirty="0"/>
          </a:p>
        </p:txBody>
      </p:sp>
      <p:sp>
        <p:nvSpPr>
          <p:cNvPr id="27" name="Text 24"/>
          <p:cNvSpPr txBox="1"/>
          <p:nvPr/>
        </p:nvSpPr>
        <p:spPr>
          <a:xfrm>
            <a:off x="5486400" y="4187952"/>
            <a:ext cx="210312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Extraction only. Comparison is code.</a:t>
            </a:r>
            <a:endParaRPr lang="en-US" sz="1150" dirty="0"/>
          </a:p>
        </p:txBody>
      </p:sp>
      <p:sp>
        <p:nvSpPr>
          <p:cNvPr id="28" name="Text 25"/>
          <p:cNvSpPr txBox="1"/>
          <p:nvPr/>
        </p:nvSpPr>
        <p:spPr>
          <a:xfrm>
            <a:off x="4572000" y="4773168"/>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BLOCKS SALE</a:t>
            </a:r>
            <a:endParaRPr lang="en-US" sz="950" dirty="0"/>
          </a:p>
        </p:txBody>
      </p:sp>
      <p:sp>
        <p:nvSpPr>
          <p:cNvPr id="29" name="Text 26"/>
          <p:cNvSpPr txBox="1"/>
          <p:nvPr/>
        </p:nvSpPr>
        <p:spPr>
          <a:xfrm>
            <a:off x="5486400" y="4754880"/>
            <a:ext cx="2103120" cy="548640"/>
          </a:xfrm>
          <a:prstGeom prst="rect">
            <a:avLst/>
          </a:prstGeom>
          <a:noFill/>
          <a:ln/>
        </p:spPr>
        <p:txBody>
          <a:bodyPr wrap="square" lIns="0" tIns="0" rIns="0" bIns="0" rtlCol="0" anchor="t"/>
          <a:lstStyle/>
          <a:p>
            <a:pPr marL="0" indent="0">
              <a:buNone/>
            </a:pPr>
            <a:r>
              <a:rPr lang="en-US" sz="1150" b="1" dirty="0">
                <a:solidFill>
                  <a:srgbClr val="FBBF24"/>
                </a:solidFill>
                <a:latin typeface="Calibri" pitchFamily="34" charset="0"/>
                <a:ea typeface="Calibri" pitchFamily="34" charset="-122"/>
                <a:cs typeface="Calibri" pitchFamily="34" charset="-120"/>
              </a:rPr>
              <a:t>Yes</a:t>
            </a:r>
            <a:endParaRPr lang="en-US" sz="1150" dirty="0"/>
          </a:p>
        </p:txBody>
      </p:sp>
      <p:sp>
        <p:nvSpPr>
          <p:cNvPr id="30" name="Text 27"/>
          <p:cNvSpPr txBox="1"/>
          <p:nvPr/>
        </p:nvSpPr>
        <p:spPr>
          <a:xfrm>
            <a:off x="4572000" y="5340096"/>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EXAMPLES</a:t>
            </a:r>
            <a:endParaRPr lang="en-US" sz="950" dirty="0"/>
          </a:p>
        </p:txBody>
      </p:sp>
      <p:sp>
        <p:nvSpPr>
          <p:cNvPr id="31" name="Text 28"/>
          <p:cNvSpPr txBox="1"/>
          <p:nvPr/>
        </p:nvSpPr>
        <p:spPr>
          <a:xfrm>
            <a:off x="5486400" y="5321808"/>
            <a:ext cx="210312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Rate quoted, email, NMI, fuel type, promo &amp; ongoing price, speed, TMC, fees, contract term</a:t>
            </a:r>
            <a:endParaRPr lang="en-US" sz="1150" dirty="0"/>
          </a:p>
        </p:txBody>
      </p:sp>
      <p:sp>
        <p:nvSpPr>
          <p:cNvPr id="32" name="Shape 29"/>
          <p:cNvSpPr/>
          <p:nvPr/>
        </p:nvSpPr>
        <p:spPr>
          <a:xfrm>
            <a:off x="8046720" y="1874520"/>
            <a:ext cx="3520440" cy="4251960"/>
          </a:xfrm>
          <a:prstGeom prst="roundRect">
            <a:avLst>
              <a:gd name="adj" fmla="val 2597"/>
            </a:avLst>
          </a:prstGeom>
          <a:solidFill>
            <a:srgbClr val="141B28"/>
          </a:solidFill>
          <a:ln w="9525">
            <a:solidFill>
              <a:srgbClr val="263248"/>
            </a:solidFill>
            <a:prstDash val="solid"/>
          </a:ln>
        </p:spPr>
        <p:txBody>
          <a:bodyPr/>
          <a:lstStyle/>
          <a:p>
            <a:endParaRPr lang="en-IN"/>
          </a:p>
        </p:txBody>
      </p:sp>
      <p:sp>
        <p:nvSpPr>
          <p:cNvPr id="33" name="Shape 30"/>
          <p:cNvSpPr/>
          <p:nvPr/>
        </p:nvSpPr>
        <p:spPr>
          <a:xfrm>
            <a:off x="8321040" y="2148840"/>
            <a:ext cx="566928" cy="566928"/>
          </a:xfrm>
          <a:prstGeom prst="ellipse">
            <a:avLst/>
          </a:prstGeom>
          <a:solidFill>
            <a:srgbClr val="5EEAD4">
              <a:alpha val="20000"/>
            </a:srgbClr>
          </a:solidFill>
          <a:ln w="15875">
            <a:solidFill>
              <a:srgbClr val="5EEAD4"/>
            </a:solidFill>
            <a:prstDash val="solid"/>
          </a:ln>
        </p:spPr>
        <p:txBody>
          <a:bodyPr/>
          <a:lstStyle/>
          <a:p>
            <a:endParaRPr lang="en-IN"/>
          </a:p>
        </p:txBody>
      </p:sp>
      <p:sp>
        <p:nvSpPr>
          <p:cNvPr id="34" name="Text 31"/>
          <p:cNvSpPr txBox="1"/>
          <p:nvPr/>
        </p:nvSpPr>
        <p:spPr>
          <a:xfrm>
            <a:off x="8321040" y="2148840"/>
            <a:ext cx="566928" cy="566928"/>
          </a:xfrm>
          <a:prstGeom prst="rect">
            <a:avLst/>
          </a:prstGeom>
          <a:noFill/>
          <a:ln/>
        </p:spPr>
        <p:txBody>
          <a:bodyPr wrap="square" lIns="0" tIns="0" rIns="0" bIns="0" rtlCol="0" anchor="ctr"/>
          <a:lstStyle/>
          <a:p>
            <a:pPr marL="0" indent="0" algn="ctr">
              <a:buNone/>
            </a:pPr>
            <a:r>
              <a:rPr lang="en-US" sz="2200" b="1" dirty="0">
                <a:solidFill>
                  <a:srgbClr val="5EEAD4"/>
                </a:solidFill>
                <a:latin typeface="Calibri" pitchFamily="34" charset="0"/>
                <a:ea typeface="Calibri" pitchFamily="34" charset="-122"/>
                <a:cs typeface="Calibri" pitchFamily="34" charset="-120"/>
              </a:rPr>
              <a:t>C</a:t>
            </a:r>
            <a:endParaRPr lang="en-US" sz="2200" dirty="0"/>
          </a:p>
        </p:txBody>
      </p:sp>
      <p:sp>
        <p:nvSpPr>
          <p:cNvPr id="35" name="Text 32"/>
          <p:cNvSpPr txBox="1"/>
          <p:nvPr/>
        </p:nvSpPr>
        <p:spPr>
          <a:xfrm>
            <a:off x="9052560" y="2167128"/>
            <a:ext cx="2331720" cy="320040"/>
          </a:xfrm>
          <a:prstGeom prst="rect">
            <a:avLst/>
          </a:prstGeom>
          <a:noFill/>
          <a:ln/>
        </p:spPr>
        <p:txBody>
          <a:bodyPr wrap="square" lIns="0" tIns="0" rIns="0" bIns="0" rtlCol="0" anchor="t"/>
          <a:lstStyle/>
          <a:p>
            <a:pPr marL="0" indent="0">
              <a:buNone/>
            </a:pPr>
            <a:r>
              <a:rPr lang="en-US" sz="1800" b="1" dirty="0">
                <a:solidFill>
                  <a:srgbClr val="E8EDF6"/>
                </a:solidFill>
                <a:latin typeface="Calibri" pitchFamily="34" charset="0"/>
                <a:ea typeface="Calibri" pitchFamily="34" charset="-122"/>
                <a:cs typeface="Calibri" pitchFamily="34" charset="-120"/>
              </a:rPr>
              <a:t>Behaviour</a:t>
            </a:r>
            <a:endParaRPr lang="en-US" sz="1800" dirty="0"/>
          </a:p>
        </p:txBody>
      </p:sp>
      <p:sp>
        <p:nvSpPr>
          <p:cNvPr id="36" name="Text 33"/>
          <p:cNvSpPr txBox="1"/>
          <p:nvPr/>
        </p:nvSpPr>
        <p:spPr>
          <a:xfrm>
            <a:off x="9052560" y="2496312"/>
            <a:ext cx="2331720" cy="27432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Transcript only</a:t>
            </a:r>
            <a:endParaRPr lang="en-US" sz="1150" dirty="0"/>
          </a:p>
        </p:txBody>
      </p:sp>
      <p:sp>
        <p:nvSpPr>
          <p:cNvPr id="37" name="Text 34"/>
          <p:cNvSpPr txBox="1"/>
          <p:nvPr/>
        </p:nvSpPr>
        <p:spPr>
          <a:xfrm>
            <a:off x="8321040" y="2971800"/>
            <a:ext cx="2971800" cy="1143000"/>
          </a:xfrm>
          <a:prstGeom prst="rect">
            <a:avLst/>
          </a:prstGeom>
          <a:noFill/>
          <a:ln/>
        </p:spPr>
        <p:txBody>
          <a:bodyPr wrap="square" lIns="0" tIns="0" rIns="0" bIns="0" rtlCol="0" anchor="t"/>
          <a:lstStyle/>
          <a:p>
            <a:pPr marL="0" indent="0">
              <a:buNone/>
            </a:pPr>
            <a:r>
              <a:rPr lang="en-US" sz="1250" dirty="0">
                <a:solidFill>
                  <a:srgbClr val="A3AEC3"/>
                </a:solidFill>
                <a:latin typeface="Calibri" pitchFamily="34" charset="0"/>
                <a:ea typeface="Calibri" pitchFamily="34" charset="-122"/>
                <a:cs typeface="Calibri" pitchFamily="34" charset="-120"/>
              </a:rPr>
              <a:t>Arithmetic over turn timings and wording: longest silence, talk-over, cut-off turns, customer confusion.</a:t>
            </a:r>
            <a:endParaRPr lang="en-US" sz="1250" dirty="0"/>
          </a:p>
        </p:txBody>
      </p:sp>
      <p:sp>
        <p:nvSpPr>
          <p:cNvPr id="38" name="Text 35"/>
          <p:cNvSpPr txBox="1"/>
          <p:nvPr/>
        </p:nvSpPr>
        <p:spPr>
          <a:xfrm>
            <a:off x="8321040" y="4206240"/>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LLM</a:t>
            </a:r>
            <a:endParaRPr lang="en-US" sz="950" dirty="0"/>
          </a:p>
        </p:txBody>
      </p:sp>
      <p:sp>
        <p:nvSpPr>
          <p:cNvPr id="39" name="Text 36"/>
          <p:cNvSpPr txBox="1"/>
          <p:nvPr/>
        </p:nvSpPr>
        <p:spPr>
          <a:xfrm>
            <a:off x="9235440" y="4187952"/>
            <a:ext cx="210312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No LLM.</a:t>
            </a:r>
            <a:endParaRPr lang="en-US" sz="1150" dirty="0"/>
          </a:p>
        </p:txBody>
      </p:sp>
      <p:sp>
        <p:nvSpPr>
          <p:cNvPr id="40" name="Text 37"/>
          <p:cNvSpPr txBox="1"/>
          <p:nvPr/>
        </p:nvSpPr>
        <p:spPr>
          <a:xfrm>
            <a:off x="8321040" y="4773168"/>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BLOCKS SALE</a:t>
            </a:r>
            <a:endParaRPr lang="en-US" sz="950" dirty="0"/>
          </a:p>
        </p:txBody>
      </p:sp>
      <p:sp>
        <p:nvSpPr>
          <p:cNvPr id="41" name="Text 38"/>
          <p:cNvSpPr txBox="1"/>
          <p:nvPr/>
        </p:nvSpPr>
        <p:spPr>
          <a:xfrm>
            <a:off x="9235440" y="4754880"/>
            <a:ext cx="2103120" cy="548640"/>
          </a:xfrm>
          <a:prstGeom prst="rect">
            <a:avLst/>
          </a:prstGeom>
          <a:noFill/>
          <a:ln/>
        </p:spPr>
        <p:txBody>
          <a:bodyPr wrap="square" lIns="0" tIns="0" rIns="0" bIns="0" rtlCol="0" anchor="t"/>
          <a:lstStyle/>
          <a:p>
            <a:pPr marL="0" indent="0">
              <a:buNone/>
            </a:pPr>
            <a:r>
              <a:rPr lang="en-US" sz="1150" b="1" dirty="0">
                <a:solidFill>
                  <a:srgbClr val="5EEAD4"/>
                </a:solidFill>
                <a:latin typeface="Calibri" pitchFamily="34" charset="0"/>
                <a:ea typeface="Calibri" pitchFamily="34" charset="-122"/>
                <a:cs typeface="Calibri" pitchFamily="34" charset="-120"/>
              </a:rPr>
              <a:t>Never</a:t>
            </a:r>
            <a:endParaRPr lang="en-US" sz="1150" dirty="0"/>
          </a:p>
        </p:txBody>
      </p:sp>
      <p:sp>
        <p:nvSpPr>
          <p:cNvPr id="42" name="Text 39"/>
          <p:cNvSpPr txBox="1"/>
          <p:nvPr/>
        </p:nvSpPr>
        <p:spPr>
          <a:xfrm>
            <a:off x="8321040" y="5340096"/>
            <a:ext cx="1005840" cy="228600"/>
          </a:xfrm>
          <a:prstGeom prst="rect">
            <a:avLst/>
          </a:prstGeom>
          <a:noFill/>
          <a:ln/>
        </p:spPr>
        <p:txBody>
          <a:bodyPr wrap="square" lIns="0" tIns="0" rIns="0" bIns="0" rtlCol="0" anchor="t"/>
          <a:lstStyle/>
          <a:p>
            <a:pPr marL="0" indent="0">
              <a:buNone/>
            </a:pPr>
            <a:r>
              <a:rPr lang="en-US" sz="950" b="1" kern="0" spc="100" dirty="0">
                <a:solidFill>
                  <a:srgbClr val="6F7C94"/>
                </a:solidFill>
                <a:latin typeface="Calibri" pitchFamily="34" charset="0"/>
                <a:ea typeface="Calibri" pitchFamily="34" charset="-122"/>
                <a:cs typeface="Calibri" pitchFamily="34" charset="-120"/>
              </a:rPr>
              <a:t>EXAMPLES</a:t>
            </a:r>
            <a:endParaRPr lang="en-US" sz="950" dirty="0"/>
          </a:p>
        </p:txBody>
      </p:sp>
      <p:sp>
        <p:nvSpPr>
          <p:cNvPr id="43" name="Text 40"/>
          <p:cNvSpPr txBox="1"/>
          <p:nvPr/>
        </p:nvSpPr>
        <p:spPr>
          <a:xfrm>
            <a:off x="9235440" y="5321808"/>
            <a:ext cx="210312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Dead air, interruptions, talk-over, customer confusion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7</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06 · TYPE B, BUILT TO BE TRUSTED</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The LLM never sees the answer</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It reports what was said. Code decides whether that matches.</a:t>
            </a:r>
            <a:endParaRPr lang="en-US" sz="1500" dirty="0"/>
          </a:p>
        </p:txBody>
      </p:sp>
      <p:sp>
        <p:nvSpPr>
          <p:cNvPr id="8" name="Shape 5"/>
          <p:cNvSpPr/>
          <p:nvPr/>
        </p:nvSpPr>
        <p:spPr>
          <a:xfrm>
            <a:off x="548640" y="2286000"/>
            <a:ext cx="2286000" cy="1371600"/>
          </a:xfrm>
          <a:prstGeom prst="roundRect">
            <a:avLst>
              <a:gd name="adj" fmla="val 6667"/>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731520" y="2514600"/>
            <a:ext cx="164592" cy="164592"/>
          </a:xfrm>
          <a:prstGeom prst="ellipse">
            <a:avLst/>
          </a:prstGeom>
          <a:solidFill>
            <a:srgbClr val="6AA8FF"/>
          </a:solidFill>
          <a:ln w="12700">
            <a:solidFill>
              <a:srgbClr val="6AA8FF"/>
            </a:solidFill>
            <a:prstDash val="solid"/>
          </a:ln>
        </p:spPr>
        <p:txBody>
          <a:bodyPr/>
          <a:lstStyle/>
          <a:p>
            <a:endParaRPr lang="en-IN"/>
          </a:p>
        </p:txBody>
      </p:sp>
      <p:sp>
        <p:nvSpPr>
          <p:cNvPr id="10" name="Text 7"/>
          <p:cNvSpPr txBox="1"/>
          <p:nvPr/>
        </p:nvSpPr>
        <p:spPr>
          <a:xfrm>
            <a:off x="731520" y="2788920"/>
            <a:ext cx="19202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Transcript + check</a:t>
            </a:r>
            <a:endParaRPr lang="en-US" sz="1500" dirty="0"/>
          </a:p>
        </p:txBody>
      </p:sp>
      <p:sp>
        <p:nvSpPr>
          <p:cNvPr id="11" name="Text 8"/>
          <p:cNvSpPr txBox="1"/>
          <p:nvPr/>
        </p:nvSpPr>
        <p:spPr>
          <a:xfrm>
            <a:off x="731520" y="3127248"/>
            <a:ext cx="1965960" cy="5029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The only inputs the prompt builder can see</a:t>
            </a:r>
            <a:endParaRPr lang="en-US" sz="1150" dirty="0"/>
          </a:p>
        </p:txBody>
      </p:sp>
      <p:sp>
        <p:nvSpPr>
          <p:cNvPr id="12" name="Shape 9"/>
          <p:cNvSpPr/>
          <p:nvPr/>
        </p:nvSpPr>
        <p:spPr>
          <a:xfrm>
            <a:off x="3246120" y="2286000"/>
            <a:ext cx="2286000" cy="1371600"/>
          </a:xfrm>
          <a:prstGeom prst="roundRect">
            <a:avLst>
              <a:gd name="adj" fmla="val 6667"/>
            </a:avLst>
          </a:prstGeom>
          <a:solidFill>
            <a:srgbClr val="141B28"/>
          </a:solidFill>
          <a:ln w="9525">
            <a:solidFill>
              <a:srgbClr val="263248"/>
            </a:solidFill>
            <a:prstDash val="solid"/>
          </a:ln>
        </p:spPr>
        <p:txBody>
          <a:bodyPr/>
          <a:lstStyle/>
          <a:p>
            <a:endParaRPr lang="en-IN"/>
          </a:p>
        </p:txBody>
      </p:sp>
      <p:sp>
        <p:nvSpPr>
          <p:cNvPr id="13" name="Shape 10"/>
          <p:cNvSpPr/>
          <p:nvPr/>
        </p:nvSpPr>
        <p:spPr>
          <a:xfrm>
            <a:off x="3429000" y="2514600"/>
            <a:ext cx="164592" cy="164592"/>
          </a:xfrm>
          <a:prstGeom prst="ellipse">
            <a:avLst/>
          </a:prstGeom>
          <a:solidFill>
            <a:srgbClr val="B9A4FF"/>
          </a:solidFill>
          <a:ln w="12700">
            <a:solidFill>
              <a:srgbClr val="B9A4FF"/>
            </a:solidFill>
            <a:prstDash val="solid"/>
          </a:ln>
        </p:spPr>
        <p:txBody>
          <a:bodyPr/>
          <a:lstStyle/>
          <a:p>
            <a:endParaRPr lang="en-IN"/>
          </a:p>
        </p:txBody>
      </p:sp>
      <p:sp>
        <p:nvSpPr>
          <p:cNvPr id="14" name="Text 11"/>
          <p:cNvSpPr txBox="1"/>
          <p:nvPr/>
        </p:nvSpPr>
        <p:spPr>
          <a:xfrm>
            <a:off x="3429000" y="2788920"/>
            <a:ext cx="19202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Claude extracts</a:t>
            </a:r>
            <a:endParaRPr lang="en-US" sz="1500" dirty="0"/>
          </a:p>
        </p:txBody>
      </p:sp>
      <p:sp>
        <p:nvSpPr>
          <p:cNvPr id="15" name="Text 12"/>
          <p:cNvSpPr txBox="1"/>
          <p:nvPr/>
        </p:nvSpPr>
        <p:spPr>
          <a:xfrm>
            <a:off x="3429000" y="3127248"/>
            <a:ext cx="1965960" cy="5029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Value, verbatim quote, start time, confidence</a:t>
            </a:r>
            <a:endParaRPr lang="en-US" sz="1150" dirty="0"/>
          </a:p>
        </p:txBody>
      </p:sp>
      <p:sp>
        <p:nvSpPr>
          <p:cNvPr id="16" name="Shape 13"/>
          <p:cNvSpPr/>
          <p:nvPr/>
        </p:nvSpPr>
        <p:spPr>
          <a:xfrm>
            <a:off x="5943600" y="2286000"/>
            <a:ext cx="2286000" cy="1371600"/>
          </a:xfrm>
          <a:prstGeom prst="roundRect">
            <a:avLst>
              <a:gd name="adj" fmla="val 6667"/>
            </a:avLst>
          </a:prstGeom>
          <a:solidFill>
            <a:srgbClr val="141B28"/>
          </a:solidFill>
          <a:ln w="9525">
            <a:solidFill>
              <a:srgbClr val="263248"/>
            </a:solidFill>
            <a:prstDash val="solid"/>
          </a:ln>
        </p:spPr>
        <p:txBody>
          <a:bodyPr/>
          <a:lstStyle/>
          <a:p>
            <a:endParaRPr lang="en-IN"/>
          </a:p>
        </p:txBody>
      </p:sp>
      <p:sp>
        <p:nvSpPr>
          <p:cNvPr id="17" name="Shape 14"/>
          <p:cNvSpPr/>
          <p:nvPr/>
        </p:nvSpPr>
        <p:spPr>
          <a:xfrm>
            <a:off x="6126480" y="2514600"/>
            <a:ext cx="164592" cy="164592"/>
          </a:xfrm>
          <a:prstGeom prst="ellipse">
            <a:avLst/>
          </a:prstGeom>
          <a:solidFill>
            <a:srgbClr val="FBBF24"/>
          </a:solidFill>
          <a:ln w="12700">
            <a:solidFill>
              <a:srgbClr val="FBBF24"/>
            </a:solidFill>
            <a:prstDash val="solid"/>
          </a:ln>
        </p:spPr>
        <p:txBody>
          <a:bodyPr/>
          <a:lstStyle/>
          <a:p>
            <a:endParaRPr lang="en-IN"/>
          </a:p>
        </p:txBody>
      </p:sp>
      <p:sp>
        <p:nvSpPr>
          <p:cNvPr id="18" name="Text 15"/>
          <p:cNvSpPr txBox="1"/>
          <p:nvPr/>
        </p:nvSpPr>
        <p:spPr>
          <a:xfrm>
            <a:off x="6126480" y="2788920"/>
            <a:ext cx="19202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Comparator (code)</a:t>
            </a:r>
            <a:endParaRPr lang="en-US" sz="1500" dirty="0"/>
          </a:p>
        </p:txBody>
      </p:sp>
      <p:sp>
        <p:nvSpPr>
          <p:cNvPr id="19" name="Text 16"/>
          <p:cNvSpPr txBox="1"/>
          <p:nvPr/>
        </p:nvSpPr>
        <p:spPr>
          <a:xfrm>
            <a:off x="6126480" y="3127248"/>
            <a:ext cx="1965960" cy="5029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Deterministic, reproducible: rerun, same verdict</a:t>
            </a:r>
            <a:endParaRPr lang="en-US" sz="1150" dirty="0"/>
          </a:p>
        </p:txBody>
      </p:sp>
      <p:sp>
        <p:nvSpPr>
          <p:cNvPr id="20" name="Shape 17"/>
          <p:cNvSpPr/>
          <p:nvPr/>
        </p:nvSpPr>
        <p:spPr>
          <a:xfrm>
            <a:off x="8641080" y="2286000"/>
            <a:ext cx="2971800" cy="1371600"/>
          </a:xfrm>
          <a:prstGeom prst="roundRect">
            <a:avLst>
              <a:gd name="adj" fmla="val 6667"/>
            </a:avLst>
          </a:prstGeom>
          <a:solidFill>
            <a:srgbClr val="141B28"/>
          </a:solidFill>
          <a:ln w="9525">
            <a:solidFill>
              <a:srgbClr val="263248"/>
            </a:solidFill>
            <a:prstDash val="solid"/>
          </a:ln>
        </p:spPr>
        <p:txBody>
          <a:bodyPr/>
          <a:lstStyle/>
          <a:p>
            <a:endParaRPr lang="en-IN"/>
          </a:p>
        </p:txBody>
      </p:sp>
      <p:sp>
        <p:nvSpPr>
          <p:cNvPr id="21" name="Shape 18"/>
          <p:cNvSpPr/>
          <p:nvPr/>
        </p:nvSpPr>
        <p:spPr>
          <a:xfrm>
            <a:off x="8823960" y="2514600"/>
            <a:ext cx="164592" cy="164592"/>
          </a:xfrm>
          <a:prstGeom prst="ellipse">
            <a:avLst/>
          </a:prstGeom>
          <a:solidFill>
            <a:srgbClr val="34D399"/>
          </a:solidFill>
          <a:ln w="12700">
            <a:solidFill>
              <a:srgbClr val="34D399"/>
            </a:solidFill>
            <a:prstDash val="solid"/>
          </a:ln>
        </p:spPr>
        <p:txBody>
          <a:bodyPr/>
          <a:lstStyle/>
          <a:p>
            <a:endParaRPr lang="en-IN"/>
          </a:p>
        </p:txBody>
      </p:sp>
      <p:sp>
        <p:nvSpPr>
          <p:cNvPr id="22" name="Text 19"/>
          <p:cNvSpPr txBox="1"/>
          <p:nvPr/>
        </p:nvSpPr>
        <p:spPr>
          <a:xfrm>
            <a:off x="8823960" y="2788920"/>
            <a:ext cx="26060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Verdict + evidence</a:t>
            </a:r>
            <a:endParaRPr lang="en-US" sz="1500" dirty="0"/>
          </a:p>
        </p:txBody>
      </p:sp>
      <p:sp>
        <p:nvSpPr>
          <p:cNvPr id="23" name="Text 20"/>
          <p:cNvSpPr txBox="1"/>
          <p:nvPr/>
        </p:nvSpPr>
        <p:spPr>
          <a:xfrm>
            <a:off x="8823960" y="3127248"/>
            <a:ext cx="2651760" cy="5029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Pass / fail / unsure, quote, timestamp, prompt hash</a:t>
            </a:r>
            <a:endParaRPr lang="en-US" sz="1150" dirty="0"/>
          </a:p>
        </p:txBody>
      </p:sp>
      <p:sp>
        <p:nvSpPr>
          <p:cNvPr id="24" name="Shape 21"/>
          <p:cNvSpPr/>
          <p:nvPr/>
        </p:nvSpPr>
        <p:spPr>
          <a:xfrm>
            <a:off x="2862072" y="2971800"/>
            <a:ext cx="356616" cy="0"/>
          </a:xfrm>
          <a:prstGeom prst="line">
            <a:avLst/>
          </a:prstGeom>
          <a:noFill/>
          <a:ln w="19050">
            <a:solidFill>
              <a:srgbClr val="A3AEC3"/>
            </a:solidFill>
            <a:prstDash val="solid"/>
            <a:tailEnd type="triangle"/>
          </a:ln>
        </p:spPr>
        <p:txBody>
          <a:bodyPr/>
          <a:lstStyle/>
          <a:p>
            <a:endParaRPr lang="en-IN"/>
          </a:p>
        </p:txBody>
      </p:sp>
      <p:sp>
        <p:nvSpPr>
          <p:cNvPr id="25" name="Shape 22"/>
          <p:cNvSpPr/>
          <p:nvPr/>
        </p:nvSpPr>
        <p:spPr>
          <a:xfrm>
            <a:off x="5559552" y="2971800"/>
            <a:ext cx="356616" cy="0"/>
          </a:xfrm>
          <a:prstGeom prst="line">
            <a:avLst/>
          </a:prstGeom>
          <a:noFill/>
          <a:ln w="19050">
            <a:solidFill>
              <a:srgbClr val="A3AEC3"/>
            </a:solidFill>
            <a:prstDash val="solid"/>
            <a:tailEnd type="triangle"/>
          </a:ln>
        </p:spPr>
        <p:txBody>
          <a:bodyPr/>
          <a:lstStyle/>
          <a:p>
            <a:endParaRPr lang="en-IN"/>
          </a:p>
        </p:txBody>
      </p:sp>
      <p:sp>
        <p:nvSpPr>
          <p:cNvPr id="26" name="Shape 23"/>
          <p:cNvSpPr/>
          <p:nvPr/>
        </p:nvSpPr>
        <p:spPr>
          <a:xfrm>
            <a:off x="8257032" y="2971800"/>
            <a:ext cx="356616" cy="0"/>
          </a:xfrm>
          <a:prstGeom prst="line">
            <a:avLst/>
          </a:prstGeom>
          <a:noFill/>
          <a:ln w="19050">
            <a:solidFill>
              <a:srgbClr val="A3AEC3"/>
            </a:solidFill>
            <a:prstDash val="solid"/>
            <a:tailEnd type="triangle"/>
          </a:ln>
        </p:spPr>
        <p:txBody>
          <a:bodyPr/>
          <a:lstStyle/>
          <a:p>
            <a:endParaRPr lang="en-IN"/>
          </a:p>
        </p:txBody>
      </p:sp>
      <p:sp>
        <p:nvSpPr>
          <p:cNvPr id="27" name="Shape 24"/>
          <p:cNvSpPr/>
          <p:nvPr/>
        </p:nvSpPr>
        <p:spPr>
          <a:xfrm>
            <a:off x="5943600" y="4160520"/>
            <a:ext cx="2286000" cy="822960"/>
          </a:xfrm>
          <a:prstGeom prst="roundRect">
            <a:avLst>
              <a:gd name="adj" fmla="val 11111"/>
            </a:avLst>
          </a:prstGeom>
          <a:solidFill>
            <a:srgbClr val="1A2332"/>
          </a:solidFill>
          <a:ln w="9525">
            <a:solidFill>
              <a:srgbClr val="263248"/>
            </a:solidFill>
            <a:prstDash val="solid"/>
          </a:ln>
        </p:spPr>
        <p:txBody>
          <a:bodyPr/>
          <a:lstStyle/>
          <a:p>
            <a:endParaRPr lang="en-IN"/>
          </a:p>
        </p:txBody>
      </p:sp>
      <p:sp>
        <p:nvSpPr>
          <p:cNvPr id="28" name="Text 25"/>
          <p:cNvSpPr txBox="1"/>
          <p:nvPr/>
        </p:nvSpPr>
        <p:spPr>
          <a:xfrm>
            <a:off x="6126480" y="4297680"/>
            <a:ext cx="201168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CRM + plan values</a:t>
            </a:r>
            <a:endParaRPr lang="en-US" sz="1350" dirty="0"/>
          </a:p>
        </p:txBody>
      </p:sp>
      <p:sp>
        <p:nvSpPr>
          <p:cNvPr id="29" name="Text 26"/>
          <p:cNvSpPr txBox="1"/>
          <p:nvPr/>
        </p:nvSpPr>
        <p:spPr>
          <a:xfrm>
            <a:off x="6126480" y="4590288"/>
            <a:ext cx="2011680" cy="274320"/>
          </a:xfrm>
          <a:prstGeom prst="rect">
            <a:avLst/>
          </a:prstGeom>
          <a:noFill/>
          <a:ln/>
        </p:spPr>
        <p:txBody>
          <a:bodyPr wrap="square" lIns="0" tIns="0" rIns="0" bIns="0" rtlCol="0" anchor="t"/>
          <a:lstStyle/>
          <a:p>
            <a:pPr marL="0" indent="0">
              <a:buNone/>
            </a:pPr>
            <a:r>
              <a:rPr lang="en-US" sz="1100" dirty="0">
                <a:solidFill>
                  <a:srgbClr val="6F7C94"/>
                </a:solidFill>
                <a:latin typeface="Calibri" pitchFamily="34" charset="0"/>
                <a:ea typeface="Calibri" pitchFamily="34" charset="-122"/>
                <a:cs typeface="Calibri" pitchFamily="34" charset="-120"/>
              </a:rPr>
              <a:t>Joined only after extraction</a:t>
            </a:r>
            <a:endParaRPr lang="en-US" sz="1100" dirty="0"/>
          </a:p>
        </p:txBody>
      </p:sp>
      <p:sp>
        <p:nvSpPr>
          <p:cNvPr id="30" name="Shape 27"/>
          <p:cNvSpPr/>
          <p:nvPr/>
        </p:nvSpPr>
        <p:spPr>
          <a:xfrm flipV="1">
            <a:off x="7086600" y="3703320"/>
            <a:ext cx="0" cy="429768"/>
          </a:xfrm>
          <a:prstGeom prst="line">
            <a:avLst/>
          </a:prstGeom>
          <a:noFill/>
          <a:ln w="19050">
            <a:solidFill>
              <a:srgbClr val="FBBF24"/>
            </a:solidFill>
            <a:prstDash val="solid"/>
            <a:tailEnd type="triangle"/>
          </a:ln>
        </p:spPr>
        <p:txBody>
          <a:bodyPr/>
          <a:lstStyle/>
          <a:p>
            <a:endParaRPr lang="en-IN"/>
          </a:p>
        </p:txBody>
      </p:sp>
      <p:sp>
        <p:nvSpPr>
          <p:cNvPr id="31" name="Shape 28"/>
          <p:cNvSpPr/>
          <p:nvPr/>
        </p:nvSpPr>
        <p:spPr>
          <a:xfrm flipH="1" flipV="1">
            <a:off x="4572000" y="3703320"/>
            <a:ext cx="1344168" cy="868680"/>
          </a:xfrm>
          <a:prstGeom prst="line">
            <a:avLst/>
          </a:prstGeom>
          <a:noFill/>
          <a:ln w="19050">
            <a:solidFill>
              <a:srgbClr val="F87171"/>
            </a:solidFill>
            <a:prstDash val="dash"/>
            <a:tailEnd type="triangle"/>
          </a:ln>
        </p:spPr>
        <p:txBody>
          <a:bodyPr/>
          <a:lstStyle/>
          <a:p>
            <a:endParaRPr lang="en-IN"/>
          </a:p>
        </p:txBody>
      </p:sp>
      <p:sp>
        <p:nvSpPr>
          <p:cNvPr id="32" name="Text 29"/>
          <p:cNvSpPr txBox="1"/>
          <p:nvPr/>
        </p:nvSpPr>
        <p:spPr>
          <a:xfrm>
            <a:off x="4572000" y="4160520"/>
            <a:ext cx="1188720" cy="27432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 never</a:t>
            </a:r>
            <a:endParaRPr lang="en-US" sz="1200" dirty="0"/>
          </a:p>
        </p:txBody>
      </p:sp>
      <p:sp>
        <p:nvSpPr>
          <p:cNvPr id="33" name="Text 30"/>
          <p:cNvSpPr txBox="1"/>
          <p:nvPr/>
        </p:nvSpPr>
        <p:spPr>
          <a:xfrm>
            <a:off x="548640" y="5257800"/>
            <a:ext cx="2651760" cy="27432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Structural</a:t>
            </a:r>
            <a:endParaRPr lang="en-US" sz="1300" dirty="0"/>
          </a:p>
        </p:txBody>
      </p:sp>
      <p:sp>
        <p:nvSpPr>
          <p:cNvPr id="34" name="Text 31"/>
          <p:cNvSpPr txBox="1"/>
          <p:nvPr/>
        </p:nvSpPr>
        <p:spPr>
          <a:xfrm>
            <a:off x="548640" y="5550408"/>
            <a:ext cx="2651760" cy="64008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build_prompt() takes the check and the transcript. CRM and plan data are not in scope.</a:t>
            </a:r>
            <a:endParaRPr lang="en-US" sz="1100" dirty="0"/>
          </a:p>
        </p:txBody>
      </p:sp>
      <p:sp>
        <p:nvSpPr>
          <p:cNvPr id="35" name="Text 32"/>
          <p:cNvSpPr txBox="1"/>
          <p:nvPr/>
        </p:nvSpPr>
        <p:spPr>
          <a:xfrm>
            <a:off x="3355848" y="5257800"/>
            <a:ext cx="2651760" cy="27432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Runtime leak guard</a:t>
            </a:r>
            <a:endParaRPr lang="en-US" sz="1300" dirty="0"/>
          </a:p>
        </p:txBody>
      </p:sp>
      <p:sp>
        <p:nvSpPr>
          <p:cNvPr id="36" name="Text 33"/>
          <p:cNvSpPr txBox="1"/>
          <p:nvPr/>
        </p:nvSpPr>
        <p:spPr>
          <a:xfrm>
            <a:off x="3355848" y="5550408"/>
            <a:ext cx="2651760" cy="64008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A prompt containing a reference value not spoken on the call is refused before sending.</a:t>
            </a:r>
            <a:endParaRPr lang="en-US" sz="1100" dirty="0"/>
          </a:p>
        </p:txBody>
      </p:sp>
      <p:sp>
        <p:nvSpPr>
          <p:cNvPr id="37" name="Text 34"/>
          <p:cNvSpPr txBox="1"/>
          <p:nvPr/>
        </p:nvSpPr>
        <p:spPr>
          <a:xfrm>
            <a:off x="6163056" y="5257800"/>
            <a:ext cx="2651760" cy="27432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Grounded quotes (G3)</a:t>
            </a:r>
            <a:endParaRPr lang="en-US" sz="1300" dirty="0"/>
          </a:p>
        </p:txBody>
      </p:sp>
      <p:sp>
        <p:nvSpPr>
          <p:cNvPr id="38" name="Text 35"/>
          <p:cNvSpPr txBox="1"/>
          <p:nvPr/>
        </p:nvSpPr>
        <p:spPr>
          <a:xfrm>
            <a:off x="6163056" y="5550408"/>
            <a:ext cx="2651760" cy="64008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A quote that isn't in the transcript is discarded. Invented evidence can't reach a verdict.</a:t>
            </a:r>
            <a:endParaRPr lang="en-US" sz="1100" dirty="0"/>
          </a:p>
        </p:txBody>
      </p:sp>
      <p:sp>
        <p:nvSpPr>
          <p:cNvPr id="39" name="Text 36"/>
          <p:cNvSpPr txBox="1"/>
          <p:nvPr/>
        </p:nvSpPr>
        <p:spPr>
          <a:xfrm>
            <a:off x="8970264" y="5257800"/>
            <a:ext cx="2651760" cy="27432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Audited</a:t>
            </a:r>
            <a:endParaRPr lang="en-US" sz="1300" dirty="0"/>
          </a:p>
        </p:txBody>
      </p:sp>
      <p:sp>
        <p:nvSpPr>
          <p:cNvPr id="40" name="Text 37"/>
          <p:cNvSpPr txBox="1"/>
          <p:nvPr/>
        </p:nvSpPr>
        <p:spPr>
          <a:xfrm>
            <a:off x="8970264" y="5550408"/>
            <a:ext cx="2651760" cy="64008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Model, effort, prompt SHA-256 and extractor are stamped on every result.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8</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07 · GATE &amp; ESCALATION</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When a sale actually goes through</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Rules evaluated in order; the first match wins.</a:t>
            </a:r>
            <a:endParaRPr lang="en-US" sz="1500" dirty="0"/>
          </a:p>
        </p:txBody>
      </p:sp>
      <p:sp>
        <p:nvSpPr>
          <p:cNvPr id="8" name="Shape 5"/>
          <p:cNvSpPr/>
          <p:nvPr/>
        </p:nvSpPr>
        <p:spPr>
          <a:xfrm>
            <a:off x="548640" y="1920240"/>
            <a:ext cx="7086600" cy="566928"/>
          </a:xfrm>
          <a:prstGeom prst="roundRect">
            <a:avLst>
              <a:gd name="adj" fmla="val 16129"/>
            </a:avLst>
          </a:prstGeom>
          <a:solidFill>
            <a:srgbClr val="141B28"/>
          </a:solidFill>
          <a:ln w="9525">
            <a:solidFill>
              <a:srgbClr val="263248"/>
            </a:solidFill>
            <a:prstDash val="solid"/>
          </a:ln>
        </p:spPr>
        <p:txBody>
          <a:bodyPr/>
          <a:lstStyle/>
          <a:p>
            <a:endParaRPr lang="en-IN"/>
          </a:p>
        </p:txBody>
      </p:sp>
      <p:sp>
        <p:nvSpPr>
          <p:cNvPr id="9" name="Text 6"/>
          <p:cNvSpPr txBox="1"/>
          <p:nvPr/>
        </p:nvSpPr>
        <p:spPr>
          <a:xfrm>
            <a:off x="822960" y="2075688"/>
            <a:ext cx="2926080" cy="274320"/>
          </a:xfrm>
          <a:prstGeom prst="rect">
            <a:avLst/>
          </a:prstGeom>
          <a:noFill/>
          <a:ln/>
        </p:spPr>
        <p:txBody>
          <a:bodyPr wrap="square" lIns="0" tIns="0" rIns="0" bIns="0" rtlCol="0" anchor="t"/>
          <a:lstStyle/>
          <a:p>
            <a:pPr marL="0" indent="0">
              <a:buNone/>
            </a:pPr>
            <a:r>
              <a:rPr lang="en-US" sz="1350" dirty="0">
                <a:solidFill>
                  <a:srgbClr val="E8EDF6"/>
                </a:solidFill>
                <a:latin typeface="Calibri" pitchFamily="34" charset="0"/>
                <a:ea typeface="Calibri" pitchFamily="34" charset="-122"/>
                <a:cs typeface="Calibri" pitchFamily="34" charset="-120"/>
              </a:rPr>
              <a:t>Any critical check failed</a:t>
            </a:r>
            <a:endParaRPr lang="en-US" sz="1350" dirty="0"/>
          </a:p>
        </p:txBody>
      </p:sp>
      <p:sp>
        <p:nvSpPr>
          <p:cNvPr id="10" name="Shape 7"/>
          <p:cNvSpPr/>
          <p:nvPr/>
        </p:nvSpPr>
        <p:spPr>
          <a:xfrm>
            <a:off x="3703320" y="2203704"/>
            <a:ext cx="365760" cy="0"/>
          </a:xfrm>
          <a:prstGeom prst="line">
            <a:avLst/>
          </a:prstGeom>
          <a:noFill/>
          <a:ln w="19050">
            <a:solidFill>
              <a:srgbClr val="6F7C94"/>
            </a:solidFill>
            <a:prstDash val="solid"/>
            <a:tailEnd type="triangle"/>
          </a:ln>
        </p:spPr>
        <p:txBody>
          <a:bodyPr/>
          <a:lstStyle/>
          <a:p>
            <a:endParaRPr lang="en-IN"/>
          </a:p>
        </p:txBody>
      </p:sp>
      <p:sp>
        <p:nvSpPr>
          <p:cNvPr id="11" name="Shape 8"/>
          <p:cNvSpPr/>
          <p:nvPr/>
        </p:nvSpPr>
        <p:spPr>
          <a:xfrm>
            <a:off x="4160520" y="2066544"/>
            <a:ext cx="1325880" cy="274320"/>
          </a:xfrm>
          <a:prstGeom prst="roundRect">
            <a:avLst>
              <a:gd name="adj" fmla="val 50000"/>
            </a:avLst>
          </a:prstGeom>
          <a:solidFill>
            <a:srgbClr val="F87171">
              <a:alpha val="18000"/>
            </a:srgbClr>
          </a:solidFill>
          <a:ln w="9525">
            <a:solidFill>
              <a:srgbClr val="F87171"/>
            </a:solidFill>
            <a:prstDash val="solid"/>
          </a:ln>
        </p:spPr>
        <p:txBody>
          <a:bodyPr/>
          <a:lstStyle/>
          <a:p>
            <a:endParaRPr lang="en-IN"/>
          </a:p>
        </p:txBody>
      </p:sp>
      <p:sp>
        <p:nvSpPr>
          <p:cNvPr id="12" name="Text 9"/>
          <p:cNvSpPr txBox="1"/>
          <p:nvPr/>
        </p:nvSpPr>
        <p:spPr>
          <a:xfrm>
            <a:off x="4160520" y="2066544"/>
            <a:ext cx="1325880" cy="274320"/>
          </a:xfrm>
          <a:prstGeom prst="rect">
            <a:avLst/>
          </a:prstGeom>
          <a:noFill/>
          <a:ln/>
        </p:spPr>
        <p:txBody>
          <a:bodyPr wrap="square" lIns="0" tIns="0" rIns="0" bIns="0"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HELD</a:t>
            </a:r>
            <a:endParaRPr lang="en-US" sz="1050" dirty="0"/>
          </a:p>
        </p:txBody>
      </p:sp>
      <p:sp>
        <p:nvSpPr>
          <p:cNvPr id="13" name="Text 10"/>
          <p:cNvSpPr txBox="1"/>
          <p:nvPr/>
        </p:nvSpPr>
        <p:spPr>
          <a:xfrm>
            <a:off x="5623560" y="2011680"/>
            <a:ext cx="1920240" cy="411480"/>
          </a:xfrm>
          <a:prstGeom prst="rect">
            <a:avLst/>
          </a:prstGeom>
          <a:noFill/>
          <a:ln/>
        </p:spPr>
        <p:txBody>
          <a:bodyPr wrap="square" lIns="0" tIns="0" rIns="0" bIns="0" rtlCol="0" anchor="ctr"/>
          <a:lstStyle/>
          <a:p>
            <a:pPr marL="0" indent="0">
              <a:buNone/>
            </a:pPr>
            <a:r>
              <a:rPr lang="en-US" sz="1050" dirty="0">
                <a:solidFill>
                  <a:srgbClr val="6F7C94"/>
                </a:solidFill>
                <a:latin typeface="Calibri" pitchFamily="34" charset="0"/>
                <a:ea typeface="Calibri" pitchFamily="34" charset="-122"/>
                <a:cs typeface="Calibri" pitchFamily="34" charset="-120"/>
              </a:rPr>
              <a:t>Queued to TEAM_LEADER_REVIEW</a:t>
            </a:r>
            <a:endParaRPr lang="en-US" sz="1050" dirty="0"/>
          </a:p>
        </p:txBody>
      </p:sp>
      <p:sp>
        <p:nvSpPr>
          <p:cNvPr id="14" name="Shape 11"/>
          <p:cNvSpPr/>
          <p:nvPr/>
        </p:nvSpPr>
        <p:spPr>
          <a:xfrm>
            <a:off x="548640" y="2633472"/>
            <a:ext cx="7086600" cy="566928"/>
          </a:xfrm>
          <a:prstGeom prst="roundRect">
            <a:avLst>
              <a:gd name="adj" fmla="val 16129"/>
            </a:avLst>
          </a:prstGeom>
          <a:solidFill>
            <a:srgbClr val="141B28"/>
          </a:solidFill>
          <a:ln w="9525">
            <a:solidFill>
              <a:srgbClr val="263248"/>
            </a:solidFill>
            <a:prstDash val="solid"/>
          </a:ln>
        </p:spPr>
        <p:txBody>
          <a:bodyPr/>
          <a:lstStyle/>
          <a:p>
            <a:endParaRPr lang="en-IN"/>
          </a:p>
        </p:txBody>
      </p:sp>
      <p:sp>
        <p:nvSpPr>
          <p:cNvPr id="15" name="Text 12"/>
          <p:cNvSpPr txBox="1"/>
          <p:nvPr/>
        </p:nvSpPr>
        <p:spPr>
          <a:xfrm>
            <a:off x="822960" y="2788920"/>
            <a:ext cx="2926080" cy="274320"/>
          </a:xfrm>
          <a:prstGeom prst="rect">
            <a:avLst/>
          </a:prstGeom>
          <a:noFill/>
          <a:ln/>
        </p:spPr>
        <p:txBody>
          <a:bodyPr wrap="square" lIns="0" tIns="0" rIns="0" bIns="0" rtlCol="0" anchor="t"/>
          <a:lstStyle/>
          <a:p>
            <a:pPr marL="0" indent="0">
              <a:buNone/>
            </a:pPr>
            <a:r>
              <a:rPr lang="en-US" sz="1350" dirty="0">
                <a:solidFill>
                  <a:srgbClr val="E8EDF6"/>
                </a:solidFill>
                <a:latin typeface="Calibri" pitchFamily="34" charset="0"/>
                <a:ea typeface="Calibri" pitchFamily="34" charset="-122"/>
                <a:cs typeface="Calibri" pitchFamily="34" charset="-120"/>
              </a:rPr>
              <a:t>Any critical check unsure</a:t>
            </a:r>
            <a:endParaRPr lang="en-US" sz="1350" dirty="0"/>
          </a:p>
        </p:txBody>
      </p:sp>
      <p:sp>
        <p:nvSpPr>
          <p:cNvPr id="16" name="Shape 13"/>
          <p:cNvSpPr/>
          <p:nvPr/>
        </p:nvSpPr>
        <p:spPr>
          <a:xfrm>
            <a:off x="3703320" y="2916936"/>
            <a:ext cx="365760" cy="0"/>
          </a:xfrm>
          <a:prstGeom prst="line">
            <a:avLst/>
          </a:prstGeom>
          <a:noFill/>
          <a:ln w="19050">
            <a:solidFill>
              <a:srgbClr val="6F7C94"/>
            </a:solidFill>
            <a:prstDash val="solid"/>
            <a:tailEnd type="triangle"/>
          </a:ln>
        </p:spPr>
        <p:txBody>
          <a:bodyPr/>
          <a:lstStyle/>
          <a:p>
            <a:endParaRPr lang="en-IN"/>
          </a:p>
        </p:txBody>
      </p:sp>
      <p:sp>
        <p:nvSpPr>
          <p:cNvPr id="17" name="Shape 14"/>
          <p:cNvSpPr/>
          <p:nvPr/>
        </p:nvSpPr>
        <p:spPr>
          <a:xfrm>
            <a:off x="4160520" y="2779776"/>
            <a:ext cx="132588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18" name="Text 15"/>
          <p:cNvSpPr txBox="1"/>
          <p:nvPr/>
        </p:nvSpPr>
        <p:spPr>
          <a:xfrm>
            <a:off x="4160520" y="2779776"/>
            <a:ext cx="132588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QA</a:t>
            </a:r>
            <a:endParaRPr lang="en-US" sz="1050" dirty="0"/>
          </a:p>
        </p:txBody>
      </p:sp>
      <p:sp>
        <p:nvSpPr>
          <p:cNvPr id="19" name="Text 16"/>
          <p:cNvSpPr txBox="1"/>
          <p:nvPr/>
        </p:nvSpPr>
        <p:spPr>
          <a:xfrm>
            <a:off x="5623560" y="2724912"/>
            <a:ext cx="1920240" cy="411480"/>
          </a:xfrm>
          <a:prstGeom prst="rect">
            <a:avLst/>
          </a:prstGeom>
          <a:noFill/>
          <a:ln/>
        </p:spPr>
        <p:txBody>
          <a:bodyPr wrap="square" lIns="0" tIns="0" rIns="0" bIns="0" rtlCol="0" anchor="ctr"/>
          <a:lstStyle/>
          <a:p>
            <a:pPr marL="0" indent="0">
              <a:buNone/>
            </a:pPr>
            <a:r>
              <a:rPr lang="en-US" sz="1050" dirty="0">
                <a:solidFill>
                  <a:srgbClr val="6F7C94"/>
                </a:solidFill>
                <a:latin typeface="Calibri" pitchFamily="34" charset="0"/>
                <a:ea typeface="Calibri" pitchFamily="34" charset="-122"/>
                <a:cs typeface="Calibri" pitchFamily="34" charset="-120"/>
              </a:rPr>
              <a:t>Queued to QA_REVIEW — never submitted</a:t>
            </a:r>
            <a:endParaRPr lang="en-US" sz="1050" dirty="0"/>
          </a:p>
        </p:txBody>
      </p:sp>
      <p:sp>
        <p:nvSpPr>
          <p:cNvPr id="20" name="Shape 17"/>
          <p:cNvSpPr/>
          <p:nvPr/>
        </p:nvSpPr>
        <p:spPr>
          <a:xfrm>
            <a:off x="548640" y="3346704"/>
            <a:ext cx="7086600" cy="566928"/>
          </a:xfrm>
          <a:prstGeom prst="roundRect">
            <a:avLst>
              <a:gd name="adj" fmla="val 16129"/>
            </a:avLst>
          </a:prstGeom>
          <a:solidFill>
            <a:srgbClr val="141B28"/>
          </a:solidFill>
          <a:ln w="9525">
            <a:solidFill>
              <a:srgbClr val="263248"/>
            </a:solidFill>
            <a:prstDash val="solid"/>
          </a:ln>
        </p:spPr>
        <p:txBody>
          <a:bodyPr/>
          <a:lstStyle/>
          <a:p>
            <a:endParaRPr lang="en-IN"/>
          </a:p>
        </p:txBody>
      </p:sp>
      <p:sp>
        <p:nvSpPr>
          <p:cNvPr id="21" name="Text 18"/>
          <p:cNvSpPr txBox="1"/>
          <p:nvPr/>
        </p:nvSpPr>
        <p:spPr>
          <a:xfrm>
            <a:off x="822960" y="3502152"/>
            <a:ext cx="2926080" cy="274320"/>
          </a:xfrm>
          <a:prstGeom prst="rect">
            <a:avLst/>
          </a:prstGeom>
          <a:noFill/>
          <a:ln/>
        </p:spPr>
        <p:txBody>
          <a:bodyPr wrap="square" lIns="0" tIns="0" rIns="0" bIns="0" rtlCol="0" anchor="t"/>
          <a:lstStyle/>
          <a:p>
            <a:pPr marL="0" indent="0">
              <a:buNone/>
            </a:pPr>
            <a:r>
              <a:rPr lang="en-US" sz="1350" dirty="0">
                <a:solidFill>
                  <a:srgbClr val="E8EDF6"/>
                </a:solidFill>
                <a:latin typeface="Calibri" pitchFamily="34" charset="0"/>
                <a:ea typeface="Calibri" pitchFamily="34" charset="-122"/>
                <a:cs typeface="Calibri" pitchFamily="34" charset="-120"/>
              </a:rPr>
              <a:t>Any critical check below 0.60 confidence</a:t>
            </a:r>
            <a:endParaRPr lang="en-US" sz="1350" dirty="0"/>
          </a:p>
        </p:txBody>
      </p:sp>
      <p:sp>
        <p:nvSpPr>
          <p:cNvPr id="22" name="Shape 19"/>
          <p:cNvSpPr/>
          <p:nvPr/>
        </p:nvSpPr>
        <p:spPr>
          <a:xfrm>
            <a:off x="3703320" y="3630168"/>
            <a:ext cx="365760" cy="0"/>
          </a:xfrm>
          <a:prstGeom prst="line">
            <a:avLst/>
          </a:prstGeom>
          <a:noFill/>
          <a:ln w="19050">
            <a:solidFill>
              <a:srgbClr val="6F7C94"/>
            </a:solidFill>
            <a:prstDash val="solid"/>
            <a:tailEnd type="triangle"/>
          </a:ln>
        </p:spPr>
        <p:txBody>
          <a:bodyPr/>
          <a:lstStyle/>
          <a:p>
            <a:endParaRPr lang="en-IN"/>
          </a:p>
        </p:txBody>
      </p:sp>
      <p:sp>
        <p:nvSpPr>
          <p:cNvPr id="23" name="Shape 20"/>
          <p:cNvSpPr/>
          <p:nvPr/>
        </p:nvSpPr>
        <p:spPr>
          <a:xfrm>
            <a:off x="4160520" y="3493008"/>
            <a:ext cx="132588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24" name="Text 21"/>
          <p:cNvSpPr txBox="1"/>
          <p:nvPr/>
        </p:nvSpPr>
        <p:spPr>
          <a:xfrm>
            <a:off x="4160520" y="3493008"/>
            <a:ext cx="132588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QA</a:t>
            </a:r>
            <a:endParaRPr lang="en-US" sz="1050" dirty="0"/>
          </a:p>
        </p:txBody>
      </p:sp>
      <p:sp>
        <p:nvSpPr>
          <p:cNvPr id="25" name="Text 22"/>
          <p:cNvSpPr txBox="1"/>
          <p:nvPr/>
        </p:nvSpPr>
        <p:spPr>
          <a:xfrm>
            <a:off x="5623560" y="3438144"/>
            <a:ext cx="1920240" cy="411480"/>
          </a:xfrm>
          <a:prstGeom prst="rect">
            <a:avLst/>
          </a:prstGeom>
          <a:noFill/>
          <a:ln/>
        </p:spPr>
        <p:txBody>
          <a:bodyPr wrap="square" lIns="0" tIns="0" rIns="0" bIns="0" rtlCol="0" anchor="ctr"/>
          <a:lstStyle/>
          <a:p>
            <a:pPr marL="0" indent="0">
              <a:buNone/>
            </a:pPr>
            <a:r>
              <a:rPr lang="en-US" sz="1050" dirty="0">
                <a:solidFill>
                  <a:srgbClr val="6F7C94"/>
                </a:solidFill>
                <a:latin typeface="Calibri" pitchFamily="34" charset="0"/>
                <a:ea typeface="Calibri" pitchFamily="34" charset="-122"/>
                <a:cs typeface="Calibri" pitchFamily="34" charset="-120"/>
              </a:rPr>
              <a:t>Low confidence routes to a human</a:t>
            </a:r>
            <a:endParaRPr lang="en-US" sz="1050" dirty="0"/>
          </a:p>
        </p:txBody>
      </p:sp>
      <p:sp>
        <p:nvSpPr>
          <p:cNvPr id="26" name="Shape 23"/>
          <p:cNvSpPr/>
          <p:nvPr/>
        </p:nvSpPr>
        <p:spPr>
          <a:xfrm>
            <a:off x="548640" y="4059936"/>
            <a:ext cx="7086600" cy="566928"/>
          </a:xfrm>
          <a:prstGeom prst="roundRect">
            <a:avLst>
              <a:gd name="adj" fmla="val 16129"/>
            </a:avLst>
          </a:prstGeom>
          <a:solidFill>
            <a:srgbClr val="141B28"/>
          </a:solidFill>
          <a:ln w="9525">
            <a:solidFill>
              <a:srgbClr val="263248"/>
            </a:solidFill>
            <a:prstDash val="solid"/>
          </a:ln>
        </p:spPr>
        <p:txBody>
          <a:bodyPr/>
          <a:lstStyle/>
          <a:p>
            <a:endParaRPr lang="en-IN"/>
          </a:p>
        </p:txBody>
      </p:sp>
      <p:sp>
        <p:nvSpPr>
          <p:cNvPr id="27" name="Text 24"/>
          <p:cNvSpPr txBox="1"/>
          <p:nvPr/>
        </p:nvSpPr>
        <p:spPr>
          <a:xfrm>
            <a:off x="822960" y="4215384"/>
            <a:ext cx="2926080" cy="274320"/>
          </a:xfrm>
          <a:prstGeom prst="rect">
            <a:avLst/>
          </a:prstGeom>
          <a:noFill/>
          <a:ln/>
        </p:spPr>
        <p:txBody>
          <a:bodyPr wrap="square" lIns="0" tIns="0" rIns="0" bIns="0" rtlCol="0" anchor="t"/>
          <a:lstStyle/>
          <a:p>
            <a:pPr marL="0" indent="0">
              <a:buNone/>
            </a:pPr>
            <a:r>
              <a:rPr lang="en-US" sz="1350" dirty="0">
                <a:solidFill>
                  <a:srgbClr val="E8EDF6"/>
                </a:solidFill>
                <a:latin typeface="Calibri" pitchFamily="34" charset="0"/>
                <a:ea typeface="Calibri" pitchFamily="34" charset="-122"/>
                <a:cs typeface="Calibri" pitchFamily="34" charset="-120"/>
              </a:rPr>
              <a:t>Otherwise</a:t>
            </a:r>
            <a:endParaRPr lang="en-US" sz="1350" dirty="0"/>
          </a:p>
        </p:txBody>
      </p:sp>
      <p:sp>
        <p:nvSpPr>
          <p:cNvPr id="28" name="Shape 25"/>
          <p:cNvSpPr/>
          <p:nvPr/>
        </p:nvSpPr>
        <p:spPr>
          <a:xfrm>
            <a:off x="3703320" y="4343400"/>
            <a:ext cx="365760" cy="0"/>
          </a:xfrm>
          <a:prstGeom prst="line">
            <a:avLst/>
          </a:prstGeom>
          <a:noFill/>
          <a:ln w="19050">
            <a:solidFill>
              <a:srgbClr val="6F7C94"/>
            </a:solidFill>
            <a:prstDash val="solid"/>
            <a:tailEnd type="triangle"/>
          </a:ln>
        </p:spPr>
        <p:txBody>
          <a:bodyPr/>
          <a:lstStyle/>
          <a:p>
            <a:endParaRPr lang="en-IN"/>
          </a:p>
        </p:txBody>
      </p:sp>
      <p:sp>
        <p:nvSpPr>
          <p:cNvPr id="29" name="Shape 26"/>
          <p:cNvSpPr/>
          <p:nvPr/>
        </p:nvSpPr>
        <p:spPr>
          <a:xfrm>
            <a:off x="4160520" y="4206240"/>
            <a:ext cx="132588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30" name="Text 27"/>
          <p:cNvSpPr txBox="1"/>
          <p:nvPr/>
        </p:nvSpPr>
        <p:spPr>
          <a:xfrm>
            <a:off x="4160520" y="4206240"/>
            <a:ext cx="132588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SUBMITTED</a:t>
            </a:r>
            <a:endParaRPr lang="en-US" sz="1050" dirty="0"/>
          </a:p>
        </p:txBody>
      </p:sp>
      <p:sp>
        <p:nvSpPr>
          <p:cNvPr id="31" name="Text 28"/>
          <p:cNvSpPr txBox="1"/>
          <p:nvPr/>
        </p:nvSpPr>
        <p:spPr>
          <a:xfrm>
            <a:off x="5623560" y="4151376"/>
            <a:ext cx="1920240" cy="411480"/>
          </a:xfrm>
          <a:prstGeom prst="rect">
            <a:avLst/>
          </a:prstGeom>
          <a:noFill/>
          <a:ln/>
        </p:spPr>
        <p:txBody>
          <a:bodyPr wrap="square" lIns="0" tIns="0" rIns="0" bIns="0" rtlCol="0" anchor="ctr"/>
          <a:lstStyle/>
          <a:p>
            <a:pPr marL="0" indent="0">
              <a:buNone/>
            </a:pPr>
            <a:r>
              <a:rPr lang="en-US" sz="1050" dirty="0">
                <a:solidFill>
                  <a:srgbClr val="6F7C94"/>
                </a:solidFill>
                <a:latin typeface="Calibri" pitchFamily="34" charset="0"/>
                <a:ea typeface="Calibri" pitchFamily="34" charset="-122"/>
                <a:cs typeface="Calibri" pitchFamily="34" charset="-120"/>
              </a:rPr>
              <a:t>Cleared, no human touch</a:t>
            </a:r>
            <a:endParaRPr lang="en-US" sz="1050" dirty="0"/>
          </a:p>
        </p:txBody>
      </p:sp>
      <p:sp>
        <p:nvSpPr>
          <p:cNvPr id="32" name="Shape 29"/>
          <p:cNvSpPr/>
          <p:nvPr/>
        </p:nvSpPr>
        <p:spPr>
          <a:xfrm>
            <a:off x="548640" y="4773168"/>
            <a:ext cx="7086600" cy="566928"/>
          </a:xfrm>
          <a:prstGeom prst="roundRect">
            <a:avLst>
              <a:gd name="adj" fmla="val 16129"/>
            </a:avLst>
          </a:prstGeom>
          <a:solidFill>
            <a:srgbClr val="141B28"/>
          </a:solidFill>
          <a:ln w="9525">
            <a:solidFill>
              <a:srgbClr val="263248"/>
            </a:solidFill>
            <a:prstDash val="solid"/>
          </a:ln>
        </p:spPr>
        <p:txBody>
          <a:bodyPr/>
          <a:lstStyle/>
          <a:p>
            <a:endParaRPr lang="en-IN"/>
          </a:p>
        </p:txBody>
      </p:sp>
      <p:sp>
        <p:nvSpPr>
          <p:cNvPr id="33" name="Text 30"/>
          <p:cNvSpPr txBox="1"/>
          <p:nvPr/>
        </p:nvSpPr>
        <p:spPr>
          <a:xfrm>
            <a:off x="822960" y="4928616"/>
            <a:ext cx="2926080" cy="274320"/>
          </a:xfrm>
          <a:prstGeom prst="rect">
            <a:avLst/>
          </a:prstGeom>
          <a:noFill/>
          <a:ln/>
        </p:spPr>
        <p:txBody>
          <a:bodyPr wrap="square" lIns="0" tIns="0" rIns="0" bIns="0" rtlCol="0" anchor="t"/>
          <a:lstStyle/>
          <a:p>
            <a:pPr marL="0" indent="0">
              <a:buNone/>
            </a:pPr>
            <a:r>
              <a:rPr lang="en-US" sz="1350" dirty="0">
                <a:solidFill>
                  <a:srgbClr val="E8EDF6"/>
                </a:solidFill>
                <a:latin typeface="Calibri" pitchFamily="34" charset="0"/>
                <a:ea typeface="Calibri" pitchFamily="34" charset="-122"/>
                <a:cs typeface="Calibri" pitchFamily="34" charset="-120"/>
              </a:rPr>
              <a:t>5% of SUBMITTED</a:t>
            </a:r>
            <a:endParaRPr lang="en-US" sz="1350" dirty="0"/>
          </a:p>
        </p:txBody>
      </p:sp>
      <p:sp>
        <p:nvSpPr>
          <p:cNvPr id="34" name="Shape 31"/>
          <p:cNvSpPr/>
          <p:nvPr/>
        </p:nvSpPr>
        <p:spPr>
          <a:xfrm>
            <a:off x="3703320" y="5056632"/>
            <a:ext cx="365760" cy="0"/>
          </a:xfrm>
          <a:prstGeom prst="line">
            <a:avLst/>
          </a:prstGeom>
          <a:noFill/>
          <a:ln w="19050">
            <a:solidFill>
              <a:srgbClr val="6F7C94"/>
            </a:solidFill>
            <a:prstDash val="solid"/>
            <a:tailEnd type="triangle"/>
          </a:ln>
        </p:spPr>
        <p:txBody>
          <a:bodyPr/>
          <a:lstStyle/>
          <a:p>
            <a:endParaRPr lang="en-IN"/>
          </a:p>
        </p:txBody>
      </p:sp>
      <p:sp>
        <p:nvSpPr>
          <p:cNvPr id="35" name="Shape 32"/>
          <p:cNvSpPr/>
          <p:nvPr/>
        </p:nvSpPr>
        <p:spPr>
          <a:xfrm>
            <a:off x="4160520" y="4919472"/>
            <a:ext cx="1325880" cy="274320"/>
          </a:xfrm>
          <a:prstGeom prst="roundRect">
            <a:avLst>
              <a:gd name="adj" fmla="val 50000"/>
            </a:avLst>
          </a:prstGeom>
          <a:solidFill>
            <a:srgbClr val="6AA8FF">
              <a:alpha val="18000"/>
            </a:srgbClr>
          </a:solidFill>
          <a:ln w="9525">
            <a:solidFill>
              <a:srgbClr val="6AA8FF"/>
            </a:solidFill>
            <a:prstDash val="solid"/>
          </a:ln>
        </p:spPr>
        <p:txBody>
          <a:bodyPr/>
          <a:lstStyle/>
          <a:p>
            <a:endParaRPr lang="en-IN"/>
          </a:p>
        </p:txBody>
      </p:sp>
      <p:sp>
        <p:nvSpPr>
          <p:cNvPr id="36" name="Text 33"/>
          <p:cNvSpPr txBox="1"/>
          <p:nvPr/>
        </p:nvSpPr>
        <p:spPr>
          <a:xfrm>
            <a:off x="4160520" y="4919472"/>
            <a:ext cx="1325880" cy="274320"/>
          </a:xfrm>
          <a:prstGeom prst="rect">
            <a:avLst/>
          </a:prstGeom>
          <a:noFill/>
          <a:ln/>
        </p:spPr>
        <p:txBody>
          <a:bodyPr wrap="square" lIns="0" tIns="0" rIns="0" bIns="0" rtlCol="0" anchor="ctr"/>
          <a:lstStyle/>
          <a:p>
            <a:pPr marL="0" indent="0" algn="ctr">
              <a:buNone/>
            </a:pPr>
            <a:r>
              <a:rPr lang="en-US" sz="1050" b="1" dirty="0">
                <a:solidFill>
                  <a:srgbClr val="6AA8FF"/>
                </a:solidFill>
                <a:latin typeface="Calibri" pitchFamily="34" charset="0"/>
                <a:ea typeface="Calibri" pitchFamily="34" charset="-122"/>
                <a:cs typeface="Calibri" pitchFamily="34" charset="-120"/>
              </a:rPr>
              <a:t>SAMPLE AUDIT</a:t>
            </a:r>
            <a:endParaRPr lang="en-US" sz="1050" dirty="0"/>
          </a:p>
        </p:txBody>
      </p:sp>
      <p:sp>
        <p:nvSpPr>
          <p:cNvPr id="37" name="Text 34"/>
          <p:cNvSpPr txBox="1"/>
          <p:nvPr/>
        </p:nvSpPr>
        <p:spPr>
          <a:xfrm>
            <a:off x="5623560" y="4864608"/>
            <a:ext cx="1920240" cy="411480"/>
          </a:xfrm>
          <a:prstGeom prst="rect">
            <a:avLst/>
          </a:prstGeom>
          <a:noFill/>
          <a:ln/>
        </p:spPr>
        <p:txBody>
          <a:bodyPr wrap="square" lIns="0" tIns="0" rIns="0" bIns="0" rtlCol="0" anchor="ctr"/>
          <a:lstStyle/>
          <a:p>
            <a:pPr marL="0" indent="0">
              <a:buNone/>
            </a:pPr>
            <a:r>
              <a:rPr lang="en-US" sz="1050" dirty="0">
                <a:solidFill>
                  <a:srgbClr val="6F7C94"/>
                </a:solidFill>
                <a:latin typeface="Calibri" pitchFamily="34" charset="0"/>
                <a:ea typeface="Calibri" pitchFamily="34" charset="-122"/>
                <a:cs typeface="Calibri" pitchFamily="34" charset="-120"/>
              </a:rPr>
              <a:t>Stable hash of salt:lead_id — replays identically</a:t>
            </a:r>
            <a:endParaRPr lang="en-US" sz="1050" dirty="0"/>
          </a:p>
        </p:txBody>
      </p:sp>
      <p:sp>
        <p:nvSpPr>
          <p:cNvPr id="38" name="Shape 35"/>
          <p:cNvSpPr/>
          <p:nvPr/>
        </p:nvSpPr>
        <p:spPr>
          <a:xfrm>
            <a:off x="7863840" y="1920240"/>
            <a:ext cx="3776472" cy="3419856"/>
          </a:xfrm>
          <a:prstGeom prst="roundRect">
            <a:avLst>
              <a:gd name="adj" fmla="val 2674"/>
            </a:avLst>
          </a:prstGeom>
          <a:solidFill>
            <a:srgbClr val="1A2332"/>
          </a:solidFill>
          <a:ln w="9525">
            <a:solidFill>
              <a:srgbClr val="263248"/>
            </a:solidFill>
            <a:prstDash val="solid"/>
          </a:ln>
        </p:spPr>
        <p:txBody>
          <a:bodyPr/>
          <a:lstStyle/>
          <a:p>
            <a:endParaRPr lang="en-IN"/>
          </a:p>
        </p:txBody>
      </p:sp>
      <p:sp>
        <p:nvSpPr>
          <p:cNvPr id="39" name="Text 36"/>
          <p:cNvSpPr txBox="1"/>
          <p:nvPr/>
        </p:nvSpPr>
        <p:spPr>
          <a:xfrm>
            <a:off x="8092440" y="2103120"/>
            <a:ext cx="338328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Built in, not configured</a:t>
            </a:r>
            <a:endParaRPr lang="en-US" sz="1600" dirty="0"/>
          </a:p>
        </p:txBody>
      </p:sp>
      <p:sp>
        <p:nvSpPr>
          <p:cNvPr id="40" name="Text 37"/>
          <p:cNvSpPr txBox="1"/>
          <p:nvPr/>
        </p:nvSpPr>
        <p:spPr>
          <a:xfrm>
            <a:off x="8092440" y="2560320"/>
            <a:ext cx="3383280" cy="2743200"/>
          </a:xfrm>
          <a:prstGeom prst="rect">
            <a:avLst/>
          </a:prstGeom>
          <a:noFill/>
          <a:ln/>
        </p:spPr>
        <p:txBody>
          <a:bodyPr wrap="square" lIns="0" tIns="0" rIns="0" bIns="0" rtlCol="0" anchor="t"/>
          <a:lstStyle/>
          <a:p>
            <a:pPr marL="203200" indent="-203200">
              <a:spcAft>
                <a:spcPts val="800"/>
              </a:spcAft>
              <a:buSzPct val="100000"/>
              <a:buChar char="•"/>
            </a:pPr>
            <a:r>
              <a:rPr lang="en-US" sz="1250" b="1" dirty="0">
                <a:solidFill>
                  <a:srgbClr val="E8EDF6"/>
                </a:solidFill>
                <a:latin typeface="Calibri" pitchFamily="34" charset="0"/>
                <a:ea typeface="Calibri" pitchFamily="34" charset="-122"/>
                <a:cs typeface="Calibri" pitchFamily="34" charset="-120"/>
              </a:rPr>
              <a:t>Type C removed first:</a:t>
            </a:r>
            <a:r>
              <a:rPr lang="en-US" sz="1250" dirty="0">
                <a:solidFill>
                  <a:srgbClr val="A3AEC3"/>
                </a:solidFill>
                <a:latin typeface="Calibri" pitchFamily="34" charset="0"/>
                <a:ea typeface="Calibri" pitchFamily="34" charset="-122"/>
                <a:cs typeface="Calibri" pitchFamily="34" charset="-120"/>
              </a:rPr>
              <a:t> a coaching note can't change the outcome, even if someone flips it.</a:t>
            </a:r>
            <a:endParaRPr lang="en-US" sz="1250" dirty="0"/>
          </a:p>
          <a:p>
            <a:pPr marL="203200" indent="-203200">
              <a:spcAft>
                <a:spcPts val="800"/>
              </a:spcAft>
              <a:buSzPct val="100000"/>
              <a:buChar char="•"/>
            </a:pPr>
            <a:r>
              <a:rPr lang="en-US" sz="1250" b="1" dirty="0">
                <a:solidFill>
                  <a:srgbClr val="E8EDF6"/>
                </a:solidFill>
                <a:latin typeface="Calibri" pitchFamily="34" charset="0"/>
                <a:ea typeface="Calibri" pitchFamily="34" charset="-122"/>
                <a:cs typeface="Calibri" pitchFamily="34" charset="-120"/>
              </a:rPr>
              <a:t>Real queue:</a:t>
            </a:r>
            <a:r>
              <a:rPr lang="en-US" sz="1250" dirty="0">
                <a:solidFill>
                  <a:srgbClr val="A3AEC3"/>
                </a:solidFill>
                <a:latin typeface="Calibri" pitchFamily="34" charset="0"/>
                <a:ea typeface="Calibri" pitchFamily="34" charset="-122"/>
                <a:cs typeface="Calibri" pitchFamily="34" charset="-120"/>
              </a:rPr>
              <a:t> HELD and QA append a routing record to runs/queue.jsonl.</a:t>
            </a:r>
            <a:endParaRPr lang="en-US" sz="1250" dirty="0"/>
          </a:p>
          <a:p>
            <a:pPr marL="203200" indent="-203200">
              <a:spcAft>
                <a:spcPts val="800"/>
              </a:spcAft>
              <a:buSzPct val="100000"/>
              <a:buChar char="•"/>
            </a:pPr>
            <a:r>
              <a:rPr lang="en-US" sz="1250" b="1" dirty="0">
                <a:solidFill>
                  <a:srgbClr val="E8EDF6"/>
                </a:solidFill>
                <a:latin typeface="Calibri" pitchFamily="34" charset="0"/>
                <a:ea typeface="Calibri" pitchFamily="34" charset="-122"/>
                <a:cs typeface="Calibri" pitchFamily="34" charset="-120"/>
              </a:rPr>
              <a:t>Re-runs live:</a:t>
            </a:r>
            <a:r>
              <a:rPr lang="en-US" sz="1250" dirty="0">
                <a:solidFill>
                  <a:srgbClr val="A3AEC3"/>
                </a:solidFill>
                <a:latin typeface="Calibri" pitchFamily="34" charset="0"/>
                <a:ea typeface="Calibri" pitchFamily="34" charset="-122"/>
                <a:cs typeface="Calibri" pitchFamily="34" charset="-120"/>
              </a:rPr>
              <a:t> every override re-evaluates the gate and logs before → after.</a:t>
            </a:r>
            <a:endParaRPr lang="en-US" sz="1250" dirty="0"/>
          </a:p>
          <a:p>
            <a:pPr marL="203200" indent="-203200">
              <a:spcAft>
                <a:spcPts val="800"/>
              </a:spcAft>
              <a:buSzPct val="100000"/>
              <a:buChar char="•"/>
            </a:pPr>
            <a:r>
              <a:rPr lang="en-US" sz="1250" b="1" dirty="0">
                <a:solidFill>
                  <a:srgbClr val="E8EDF6"/>
                </a:solidFill>
                <a:latin typeface="Calibri" pitchFamily="34" charset="0"/>
                <a:ea typeface="Calibri" pitchFamily="34" charset="-122"/>
                <a:cs typeface="Calibri" pitchFamily="34" charset="-120"/>
              </a:rPr>
              <a:t>Floor is a setting:</a:t>
            </a:r>
            <a:r>
              <a:rPr lang="en-US" sz="1250" dirty="0">
                <a:solidFill>
                  <a:srgbClr val="A3AEC3"/>
                </a:solidFill>
                <a:latin typeface="Calibri" pitchFamily="34" charset="0"/>
                <a:ea typeface="Calibri" pitchFamily="34" charset="-122"/>
                <a:cs typeface="Calibri" pitchFamily="34" charset="-120"/>
              </a:rPr>
              <a:t> CIMET_CONFIDENCE_FLOOR, 0.60 by default.</a:t>
            </a:r>
            <a:endParaRPr lang="en-US" sz="1250" dirty="0"/>
          </a:p>
        </p:txBody>
      </p:sp>
      <p:sp>
        <p:nvSpPr>
          <p:cNvPr id="41" name="Text 38"/>
          <p:cNvSpPr txBox="1"/>
          <p:nvPr/>
        </p:nvSpPr>
        <p:spPr>
          <a:xfrm>
            <a:off x="548640" y="5669280"/>
            <a:ext cx="10972800" cy="365760"/>
          </a:xfrm>
          <a:prstGeom prst="rect">
            <a:avLst/>
          </a:prstGeom>
          <a:noFill/>
          <a:ln/>
        </p:spPr>
        <p:txBody>
          <a:bodyPr wrap="square" lIns="0" tIns="0" rIns="0" bIns="0" rtlCol="0" anchor="t"/>
          <a:lstStyle/>
          <a:p>
            <a:pPr marL="0" indent="0">
              <a:buNone/>
            </a:pPr>
            <a:r>
              <a:rPr lang="en-US" sz="1250" i="1" dirty="0">
                <a:solidFill>
                  <a:srgbClr val="6F7C94"/>
                </a:solidFill>
                <a:latin typeface="Calibri" pitchFamily="34" charset="0"/>
                <a:ea typeface="Calibri" pitchFamily="34" charset="-122"/>
                <a:cs typeface="Calibri" pitchFamily="34" charset="-120"/>
              </a:rPr>
              <a:t>The brief: “Any critical fail is held, low-confidence scores route to a human, nothing uncertain auto-passes.”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9</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08 · GUARDRAILS &amp; JUDGMENT</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Eight guardrails that stop false criticals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Each one is named on the result it changed — in the console and the audit file.</a:t>
            </a:r>
            <a:endParaRPr lang="en-US" sz="1500" dirty="0"/>
          </a:p>
        </p:txBody>
      </p:sp>
      <p:sp>
        <p:nvSpPr>
          <p:cNvPr id="8" name="Shape 5"/>
          <p:cNvSpPr/>
          <p:nvPr/>
        </p:nvSpPr>
        <p:spPr>
          <a:xfrm>
            <a:off x="548640" y="187452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777240" y="2103120"/>
            <a:ext cx="566928" cy="365760"/>
          </a:xfrm>
          <a:prstGeom prst="roundRect">
            <a:avLst>
              <a:gd name="adj" fmla="val 20000"/>
            </a:avLst>
          </a:prstGeom>
          <a:solidFill>
            <a:srgbClr val="FBBF24">
              <a:alpha val="18000"/>
            </a:srgbClr>
          </a:solidFill>
          <a:ln w="12700">
            <a:solidFill>
              <a:srgbClr val="FBBF24"/>
            </a:solidFill>
            <a:prstDash val="solid"/>
          </a:ln>
        </p:spPr>
        <p:txBody>
          <a:bodyPr/>
          <a:lstStyle/>
          <a:p>
            <a:endParaRPr lang="en-IN"/>
          </a:p>
        </p:txBody>
      </p:sp>
      <p:sp>
        <p:nvSpPr>
          <p:cNvPr id="10" name="Text 7"/>
          <p:cNvSpPr txBox="1"/>
          <p:nvPr/>
        </p:nvSpPr>
        <p:spPr>
          <a:xfrm>
            <a:off x="777240" y="2103120"/>
            <a:ext cx="566928" cy="365760"/>
          </a:xfrm>
          <a:prstGeom prst="rect">
            <a:avLst/>
          </a:prstGeom>
          <a:noFill/>
          <a:ln/>
        </p:spPr>
        <p:txBody>
          <a:bodyPr wrap="square" lIns="0" tIns="0" rIns="0" bIns="0" rtlCol="0" anchor="ctr"/>
          <a:lstStyle/>
          <a:p>
            <a:pPr marL="0" indent="0" algn="ctr">
              <a:buNone/>
            </a:pPr>
            <a:r>
              <a:rPr lang="en-US" sz="1400" b="1" dirty="0">
                <a:solidFill>
                  <a:srgbClr val="FBBF24"/>
                </a:solidFill>
                <a:latin typeface="Courier New" pitchFamily="34" charset="0"/>
                <a:ea typeface="Courier New" pitchFamily="34" charset="-122"/>
                <a:cs typeface="Courier New" pitchFamily="34" charset="-120"/>
              </a:rPr>
              <a:t>G1</a:t>
            </a:r>
            <a:endParaRPr lang="en-US" sz="1400" dirty="0"/>
          </a:p>
        </p:txBody>
      </p:sp>
      <p:sp>
        <p:nvSpPr>
          <p:cNvPr id="11" name="Text 8"/>
          <p:cNvSpPr txBox="1"/>
          <p:nvPr/>
        </p:nvSpPr>
        <p:spPr>
          <a:xfrm>
            <a:off x="1463040" y="212140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Audio-quality abstain</a:t>
            </a:r>
            <a:endParaRPr lang="en-US" sz="1350" dirty="0"/>
          </a:p>
        </p:txBody>
      </p:sp>
      <p:sp>
        <p:nvSpPr>
          <p:cNvPr id="12" name="Text 9"/>
          <p:cNvSpPr txBox="1"/>
          <p:nvPr/>
        </p:nvSpPr>
        <p:spPr>
          <a:xfrm>
            <a:off x="777240" y="265176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 script span that would fail, but sits in [inaudible]/[crosstalk] or ASR &lt; 0.75, becomes unsure. Unheard is not unsaid.</a:t>
            </a:r>
            <a:endParaRPr lang="en-US" sz="1150" dirty="0"/>
          </a:p>
        </p:txBody>
      </p:sp>
      <p:sp>
        <p:nvSpPr>
          <p:cNvPr id="13" name="Shape 10"/>
          <p:cNvSpPr/>
          <p:nvPr/>
        </p:nvSpPr>
        <p:spPr>
          <a:xfrm>
            <a:off x="3346704" y="187452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14" name="Shape 11"/>
          <p:cNvSpPr/>
          <p:nvPr/>
        </p:nvSpPr>
        <p:spPr>
          <a:xfrm>
            <a:off x="3575304" y="2103120"/>
            <a:ext cx="566928" cy="365760"/>
          </a:xfrm>
          <a:prstGeom prst="roundRect">
            <a:avLst>
              <a:gd name="adj" fmla="val 20000"/>
            </a:avLst>
          </a:prstGeom>
          <a:solidFill>
            <a:srgbClr val="FBBF24">
              <a:alpha val="18000"/>
            </a:srgbClr>
          </a:solidFill>
          <a:ln w="12700">
            <a:solidFill>
              <a:srgbClr val="FBBF24"/>
            </a:solidFill>
            <a:prstDash val="solid"/>
          </a:ln>
        </p:spPr>
        <p:txBody>
          <a:bodyPr/>
          <a:lstStyle/>
          <a:p>
            <a:endParaRPr lang="en-IN"/>
          </a:p>
        </p:txBody>
      </p:sp>
      <p:sp>
        <p:nvSpPr>
          <p:cNvPr id="15" name="Text 12"/>
          <p:cNvSpPr txBox="1"/>
          <p:nvPr/>
        </p:nvSpPr>
        <p:spPr>
          <a:xfrm>
            <a:off x="3575304" y="2103120"/>
            <a:ext cx="566928" cy="365760"/>
          </a:xfrm>
          <a:prstGeom prst="rect">
            <a:avLst/>
          </a:prstGeom>
          <a:noFill/>
          <a:ln/>
        </p:spPr>
        <p:txBody>
          <a:bodyPr wrap="square" lIns="0" tIns="0" rIns="0" bIns="0" rtlCol="0" anchor="ctr"/>
          <a:lstStyle/>
          <a:p>
            <a:pPr marL="0" indent="0" algn="ctr">
              <a:buNone/>
            </a:pPr>
            <a:r>
              <a:rPr lang="en-US" sz="1400" b="1" dirty="0">
                <a:solidFill>
                  <a:srgbClr val="FBBF24"/>
                </a:solidFill>
                <a:latin typeface="Courier New" pitchFamily="34" charset="0"/>
                <a:ea typeface="Courier New" pitchFamily="34" charset="-122"/>
                <a:cs typeface="Courier New" pitchFamily="34" charset="-120"/>
              </a:rPr>
              <a:t>G2</a:t>
            </a:r>
            <a:endParaRPr lang="en-US" sz="1400" dirty="0"/>
          </a:p>
        </p:txBody>
      </p:sp>
      <p:sp>
        <p:nvSpPr>
          <p:cNvPr id="16" name="Text 13"/>
          <p:cNvSpPr txBox="1"/>
          <p:nvPr/>
        </p:nvSpPr>
        <p:spPr>
          <a:xfrm>
            <a:off x="4261104" y="212140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Abstention honoured</a:t>
            </a:r>
            <a:endParaRPr lang="en-US" sz="1350" dirty="0"/>
          </a:p>
        </p:txBody>
      </p:sp>
      <p:sp>
        <p:nvSpPr>
          <p:cNvPr id="17" name="Text 14"/>
          <p:cNvSpPr txBox="1"/>
          <p:nvPr/>
        </p:nvSpPr>
        <p:spPr>
          <a:xfrm>
            <a:off x="3575304" y="265176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When the extractor can't establish a value, the check is unsure — never a fail.</a:t>
            </a:r>
            <a:endParaRPr lang="en-US" sz="1150" dirty="0"/>
          </a:p>
        </p:txBody>
      </p:sp>
      <p:sp>
        <p:nvSpPr>
          <p:cNvPr id="18" name="Shape 15"/>
          <p:cNvSpPr/>
          <p:nvPr/>
        </p:nvSpPr>
        <p:spPr>
          <a:xfrm>
            <a:off x="6144768" y="187452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19" name="Shape 16"/>
          <p:cNvSpPr/>
          <p:nvPr/>
        </p:nvSpPr>
        <p:spPr>
          <a:xfrm>
            <a:off x="6373368" y="2103120"/>
            <a:ext cx="566928" cy="365760"/>
          </a:xfrm>
          <a:prstGeom prst="roundRect">
            <a:avLst>
              <a:gd name="adj" fmla="val 20000"/>
            </a:avLst>
          </a:prstGeom>
          <a:solidFill>
            <a:srgbClr val="F87171">
              <a:alpha val="18000"/>
            </a:srgbClr>
          </a:solidFill>
          <a:ln w="12700">
            <a:solidFill>
              <a:srgbClr val="F87171"/>
            </a:solidFill>
            <a:prstDash val="solid"/>
          </a:ln>
        </p:spPr>
        <p:txBody>
          <a:bodyPr/>
          <a:lstStyle/>
          <a:p>
            <a:endParaRPr lang="en-IN"/>
          </a:p>
        </p:txBody>
      </p:sp>
      <p:sp>
        <p:nvSpPr>
          <p:cNvPr id="20" name="Text 17"/>
          <p:cNvSpPr txBox="1"/>
          <p:nvPr/>
        </p:nvSpPr>
        <p:spPr>
          <a:xfrm>
            <a:off x="6373368" y="2103120"/>
            <a:ext cx="566928" cy="365760"/>
          </a:xfrm>
          <a:prstGeom prst="rect">
            <a:avLst/>
          </a:prstGeom>
          <a:noFill/>
          <a:ln/>
        </p:spPr>
        <p:txBody>
          <a:bodyPr wrap="square" lIns="0" tIns="0" rIns="0" bIns="0" rtlCol="0" anchor="ctr"/>
          <a:lstStyle/>
          <a:p>
            <a:pPr marL="0" indent="0" algn="ctr">
              <a:buNone/>
            </a:pPr>
            <a:r>
              <a:rPr lang="en-US" sz="1400" b="1" dirty="0">
                <a:solidFill>
                  <a:srgbClr val="F87171"/>
                </a:solidFill>
                <a:latin typeface="Courier New" pitchFamily="34" charset="0"/>
                <a:ea typeface="Courier New" pitchFamily="34" charset="-122"/>
                <a:cs typeface="Courier New" pitchFamily="34" charset="-120"/>
              </a:rPr>
              <a:t>G3</a:t>
            </a:r>
            <a:endParaRPr lang="en-US" sz="1400" dirty="0"/>
          </a:p>
        </p:txBody>
      </p:sp>
      <p:sp>
        <p:nvSpPr>
          <p:cNvPr id="21" name="Text 18"/>
          <p:cNvSpPr txBox="1"/>
          <p:nvPr/>
        </p:nvSpPr>
        <p:spPr>
          <a:xfrm>
            <a:off x="7059168" y="212140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Ungrounded quote</a:t>
            </a:r>
            <a:endParaRPr lang="en-US" sz="1350" dirty="0"/>
          </a:p>
        </p:txBody>
      </p:sp>
      <p:sp>
        <p:nvSpPr>
          <p:cNvPr id="22" name="Text 19"/>
          <p:cNvSpPr txBox="1"/>
          <p:nvPr/>
        </p:nvSpPr>
        <p:spPr>
          <a:xfrm>
            <a:off x="6373368" y="265176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 quote that isn't in the transcript is discarded. Hallucinated evidence can't reach a verdict.</a:t>
            </a:r>
            <a:endParaRPr lang="en-US" sz="1150" dirty="0"/>
          </a:p>
        </p:txBody>
      </p:sp>
      <p:sp>
        <p:nvSpPr>
          <p:cNvPr id="23" name="Shape 20"/>
          <p:cNvSpPr/>
          <p:nvPr/>
        </p:nvSpPr>
        <p:spPr>
          <a:xfrm>
            <a:off x="8942832" y="187452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24" name="Shape 21"/>
          <p:cNvSpPr/>
          <p:nvPr/>
        </p:nvSpPr>
        <p:spPr>
          <a:xfrm>
            <a:off x="9171432" y="2103120"/>
            <a:ext cx="566928" cy="365760"/>
          </a:xfrm>
          <a:prstGeom prst="roundRect">
            <a:avLst>
              <a:gd name="adj" fmla="val 20000"/>
            </a:avLst>
          </a:prstGeom>
          <a:solidFill>
            <a:srgbClr val="FBBF24">
              <a:alpha val="18000"/>
            </a:srgbClr>
          </a:solidFill>
          <a:ln w="12700">
            <a:solidFill>
              <a:srgbClr val="FBBF24"/>
            </a:solidFill>
            <a:prstDash val="solid"/>
          </a:ln>
        </p:spPr>
        <p:txBody>
          <a:bodyPr/>
          <a:lstStyle/>
          <a:p>
            <a:endParaRPr lang="en-IN"/>
          </a:p>
        </p:txBody>
      </p:sp>
      <p:sp>
        <p:nvSpPr>
          <p:cNvPr id="25" name="Text 22"/>
          <p:cNvSpPr txBox="1"/>
          <p:nvPr/>
        </p:nvSpPr>
        <p:spPr>
          <a:xfrm>
            <a:off x="9171432" y="2103120"/>
            <a:ext cx="566928" cy="365760"/>
          </a:xfrm>
          <a:prstGeom prst="rect">
            <a:avLst/>
          </a:prstGeom>
          <a:noFill/>
          <a:ln/>
        </p:spPr>
        <p:txBody>
          <a:bodyPr wrap="square" lIns="0" tIns="0" rIns="0" bIns="0" rtlCol="0" anchor="ctr"/>
          <a:lstStyle/>
          <a:p>
            <a:pPr marL="0" indent="0" algn="ctr">
              <a:buNone/>
            </a:pPr>
            <a:r>
              <a:rPr lang="en-US" sz="1400" b="1" dirty="0">
                <a:solidFill>
                  <a:srgbClr val="FBBF24"/>
                </a:solidFill>
                <a:latin typeface="Courier New" pitchFamily="34" charset="0"/>
                <a:ea typeface="Courier New" pitchFamily="34" charset="-122"/>
                <a:cs typeface="Courier New" pitchFamily="34" charset="-120"/>
              </a:rPr>
              <a:t>G4</a:t>
            </a:r>
            <a:endParaRPr lang="en-US" sz="1400" dirty="0"/>
          </a:p>
        </p:txBody>
      </p:sp>
      <p:sp>
        <p:nvSpPr>
          <p:cNvPr id="26" name="Text 23"/>
          <p:cNvSpPr txBox="1"/>
          <p:nvPr/>
        </p:nvSpPr>
        <p:spPr>
          <a:xfrm>
            <a:off x="9857232" y="212140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Not comparable</a:t>
            </a:r>
            <a:endParaRPr lang="en-US" sz="1350" dirty="0"/>
          </a:p>
        </p:txBody>
      </p:sp>
      <p:sp>
        <p:nvSpPr>
          <p:cNvPr id="27" name="Text 24"/>
          <p:cNvSpPr txBox="1"/>
          <p:nvPr/>
        </p:nvSpPr>
        <p:spPr>
          <a:xfrm>
            <a:off x="9171432" y="265176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 value that won't parse, or no reference on the lead, is unsure rather than guessed.</a:t>
            </a:r>
            <a:endParaRPr lang="en-US" sz="1150" dirty="0"/>
          </a:p>
        </p:txBody>
      </p:sp>
      <p:sp>
        <p:nvSpPr>
          <p:cNvPr id="28" name="Shape 25"/>
          <p:cNvSpPr/>
          <p:nvPr/>
        </p:nvSpPr>
        <p:spPr>
          <a:xfrm>
            <a:off x="548640" y="397764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29" name="Shape 26"/>
          <p:cNvSpPr/>
          <p:nvPr/>
        </p:nvSpPr>
        <p:spPr>
          <a:xfrm>
            <a:off x="777240" y="4206240"/>
            <a:ext cx="566928" cy="365760"/>
          </a:xfrm>
          <a:prstGeom prst="roundRect">
            <a:avLst>
              <a:gd name="adj" fmla="val 20000"/>
            </a:avLst>
          </a:prstGeom>
          <a:solidFill>
            <a:srgbClr val="6AA8FF">
              <a:alpha val="18000"/>
            </a:srgbClr>
          </a:solidFill>
          <a:ln w="12700">
            <a:solidFill>
              <a:srgbClr val="6AA8FF"/>
            </a:solidFill>
            <a:prstDash val="solid"/>
          </a:ln>
        </p:spPr>
        <p:txBody>
          <a:bodyPr/>
          <a:lstStyle/>
          <a:p>
            <a:endParaRPr lang="en-IN"/>
          </a:p>
        </p:txBody>
      </p:sp>
      <p:sp>
        <p:nvSpPr>
          <p:cNvPr id="30" name="Text 27"/>
          <p:cNvSpPr txBox="1"/>
          <p:nvPr/>
        </p:nvSpPr>
        <p:spPr>
          <a:xfrm>
            <a:off x="777240" y="4206240"/>
            <a:ext cx="566928" cy="365760"/>
          </a:xfrm>
          <a:prstGeom prst="rect">
            <a:avLst/>
          </a:prstGeom>
          <a:noFill/>
          <a:ln/>
        </p:spPr>
        <p:txBody>
          <a:bodyPr wrap="square" lIns="0" tIns="0" rIns="0" bIns="0" rtlCol="0" anchor="ctr"/>
          <a:lstStyle/>
          <a:p>
            <a:pPr marL="0" indent="0" algn="ctr">
              <a:buNone/>
            </a:pPr>
            <a:r>
              <a:rPr lang="en-US" sz="1400" b="1" dirty="0">
                <a:solidFill>
                  <a:srgbClr val="6AA8FF"/>
                </a:solidFill>
                <a:latin typeface="Courier New" pitchFamily="34" charset="0"/>
                <a:ea typeface="Courier New" pitchFamily="34" charset="-122"/>
                <a:cs typeface="Courier New" pitchFamily="34" charset="-120"/>
              </a:rPr>
              <a:t>G5</a:t>
            </a:r>
            <a:endParaRPr lang="en-US" sz="1400" dirty="0"/>
          </a:p>
        </p:txBody>
      </p:sp>
      <p:sp>
        <p:nvSpPr>
          <p:cNvPr id="31" name="Text 28"/>
          <p:cNvSpPr txBox="1"/>
          <p:nvPr/>
        </p:nvSpPr>
        <p:spPr>
          <a:xfrm>
            <a:off x="1463040" y="422452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Low-confidence critical</a:t>
            </a:r>
            <a:endParaRPr lang="en-US" sz="1350" dirty="0"/>
          </a:p>
        </p:txBody>
      </p:sp>
      <p:sp>
        <p:nvSpPr>
          <p:cNvPr id="32" name="Text 29"/>
          <p:cNvSpPr txBox="1"/>
          <p:nvPr/>
        </p:nvSpPr>
        <p:spPr>
          <a:xfrm>
            <a:off x="777240" y="475488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 critical fail below the 0.60 floor becomes unsure: QA, not a hold.</a:t>
            </a:r>
            <a:endParaRPr lang="en-US" sz="1150" dirty="0"/>
          </a:p>
        </p:txBody>
      </p:sp>
      <p:sp>
        <p:nvSpPr>
          <p:cNvPr id="33" name="Shape 30"/>
          <p:cNvSpPr/>
          <p:nvPr/>
        </p:nvSpPr>
        <p:spPr>
          <a:xfrm>
            <a:off x="3346704" y="397764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34" name="Shape 31"/>
          <p:cNvSpPr/>
          <p:nvPr/>
        </p:nvSpPr>
        <p:spPr>
          <a:xfrm>
            <a:off x="3575304" y="4206240"/>
            <a:ext cx="566928" cy="365760"/>
          </a:xfrm>
          <a:prstGeom prst="roundRect">
            <a:avLst>
              <a:gd name="adj" fmla="val 20000"/>
            </a:avLst>
          </a:prstGeom>
          <a:solidFill>
            <a:srgbClr val="6AA8FF">
              <a:alpha val="18000"/>
            </a:srgbClr>
          </a:solidFill>
          <a:ln w="12700">
            <a:solidFill>
              <a:srgbClr val="6AA8FF"/>
            </a:solidFill>
            <a:prstDash val="solid"/>
          </a:ln>
        </p:spPr>
        <p:txBody>
          <a:bodyPr/>
          <a:lstStyle/>
          <a:p>
            <a:endParaRPr lang="en-IN"/>
          </a:p>
        </p:txBody>
      </p:sp>
      <p:sp>
        <p:nvSpPr>
          <p:cNvPr id="35" name="Text 32"/>
          <p:cNvSpPr txBox="1"/>
          <p:nvPr/>
        </p:nvSpPr>
        <p:spPr>
          <a:xfrm>
            <a:off x="3575304" y="4206240"/>
            <a:ext cx="566928" cy="365760"/>
          </a:xfrm>
          <a:prstGeom prst="rect">
            <a:avLst/>
          </a:prstGeom>
          <a:noFill/>
          <a:ln/>
        </p:spPr>
        <p:txBody>
          <a:bodyPr wrap="square" lIns="0" tIns="0" rIns="0" bIns="0" rtlCol="0" anchor="ctr"/>
          <a:lstStyle/>
          <a:p>
            <a:pPr marL="0" indent="0" algn="ctr">
              <a:buNone/>
            </a:pPr>
            <a:r>
              <a:rPr lang="en-US" sz="1400" b="1" dirty="0">
                <a:solidFill>
                  <a:srgbClr val="6AA8FF"/>
                </a:solidFill>
                <a:latin typeface="Courier New" pitchFamily="34" charset="0"/>
                <a:ea typeface="Courier New" pitchFamily="34" charset="-122"/>
                <a:cs typeface="Courier New" pitchFamily="34" charset="-120"/>
              </a:rPr>
              <a:t>G6</a:t>
            </a:r>
            <a:endParaRPr lang="en-US" sz="1400" dirty="0"/>
          </a:p>
        </p:txBody>
      </p:sp>
      <p:sp>
        <p:nvSpPr>
          <p:cNvPr id="36" name="Text 33"/>
          <p:cNvSpPr txBox="1"/>
          <p:nvPr/>
        </p:nvSpPr>
        <p:spPr>
          <a:xfrm>
            <a:off x="4261104" y="422452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Timestamp corrected</a:t>
            </a:r>
            <a:endParaRPr lang="en-US" sz="1350" dirty="0"/>
          </a:p>
        </p:txBody>
      </p:sp>
      <p:sp>
        <p:nvSpPr>
          <p:cNvPr id="37" name="Text 34"/>
          <p:cNvSpPr txBox="1"/>
          <p:nvPr/>
        </p:nvSpPr>
        <p:spPr>
          <a:xfrm>
            <a:off x="3575304" y="475488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If the model's time disagrees with its quote's turn, the transcript wins and it's logged.</a:t>
            </a:r>
            <a:endParaRPr lang="en-US" sz="1150" dirty="0"/>
          </a:p>
        </p:txBody>
      </p:sp>
      <p:sp>
        <p:nvSpPr>
          <p:cNvPr id="38" name="Shape 35"/>
          <p:cNvSpPr/>
          <p:nvPr/>
        </p:nvSpPr>
        <p:spPr>
          <a:xfrm>
            <a:off x="6144768" y="397764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39" name="Shape 36"/>
          <p:cNvSpPr/>
          <p:nvPr/>
        </p:nvSpPr>
        <p:spPr>
          <a:xfrm>
            <a:off x="6373368" y="4206240"/>
            <a:ext cx="566928" cy="365760"/>
          </a:xfrm>
          <a:prstGeom prst="roundRect">
            <a:avLst>
              <a:gd name="adj" fmla="val 20000"/>
            </a:avLst>
          </a:prstGeom>
          <a:solidFill>
            <a:srgbClr val="B9A4FF">
              <a:alpha val="18000"/>
            </a:srgbClr>
          </a:solidFill>
          <a:ln w="12700">
            <a:solidFill>
              <a:srgbClr val="B9A4FF"/>
            </a:solidFill>
            <a:prstDash val="solid"/>
          </a:ln>
        </p:spPr>
        <p:txBody>
          <a:bodyPr/>
          <a:lstStyle/>
          <a:p>
            <a:endParaRPr lang="en-IN"/>
          </a:p>
        </p:txBody>
      </p:sp>
      <p:sp>
        <p:nvSpPr>
          <p:cNvPr id="40" name="Text 37"/>
          <p:cNvSpPr txBox="1"/>
          <p:nvPr/>
        </p:nvSpPr>
        <p:spPr>
          <a:xfrm>
            <a:off x="6373368" y="4206240"/>
            <a:ext cx="566928" cy="365760"/>
          </a:xfrm>
          <a:prstGeom prst="rect">
            <a:avLst/>
          </a:prstGeom>
          <a:noFill/>
          <a:ln/>
        </p:spPr>
        <p:txBody>
          <a:bodyPr wrap="square" lIns="0" tIns="0" rIns="0" bIns="0" rtlCol="0" anchor="ctr"/>
          <a:lstStyle/>
          <a:p>
            <a:pPr marL="0" indent="0" algn="ctr">
              <a:buNone/>
            </a:pPr>
            <a:r>
              <a:rPr lang="en-US" sz="1400" b="1" dirty="0">
                <a:solidFill>
                  <a:srgbClr val="B9A4FF"/>
                </a:solidFill>
                <a:latin typeface="Courier New" pitchFamily="34" charset="0"/>
                <a:ea typeface="Courier New" pitchFamily="34" charset="-122"/>
                <a:cs typeface="Courier New" pitchFamily="34" charset="-120"/>
              </a:rPr>
              <a:t>G7</a:t>
            </a:r>
            <a:endParaRPr lang="en-US" sz="1400" dirty="0"/>
          </a:p>
        </p:txBody>
      </p:sp>
      <p:sp>
        <p:nvSpPr>
          <p:cNvPr id="41" name="Text 38"/>
          <p:cNvSpPr txBox="1"/>
          <p:nvPr/>
        </p:nvSpPr>
        <p:spPr>
          <a:xfrm>
            <a:off x="7059168" y="422452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Possible mishear</a:t>
            </a:r>
            <a:endParaRPr lang="en-US" sz="1350" dirty="0"/>
          </a:p>
        </p:txBody>
      </p:sp>
      <p:sp>
        <p:nvSpPr>
          <p:cNvPr id="42" name="Text 39"/>
          <p:cNvSpPr txBox="1"/>
          <p:nvPr/>
        </p:nvSpPr>
        <p:spPr>
          <a:xfrm>
            <a:off x="6373368" y="475488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Emails audio can't settle (rahman/raman, bigpond heard as bizpoint) go to a human. CRM typos like gmial still fail.</a:t>
            </a:r>
            <a:endParaRPr lang="en-US" sz="1150" dirty="0"/>
          </a:p>
        </p:txBody>
      </p:sp>
      <p:sp>
        <p:nvSpPr>
          <p:cNvPr id="43" name="Shape 40"/>
          <p:cNvSpPr/>
          <p:nvPr/>
        </p:nvSpPr>
        <p:spPr>
          <a:xfrm>
            <a:off x="8942832" y="3977640"/>
            <a:ext cx="2633472" cy="1920240"/>
          </a:xfrm>
          <a:prstGeom prst="roundRect">
            <a:avLst>
              <a:gd name="adj" fmla="val 4762"/>
            </a:avLst>
          </a:prstGeom>
          <a:solidFill>
            <a:srgbClr val="141B28"/>
          </a:solidFill>
          <a:ln w="9525">
            <a:solidFill>
              <a:srgbClr val="263248"/>
            </a:solidFill>
            <a:prstDash val="solid"/>
          </a:ln>
        </p:spPr>
        <p:txBody>
          <a:bodyPr/>
          <a:lstStyle/>
          <a:p>
            <a:endParaRPr lang="en-IN"/>
          </a:p>
        </p:txBody>
      </p:sp>
      <p:sp>
        <p:nvSpPr>
          <p:cNvPr id="44" name="Shape 41"/>
          <p:cNvSpPr/>
          <p:nvPr/>
        </p:nvSpPr>
        <p:spPr>
          <a:xfrm>
            <a:off x="9171432" y="4206240"/>
            <a:ext cx="566928" cy="365760"/>
          </a:xfrm>
          <a:prstGeom prst="roundRect">
            <a:avLst>
              <a:gd name="adj" fmla="val 20000"/>
            </a:avLst>
          </a:prstGeom>
          <a:solidFill>
            <a:srgbClr val="B9A4FF">
              <a:alpha val="18000"/>
            </a:srgbClr>
          </a:solidFill>
          <a:ln w="12700">
            <a:solidFill>
              <a:srgbClr val="B9A4FF"/>
            </a:solidFill>
            <a:prstDash val="solid"/>
          </a:ln>
        </p:spPr>
        <p:txBody>
          <a:bodyPr/>
          <a:lstStyle/>
          <a:p>
            <a:endParaRPr lang="en-IN"/>
          </a:p>
        </p:txBody>
      </p:sp>
      <p:sp>
        <p:nvSpPr>
          <p:cNvPr id="45" name="Text 42"/>
          <p:cNvSpPr txBox="1"/>
          <p:nvPr/>
        </p:nvSpPr>
        <p:spPr>
          <a:xfrm>
            <a:off x="9171432" y="4206240"/>
            <a:ext cx="566928" cy="365760"/>
          </a:xfrm>
          <a:prstGeom prst="rect">
            <a:avLst/>
          </a:prstGeom>
          <a:noFill/>
          <a:ln/>
        </p:spPr>
        <p:txBody>
          <a:bodyPr wrap="square" lIns="0" tIns="0" rIns="0" bIns="0" rtlCol="0" anchor="ctr"/>
          <a:lstStyle/>
          <a:p>
            <a:pPr marL="0" indent="0" algn="ctr">
              <a:buNone/>
            </a:pPr>
            <a:r>
              <a:rPr lang="en-US" sz="1400" b="1" dirty="0">
                <a:solidFill>
                  <a:srgbClr val="B9A4FF"/>
                </a:solidFill>
                <a:latin typeface="Courier New" pitchFamily="34" charset="0"/>
                <a:ea typeface="Courier New" pitchFamily="34" charset="-122"/>
                <a:cs typeface="Courier New" pitchFamily="34" charset="-120"/>
              </a:rPr>
              <a:t>G8</a:t>
            </a:r>
            <a:endParaRPr lang="en-US" sz="1400" dirty="0"/>
          </a:p>
        </p:txBody>
      </p:sp>
      <p:sp>
        <p:nvSpPr>
          <p:cNvPr id="46" name="Text 43"/>
          <p:cNvSpPr txBox="1"/>
          <p:nvPr/>
        </p:nvSpPr>
        <p:spPr>
          <a:xfrm>
            <a:off x="9857232" y="4224528"/>
            <a:ext cx="1581912" cy="36576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Screen vs spoken</a:t>
            </a:r>
            <a:endParaRPr lang="en-US" sz="1350" dirty="0"/>
          </a:p>
        </p:txBody>
      </p:sp>
      <p:sp>
        <p:nvSpPr>
          <p:cNvPr id="47" name="Text 44"/>
          <p:cNvSpPr txBox="1"/>
          <p:nvPr/>
        </p:nvSpPr>
        <p:spPr>
          <a:xfrm>
            <a:off x="9171432" y="4754880"/>
            <a:ext cx="2221992" cy="109728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Agent's words vs the order screen: a FAIL at 0.7× confidence; the critical floor decides FAIL or QA.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10</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09 · THE CONSOLE</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Built for how a team leader actually works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See the verdict → see what's wrong → hear it → fix it or override.</a:t>
            </a:r>
            <a:endParaRPr lang="en-US" sz="1500" dirty="0"/>
          </a:p>
        </p:txBody>
      </p:sp>
      <p:sp>
        <p:nvSpPr>
          <p:cNvPr id="8" name="Shape 5"/>
          <p:cNvSpPr/>
          <p:nvPr/>
        </p:nvSpPr>
        <p:spPr>
          <a:xfrm>
            <a:off x="493776" y="1802511"/>
            <a:ext cx="7973568" cy="4533138"/>
          </a:xfrm>
          <a:prstGeom prst="roundRect">
            <a:avLst>
              <a:gd name="adj" fmla="val 1614"/>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main.png"/>
          <p:cNvPicPr>
            <a:picLocks noChangeAspect="1"/>
          </p:cNvPicPr>
          <p:nvPr/>
        </p:nvPicPr>
        <p:blipFill>
          <a:blip r:embed="rId3"/>
          <a:stretch>
            <a:fillRect/>
          </a:stretch>
        </p:blipFill>
        <p:spPr>
          <a:xfrm>
            <a:off x="548640" y="1857375"/>
            <a:ext cx="7863840" cy="4423410"/>
          </a:xfrm>
          <a:prstGeom prst="rect">
            <a:avLst/>
          </a:prstGeom>
        </p:spPr>
      </p:pic>
      <p:sp>
        <p:nvSpPr>
          <p:cNvPr id="10" name="Shape 6"/>
          <p:cNvSpPr/>
          <p:nvPr/>
        </p:nvSpPr>
        <p:spPr>
          <a:xfrm>
            <a:off x="941070" y="2118741"/>
            <a:ext cx="329184" cy="329184"/>
          </a:xfrm>
          <a:prstGeom prst="ellipse">
            <a:avLst/>
          </a:prstGeom>
          <a:solidFill>
            <a:srgbClr val="FBBF24"/>
          </a:solidFill>
          <a:ln w="12700">
            <a:solidFill>
              <a:srgbClr val="FBBF24"/>
            </a:solidFill>
            <a:prstDash val="solid"/>
          </a:ln>
        </p:spPr>
        <p:txBody>
          <a:bodyPr/>
          <a:lstStyle/>
          <a:p>
            <a:endParaRPr lang="en-IN"/>
          </a:p>
        </p:txBody>
      </p:sp>
      <p:sp>
        <p:nvSpPr>
          <p:cNvPr id="11" name="Text 7"/>
          <p:cNvSpPr txBox="1"/>
          <p:nvPr/>
        </p:nvSpPr>
        <p:spPr>
          <a:xfrm>
            <a:off x="941070" y="2118741"/>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1</a:t>
            </a:r>
            <a:endParaRPr lang="en-US" sz="1300" dirty="0"/>
          </a:p>
        </p:txBody>
      </p:sp>
      <p:sp>
        <p:nvSpPr>
          <p:cNvPr id="12" name="Shape 8"/>
          <p:cNvSpPr/>
          <p:nvPr/>
        </p:nvSpPr>
        <p:spPr>
          <a:xfrm>
            <a:off x="515112" y="2872359"/>
            <a:ext cx="329184" cy="329184"/>
          </a:xfrm>
          <a:prstGeom prst="ellipse">
            <a:avLst/>
          </a:prstGeom>
          <a:solidFill>
            <a:srgbClr val="FBBF24"/>
          </a:solidFill>
          <a:ln w="12700">
            <a:solidFill>
              <a:srgbClr val="FBBF24"/>
            </a:solidFill>
            <a:prstDash val="solid"/>
          </a:ln>
        </p:spPr>
        <p:txBody>
          <a:bodyPr/>
          <a:lstStyle/>
          <a:p>
            <a:endParaRPr lang="en-IN"/>
          </a:p>
        </p:txBody>
      </p:sp>
      <p:sp>
        <p:nvSpPr>
          <p:cNvPr id="13" name="Text 9"/>
          <p:cNvSpPr txBox="1"/>
          <p:nvPr/>
        </p:nvSpPr>
        <p:spPr>
          <a:xfrm>
            <a:off x="515112" y="2872359"/>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2</a:t>
            </a:r>
            <a:endParaRPr lang="en-US" sz="1300" dirty="0"/>
          </a:p>
        </p:txBody>
      </p:sp>
      <p:sp>
        <p:nvSpPr>
          <p:cNvPr id="14" name="Shape 10"/>
          <p:cNvSpPr/>
          <p:nvPr/>
        </p:nvSpPr>
        <p:spPr>
          <a:xfrm>
            <a:off x="2972562" y="2511933"/>
            <a:ext cx="329184" cy="329184"/>
          </a:xfrm>
          <a:prstGeom prst="ellipse">
            <a:avLst/>
          </a:prstGeom>
          <a:solidFill>
            <a:srgbClr val="FBBF24"/>
          </a:solidFill>
          <a:ln w="12700">
            <a:solidFill>
              <a:srgbClr val="FBBF24"/>
            </a:solidFill>
            <a:prstDash val="solid"/>
          </a:ln>
        </p:spPr>
        <p:txBody>
          <a:bodyPr/>
          <a:lstStyle/>
          <a:p>
            <a:endParaRPr lang="en-IN"/>
          </a:p>
        </p:txBody>
      </p:sp>
      <p:sp>
        <p:nvSpPr>
          <p:cNvPr id="15" name="Text 11"/>
          <p:cNvSpPr txBox="1"/>
          <p:nvPr/>
        </p:nvSpPr>
        <p:spPr>
          <a:xfrm>
            <a:off x="2972562" y="2511933"/>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3</a:t>
            </a:r>
            <a:endParaRPr lang="en-US" sz="1300" dirty="0"/>
          </a:p>
        </p:txBody>
      </p:sp>
      <p:sp>
        <p:nvSpPr>
          <p:cNvPr id="16" name="Shape 12"/>
          <p:cNvSpPr/>
          <p:nvPr/>
        </p:nvSpPr>
        <p:spPr>
          <a:xfrm>
            <a:off x="2481072" y="3134487"/>
            <a:ext cx="329184" cy="329184"/>
          </a:xfrm>
          <a:prstGeom prst="ellipse">
            <a:avLst/>
          </a:prstGeom>
          <a:solidFill>
            <a:srgbClr val="FBBF24"/>
          </a:solidFill>
          <a:ln w="12700">
            <a:solidFill>
              <a:srgbClr val="FBBF24"/>
            </a:solidFill>
            <a:prstDash val="solid"/>
          </a:ln>
        </p:spPr>
        <p:txBody>
          <a:bodyPr/>
          <a:lstStyle/>
          <a:p>
            <a:endParaRPr lang="en-IN"/>
          </a:p>
        </p:txBody>
      </p:sp>
      <p:sp>
        <p:nvSpPr>
          <p:cNvPr id="17" name="Text 13"/>
          <p:cNvSpPr txBox="1"/>
          <p:nvPr/>
        </p:nvSpPr>
        <p:spPr>
          <a:xfrm>
            <a:off x="2481072" y="3134487"/>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4</a:t>
            </a:r>
            <a:endParaRPr lang="en-US" sz="1300" dirty="0"/>
          </a:p>
        </p:txBody>
      </p:sp>
      <p:sp>
        <p:nvSpPr>
          <p:cNvPr id="18" name="Shape 14"/>
          <p:cNvSpPr/>
          <p:nvPr/>
        </p:nvSpPr>
        <p:spPr>
          <a:xfrm>
            <a:off x="1465326" y="1810741"/>
            <a:ext cx="329184" cy="329184"/>
          </a:xfrm>
          <a:prstGeom prst="ellipse">
            <a:avLst/>
          </a:prstGeom>
          <a:solidFill>
            <a:srgbClr val="FBBF24"/>
          </a:solidFill>
          <a:ln w="12700">
            <a:solidFill>
              <a:srgbClr val="FBBF24"/>
            </a:solidFill>
            <a:prstDash val="solid"/>
          </a:ln>
        </p:spPr>
        <p:txBody>
          <a:bodyPr/>
          <a:lstStyle/>
          <a:p>
            <a:endParaRPr lang="en-IN"/>
          </a:p>
        </p:txBody>
      </p:sp>
      <p:sp>
        <p:nvSpPr>
          <p:cNvPr id="19" name="Text 15"/>
          <p:cNvSpPr txBox="1"/>
          <p:nvPr/>
        </p:nvSpPr>
        <p:spPr>
          <a:xfrm>
            <a:off x="1465326" y="1810741"/>
            <a:ext cx="329184" cy="329184"/>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5</a:t>
            </a:r>
            <a:endParaRPr lang="en-US" sz="1300" dirty="0"/>
          </a:p>
        </p:txBody>
      </p:sp>
      <p:sp>
        <p:nvSpPr>
          <p:cNvPr id="20" name="Shape 16"/>
          <p:cNvSpPr/>
          <p:nvPr/>
        </p:nvSpPr>
        <p:spPr>
          <a:xfrm>
            <a:off x="8732520" y="1828800"/>
            <a:ext cx="310896" cy="310896"/>
          </a:xfrm>
          <a:prstGeom prst="ellipse">
            <a:avLst/>
          </a:prstGeom>
          <a:solidFill>
            <a:srgbClr val="FBBF24"/>
          </a:solidFill>
          <a:ln w="12700">
            <a:solidFill>
              <a:srgbClr val="FBBF24"/>
            </a:solidFill>
            <a:prstDash val="solid"/>
          </a:ln>
        </p:spPr>
        <p:txBody>
          <a:bodyPr/>
          <a:lstStyle/>
          <a:p>
            <a:endParaRPr lang="en-IN"/>
          </a:p>
        </p:txBody>
      </p:sp>
      <p:sp>
        <p:nvSpPr>
          <p:cNvPr id="21" name="Text 17"/>
          <p:cNvSpPr txBox="1"/>
          <p:nvPr/>
        </p:nvSpPr>
        <p:spPr>
          <a:xfrm>
            <a:off x="8732520" y="1828800"/>
            <a:ext cx="310896" cy="310896"/>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1</a:t>
            </a:r>
            <a:endParaRPr lang="en-US" sz="1300" dirty="0"/>
          </a:p>
        </p:txBody>
      </p:sp>
      <p:sp>
        <p:nvSpPr>
          <p:cNvPr id="22" name="Text 18"/>
          <p:cNvSpPr txBox="1"/>
          <p:nvPr/>
        </p:nvSpPr>
        <p:spPr>
          <a:xfrm>
            <a:off x="9189720" y="1810512"/>
            <a:ext cx="2468880" cy="27432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Verdict</a:t>
            </a:r>
            <a:endParaRPr lang="en-US" sz="1400" dirty="0"/>
          </a:p>
        </p:txBody>
      </p:sp>
      <p:sp>
        <p:nvSpPr>
          <p:cNvPr id="23" name="Text 19"/>
          <p:cNvSpPr txBox="1"/>
          <p:nvPr/>
        </p:nvSpPr>
        <p:spPr>
          <a:xfrm>
            <a:off x="9189720" y="2103120"/>
            <a:ext cx="2468880" cy="59436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HELD / QA / SUBMITTED, which checks and where it was routed, plus pass / fail / unsure counts.</a:t>
            </a:r>
            <a:endParaRPr lang="en-US" sz="1100" dirty="0"/>
          </a:p>
        </p:txBody>
      </p:sp>
      <p:sp>
        <p:nvSpPr>
          <p:cNvPr id="24" name="Shape 20"/>
          <p:cNvSpPr/>
          <p:nvPr/>
        </p:nvSpPr>
        <p:spPr>
          <a:xfrm>
            <a:off x="8732520" y="2715768"/>
            <a:ext cx="310896" cy="310896"/>
          </a:xfrm>
          <a:prstGeom prst="ellipse">
            <a:avLst/>
          </a:prstGeom>
          <a:solidFill>
            <a:srgbClr val="FBBF24"/>
          </a:solidFill>
          <a:ln w="12700">
            <a:solidFill>
              <a:srgbClr val="FBBF24"/>
            </a:solidFill>
            <a:prstDash val="solid"/>
          </a:ln>
        </p:spPr>
        <p:txBody>
          <a:bodyPr/>
          <a:lstStyle/>
          <a:p>
            <a:endParaRPr lang="en-IN"/>
          </a:p>
        </p:txBody>
      </p:sp>
      <p:sp>
        <p:nvSpPr>
          <p:cNvPr id="25" name="Text 21"/>
          <p:cNvSpPr txBox="1"/>
          <p:nvPr/>
        </p:nvSpPr>
        <p:spPr>
          <a:xfrm>
            <a:off x="8732520" y="2715768"/>
            <a:ext cx="310896" cy="310896"/>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2</a:t>
            </a:r>
            <a:endParaRPr lang="en-US" sz="1300" dirty="0"/>
          </a:p>
        </p:txBody>
      </p:sp>
      <p:sp>
        <p:nvSpPr>
          <p:cNvPr id="26" name="Text 22"/>
          <p:cNvSpPr txBox="1"/>
          <p:nvPr/>
        </p:nvSpPr>
        <p:spPr>
          <a:xfrm>
            <a:off x="9189720" y="2697480"/>
            <a:ext cx="2468880" cy="27432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Needs attention</a:t>
            </a:r>
            <a:endParaRPr lang="en-US" sz="1400" dirty="0"/>
          </a:p>
        </p:txBody>
      </p:sp>
      <p:sp>
        <p:nvSpPr>
          <p:cNvPr id="27" name="Text 23"/>
          <p:cNvSpPr txBox="1"/>
          <p:nvPr/>
        </p:nvSpPr>
        <p:spPr>
          <a:xfrm>
            <a:off x="9189720" y="2990088"/>
            <a:ext cx="2468880" cy="59436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Failed and unsure checks as cards: said vs expected, the reason, Play 20s, Override.</a:t>
            </a:r>
            <a:endParaRPr lang="en-US" sz="1100" dirty="0"/>
          </a:p>
        </p:txBody>
      </p:sp>
      <p:sp>
        <p:nvSpPr>
          <p:cNvPr id="28" name="Shape 24"/>
          <p:cNvSpPr/>
          <p:nvPr/>
        </p:nvSpPr>
        <p:spPr>
          <a:xfrm>
            <a:off x="8732520" y="3602736"/>
            <a:ext cx="310896" cy="310896"/>
          </a:xfrm>
          <a:prstGeom prst="ellipse">
            <a:avLst/>
          </a:prstGeom>
          <a:solidFill>
            <a:srgbClr val="FBBF24"/>
          </a:solidFill>
          <a:ln w="12700">
            <a:solidFill>
              <a:srgbClr val="FBBF24"/>
            </a:solidFill>
            <a:prstDash val="solid"/>
          </a:ln>
        </p:spPr>
        <p:txBody>
          <a:bodyPr/>
          <a:lstStyle/>
          <a:p>
            <a:endParaRPr lang="en-IN"/>
          </a:p>
        </p:txBody>
      </p:sp>
      <p:sp>
        <p:nvSpPr>
          <p:cNvPr id="29" name="Text 25"/>
          <p:cNvSpPr txBox="1"/>
          <p:nvPr/>
        </p:nvSpPr>
        <p:spPr>
          <a:xfrm>
            <a:off x="8732520" y="3602736"/>
            <a:ext cx="310896" cy="310896"/>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3</a:t>
            </a:r>
            <a:endParaRPr lang="en-US" sz="1300" dirty="0"/>
          </a:p>
        </p:txBody>
      </p:sp>
      <p:sp>
        <p:nvSpPr>
          <p:cNvPr id="30" name="Text 26"/>
          <p:cNvSpPr txBox="1"/>
          <p:nvPr/>
        </p:nvSpPr>
        <p:spPr>
          <a:xfrm>
            <a:off x="9189720" y="3584448"/>
            <a:ext cx="2468880" cy="27432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Call timeline</a:t>
            </a:r>
            <a:endParaRPr lang="en-US" sz="1400" dirty="0"/>
          </a:p>
        </p:txBody>
      </p:sp>
      <p:sp>
        <p:nvSpPr>
          <p:cNvPr id="31" name="Text 27"/>
          <p:cNvSpPr txBox="1"/>
          <p:nvPr/>
        </p:nvSpPr>
        <p:spPr>
          <a:xfrm>
            <a:off x="9189720" y="3877056"/>
            <a:ext cx="2468880" cy="59436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Agent and customer lanes, a pin per check, dead air hatched. Click to jump or play.</a:t>
            </a:r>
            <a:endParaRPr lang="en-US" sz="1100" dirty="0"/>
          </a:p>
        </p:txBody>
      </p:sp>
      <p:sp>
        <p:nvSpPr>
          <p:cNvPr id="32" name="Shape 28"/>
          <p:cNvSpPr/>
          <p:nvPr/>
        </p:nvSpPr>
        <p:spPr>
          <a:xfrm>
            <a:off x="8732520" y="4489704"/>
            <a:ext cx="310896" cy="310896"/>
          </a:xfrm>
          <a:prstGeom prst="ellipse">
            <a:avLst/>
          </a:prstGeom>
          <a:solidFill>
            <a:srgbClr val="FBBF24"/>
          </a:solidFill>
          <a:ln w="12700">
            <a:solidFill>
              <a:srgbClr val="FBBF24"/>
            </a:solidFill>
            <a:prstDash val="solid"/>
          </a:ln>
        </p:spPr>
        <p:txBody>
          <a:bodyPr/>
          <a:lstStyle/>
          <a:p>
            <a:endParaRPr lang="en-IN"/>
          </a:p>
        </p:txBody>
      </p:sp>
      <p:sp>
        <p:nvSpPr>
          <p:cNvPr id="33" name="Text 29"/>
          <p:cNvSpPr txBox="1"/>
          <p:nvPr/>
        </p:nvSpPr>
        <p:spPr>
          <a:xfrm>
            <a:off x="8732520" y="4489704"/>
            <a:ext cx="310896" cy="310896"/>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4</a:t>
            </a:r>
            <a:endParaRPr lang="en-US" sz="1300" dirty="0"/>
          </a:p>
        </p:txBody>
      </p:sp>
      <p:sp>
        <p:nvSpPr>
          <p:cNvPr id="34" name="Text 30"/>
          <p:cNvSpPr txBox="1"/>
          <p:nvPr/>
        </p:nvSpPr>
        <p:spPr>
          <a:xfrm>
            <a:off x="9189720" y="4471416"/>
            <a:ext cx="2468880" cy="27432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Tabs</a:t>
            </a:r>
            <a:endParaRPr lang="en-US" sz="1400" dirty="0"/>
          </a:p>
        </p:txBody>
      </p:sp>
      <p:sp>
        <p:nvSpPr>
          <p:cNvPr id="35" name="Text 31"/>
          <p:cNvSpPr txBox="1"/>
          <p:nvPr/>
        </p:nvSpPr>
        <p:spPr>
          <a:xfrm>
            <a:off x="9189720" y="4764024"/>
            <a:ext cx="2468880" cy="59436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Transcript, CRM &amp; plan (read-only), Audit, Overrides.</a:t>
            </a:r>
            <a:endParaRPr lang="en-US" sz="1100" dirty="0"/>
          </a:p>
        </p:txBody>
      </p:sp>
      <p:sp>
        <p:nvSpPr>
          <p:cNvPr id="36" name="Shape 32"/>
          <p:cNvSpPr/>
          <p:nvPr/>
        </p:nvSpPr>
        <p:spPr>
          <a:xfrm>
            <a:off x="8732520" y="5376672"/>
            <a:ext cx="310896" cy="310896"/>
          </a:xfrm>
          <a:prstGeom prst="ellipse">
            <a:avLst/>
          </a:prstGeom>
          <a:solidFill>
            <a:srgbClr val="FBBF24"/>
          </a:solidFill>
          <a:ln w="12700">
            <a:solidFill>
              <a:srgbClr val="FBBF24"/>
            </a:solidFill>
            <a:prstDash val="solid"/>
          </a:ln>
        </p:spPr>
        <p:txBody>
          <a:bodyPr/>
          <a:lstStyle/>
          <a:p>
            <a:endParaRPr lang="en-IN"/>
          </a:p>
        </p:txBody>
      </p:sp>
      <p:sp>
        <p:nvSpPr>
          <p:cNvPr id="37" name="Text 33"/>
          <p:cNvSpPr txBox="1"/>
          <p:nvPr/>
        </p:nvSpPr>
        <p:spPr>
          <a:xfrm>
            <a:off x="8732520" y="5376672"/>
            <a:ext cx="310896" cy="310896"/>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5</a:t>
            </a:r>
            <a:endParaRPr lang="en-US" sz="1300" dirty="0"/>
          </a:p>
        </p:txBody>
      </p:sp>
      <p:sp>
        <p:nvSpPr>
          <p:cNvPr id="38" name="Text 34"/>
          <p:cNvSpPr txBox="1"/>
          <p:nvPr/>
        </p:nvSpPr>
        <p:spPr>
          <a:xfrm>
            <a:off x="9189720" y="5358384"/>
            <a:ext cx="2468880" cy="27432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Lead picker + engines</a:t>
            </a:r>
            <a:endParaRPr lang="en-US" sz="1400" dirty="0"/>
          </a:p>
        </p:txBody>
      </p:sp>
      <p:sp>
        <p:nvSpPr>
          <p:cNvPr id="39" name="Text 35"/>
          <p:cNvSpPr txBox="1"/>
          <p:nvPr/>
        </p:nvSpPr>
        <p:spPr>
          <a:xfrm>
            <a:off x="9189720" y="5650992"/>
            <a:ext cx="2468880" cy="59436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Each lead's latest verdict as a coloured dot; ASR and extractor status.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11</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10 · LEAD PICKER</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Every lead's verdict at a glance</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One button, one grouped list — no hunting through tabs.</a:t>
            </a:r>
            <a:endParaRPr lang="en-US" sz="1500" dirty="0"/>
          </a:p>
        </p:txBody>
      </p:sp>
      <p:sp>
        <p:nvSpPr>
          <p:cNvPr id="8" name="Shape 5"/>
          <p:cNvSpPr/>
          <p:nvPr/>
        </p:nvSpPr>
        <p:spPr>
          <a:xfrm>
            <a:off x="493776" y="1728216"/>
            <a:ext cx="6393440" cy="4590288"/>
          </a:xfrm>
          <a:prstGeom prst="roundRect">
            <a:avLst>
              <a:gd name="adj" fmla="val 1594"/>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picker.png"/>
          <p:cNvPicPr>
            <a:picLocks noChangeAspect="1"/>
          </p:cNvPicPr>
          <p:nvPr/>
        </p:nvPicPr>
        <p:blipFill>
          <a:blip r:embed="rId3"/>
          <a:stretch>
            <a:fillRect/>
          </a:stretch>
        </p:blipFill>
        <p:spPr>
          <a:xfrm>
            <a:off x="548640" y="1783080"/>
            <a:ext cx="6283712" cy="4480560"/>
          </a:xfrm>
          <a:prstGeom prst="rect">
            <a:avLst/>
          </a:prstGeom>
        </p:spPr>
      </p:pic>
      <p:sp>
        <p:nvSpPr>
          <p:cNvPr id="10" name="Text 6"/>
          <p:cNvSpPr txBox="1"/>
          <p:nvPr/>
        </p:nvSpPr>
        <p:spPr>
          <a:xfrm>
            <a:off x="7315200" y="1874520"/>
            <a:ext cx="429768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The dot is the verdict</a:t>
            </a:r>
            <a:endParaRPr lang="en-US" sz="1600" dirty="0"/>
          </a:p>
        </p:txBody>
      </p:sp>
      <p:sp>
        <p:nvSpPr>
          <p:cNvPr id="11" name="Shape 7"/>
          <p:cNvSpPr/>
          <p:nvPr/>
        </p:nvSpPr>
        <p:spPr>
          <a:xfrm>
            <a:off x="7360920" y="2377440"/>
            <a:ext cx="146304" cy="146304"/>
          </a:xfrm>
          <a:prstGeom prst="ellipse">
            <a:avLst/>
          </a:prstGeom>
          <a:solidFill>
            <a:srgbClr val="F87171"/>
          </a:solidFill>
          <a:ln w="12700">
            <a:solidFill>
              <a:srgbClr val="F87171"/>
            </a:solidFill>
            <a:prstDash val="solid"/>
          </a:ln>
        </p:spPr>
        <p:txBody>
          <a:bodyPr/>
          <a:lstStyle/>
          <a:p>
            <a:endParaRPr lang="en-IN"/>
          </a:p>
        </p:txBody>
      </p:sp>
      <p:sp>
        <p:nvSpPr>
          <p:cNvPr id="12" name="Text 8"/>
          <p:cNvSpPr txBox="1"/>
          <p:nvPr/>
        </p:nvSpPr>
        <p:spPr>
          <a:xfrm>
            <a:off x="7635240" y="2304288"/>
            <a:ext cx="4023360" cy="32004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HELD  </a:t>
            </a:r>
            <a:r>
              <a:rPr lang="en-US" sz="1300" dirty="0">
                <a:solidFill>
                  <a:srgbClr val="A3AEC3"/>
                </a:solidFill>
                <a:latin typeface="Calibri" pitchFamily="34" charset="0"/>
                <a:ea typeface="Calibri" pitchFamily="34" charset="-122"/>
                <a:cs typeface="Calibri" pitchFamily="34" charset="-120"/>
              </a:rPr>
              <a:t>a critical check failed</a:t>
            </a:r>
            <a:endParaRPr lang="en-US" sz="1300" dirty="0"/>
          </a:p>
        </p:txBody>
      </p:sp>
      <p:sp>
        <p:nvSpPr>
          <p:cNvPr id="13" name="Shape 9"/>
          <p:cNvSpPr/>
          <p:nvPr/>
        </p:nvSpPr>
        <p:spPr>
          <a:xfrm>
            <a:off x="7360920" y="2761488"/>
            <a:ext cx="146304" cy="146304"/>
          </a:xfrm>
          <a:prstGeom prst="ellipse">
            <a:avLst/>
          </a:prstGeom>
          <a:solidFill>
            <a:srgbClr val="FBBF24"/>
          </a:solidFill>
          <a:ln w="12700">
            <a:solidFill>
              <a:srgbClr val="FBBF24"/>
            </a:solidFill>
            <a:prstDash val="solid"/>
          </a:ln>
        </p:spPr>
        <p:txBody>
          <a:bodyPr/>
          <a:lstStyle/>
          <a:p>
            <a:endParaRPr lang="en-IN"/>
          </a:p>
        </p:txBody>
      </p:sp>
      <p:sp>
        <p:nvSpPr>
          <p:cNvPr id="14" name="Text 10"/>
          <p:cNvSpPr txBox="1"/>
          <p:nvPr/>
        </p:nvSpPr>
        <p:spPr>
          <a:xfrm>
            <a:off x="7635240" y="2688336"/>
            <a:ext cx="4023360" cy="32004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QA  </a:t>
            </a:r>
            <a:r>
              <a:rPr lang="en-US" sz="1300" dirty="0">
                <a:solidFill>
                  <a:srgbClr val="A3AEC3"/>
                </a:solidFill>
                <a:latin typeface="Calibri" pitchFamily="34" charset="0"/>
                <a:ea typeface="Calibri" pitchFamily="34" charset="-122"/>
                <a:cs typeface="Calibri" pitchFamily="34" charset="-120"/>
              </a:rPr>
              <a:t>a critical check needs a human</a:t>
            </a:r>
            <a:endParaRPr lang="en-US" sz="1300" dirty="0"/>
          </a:p>
        </p:txBody>
      </p:sp>
      <p:sp>
        <p:nvSpPr>
          <p:cNvPr id="15" name="Shape 11"/>
          <p:cNvSpPr/>
          <p:nvPr/>
        </p:nvSpPr>
        <p:spPr>
          <a:xfrm>
            <a:off x="7360920" y="3145536"/>
            <a:ext cx="146304" cy="146304"/>
          </a:xfrm>
          <a:prstGeom prst="ellipse">
            <a:avLst/>
          </a:prstGeom>
          <a:solidFill>
            <a:srgbClr val="34D399"/>
          </a:solidFill>
          <a:ln w="12700">
            <a:solidFill>
              <a:srgbClr val="34D399"/>
            </a:solidFill>
            <a:prstDash val="solid"/>
          </a:ln>
        </p:spPr>
        <p:txBody>
          <a:bodyPr/>
          <a:lstStyle/>
          <a:p>
            <a:endParaRPr lang="en-IN"/>
          </a:p>
        </p:txBody>
      </p:sp>
      <p:sp>
        <p:nvSpPr>
          <p:cNvPr id="16" name="Text 12"/>
          <p:cNvSpPr txBox="1"/>
          <p:nvPr/>
        </p:nvSpPr>
        <p:spPr>
          <a:xfrm>
            <a:off x="7635240" y="3072384"/>
            <a:ext cx="4023360" cy="320040"/>
          </a:xfrm>
          <a:prstGeom prst="rect">
            <a:avLst/>
          </a:prstGeom>
          <a:noFill/>
          <a:ln/>
        </p:spPr>
        <p:txBody>
          <a:bodyPr wrap="square" lIns="0" tIns="0" rIns="0" bIns="0" rtlCol="0" anchor="t"/>
          <a:lstStyle/>
          <a:p>
            <a:pPr marL="0" indent="0">
              <a:buNone/>
            </a:pPr>
            <a:r>
              <a:rPr lang="en-US" sz="1300" b="1" dirty="0">
                <a:solidFill>
                  <a:srgbClr val="E8EDF6"/>
                </a:solidFill>
                <a:latin typeface="Calibri" pitchFamily="34" charset="0"/>
                <a:ea typeface="Calibri" pitchFamily="34" charset="-122"/>
                <a:cs typeface="Calibri" pitchFamily="34" charset="-120"/>
              </a:rPr>
              <a:t>SUBMITTED  </a:t>
            </a:r>
            <a:r>
              <a:rPr lang="en-US" sz="1300" dirty="0">
                <a:solidFill>
                  <a:srgbClr val="A3AEC3"/>
                </a:solidFill>
                <a:latin typeface="Calibri" pitchFamily="34" charset="0"/>
                <a:ea typeface="Calibri" pitchFamily="34" charset="-122"/>
                <a:cs typeface="Calibri" pitchFamily="34" charset="-120"/>
              </a:rPr>
              <a:t>cleared</a:t>
            </a:r>
            <a:endParaRPr lang="en-US" sz="1300" dirty="0"/>
          </a:p>
        </p:txBody>
      </p:sp>
      <p:sp>
        <p:nvSpPr>
          <p:cNvPr id="17" name="Text 13"/>
          <p:cNvSpPr txBox="1"/>
          <p:nvPr/>
        </p:nvSpPr>
        <p:spPr>
          <a:xfrm>
            <a:off x="7315200" y="3520440"/>
            <a:ext cx="4297680" cy="320040"/>
          </a:xfrm>
          <a:prstGeom prst="rect">
            <a:avLst/>
          </a:prstGeom>
          <a:noFill/>
          <a:ln/>
        </p:spPr>
        <p:txBody>
          <a:bodyPr wrap="square" lIns="0" tIns="0" rIns="0" bIns="0" rtlCol="0" anchor="t"/>
          <a:lstStyle/>
          <a:p>
            <a:pPr marL="0" indent="0">
              <a:buNone/>
            </a:pPr>
            <a:r>
              <a:rPr lang="en-US" sz="1600" b="1" dirty="0">
                <a:solidFill>
                  <a:srgbClr val="E8EDF6"/>
                </a:solidFill>
                <a:latin typeface="Calibri" pitchFamily="34" charset="0"/>
                <a:ea typeface="Calibri" pitchFamily="34" charset="-122"/>
                <a:cs typeface="Calibri" pitchFamily="34" charset="-120"/>
              </a:rPr>
              <a:t>Tags</a:t>
            </a:r>
            <a:endParaRPr lang="en-US" sz="1600" dirty="0"/>
          </a:p>
        </p:txBody>
      </p:sp>
      <p:sp>
        <p:nvSpPr>
          <p:cNvPr id="18" name="Shape 14"/>
          <p:cNvSpPr/>
          <p:nvPr/>
        </p:nvSpPr>
        <p:spPr>
          <a:xfrm>
            <a:off x="7360920" y="3931920"/>
            <a:ext cx="379476"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19" name="Text 15"/>
          <p:cNvSpPr txBox="1"/>
          <p:nvPr/>
        </p:nvSpPr>
        <p:spPr>
          <a:xfrm>
            <a:off x="7360920" y="3931920"/>
            <a:ext cx="379476"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NBN</a:t>
            </a:r>
            <a:endParaRPr lang="en-US" sz="1050" dirty="0"/>
          </a:p>
        </p:txBody>
      </p:sp>
      <p:sp>
        <p:nvSpPr>
          <p:cNvPr id="20" name="Shape 16"/>
          <p:cNvSpPr/>
          <p:nvPr/>
        </p:nvSpPr>
        <p:spPr>
          <a:xfrm>
            <a:off x="7877556" y="3931920"/>
            <a:ext cx="379476"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21" name="Text 17"/>
          <p:cNvSpPr txBox="1"/>
          <p:nvPr/>
        </p:nvSpPr>
        <p:spPr>
          <a:xfrm>
            <a:off x="7877556" y="3931920"/>
            <a:ext cx="379476"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ASR</a:t>
            </a:r>
            <a:endParaRPr lang="en-US" sz="1050" dirty="0"/>
          </a:p>
        </p:txBody>
      </p:sp>
      <p:sp>
        <p:nvSpPr>
          <p:cNvPr id="22" name="Shape 18"/>
          <p:cNvSpPr/>
          <p:nvPr/>
        </p:nvSpPr>
        <p:spPr>
          <a:xfrm>
            <a:off x="8394192" y="3931920"/>
            <a:ext cx="534924"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23" name="Text 19"/>
          <p:cNvSpPr txBox="1"/>
          <p:nvPr/>
        </p:nvSpPr>
        <p:spPr>
          <a:xfrm>
            <a:off x="8394192" y="3931920"/>
            <a:ext cx="534924"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NOISY</a:t>
            </a:r>
            <a:endParaRPr lang="en-US" sz="1050" dirty="0"/>
          </a:p>
        </p:txBody>
      </p:sp>
      <p:sp>
        <p:nvSpPr>
          <p:cNvPr id="24" name="Text 20"/>
          <p:cNvSpPr txBox="1"/>
          <p:nvPr/>
        </p:nvSpPr>
        <p:spPr>
          <a:xfrm>
            <a:off x="7360920" y="4315968"/>
            <a:ext cx="4297680" cy="32004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NBN-QA checklist · scored from a real dialler recording · poor audio</a:t>
            </a:r>
            <a:endParaRPr lang="en-US" sz="1150" dirty="0"/>
          </a:p>
        </p:txBody>
      </p:sp>
      <p:sp>
        <p:nvSpPr>
          <p:cNvPr id="25" name="Text 21"/>
          <p:cNvSpPr txBox="1"/>
          <p:nvPr/>
        </p:nvSpPr>
        <p:spPr>
          <a:xfrm>
            <a:off x="7315200" y="4754880"/>
            <a:ext cx="4343400" cy="1463040"/>
          </a:xfrm>
          <a:prstGeom prst="rect">
            <a:avLst/>
          </a:prstGeom>
          <a:noFill/>
          <a:ln/>
        </p:spPr>
        <p:txBody>
          <a:bodyPr wrap="square" lIns="0" tIns="0" rIns="0" bIns="0" rtlCol="0" anchor="t"/>
          <a:lstStyle/>
          <a:p>
            <a:pPr marL="203200" indent="-203200">
              <a:spcAft>
                <a:spcPts val="600"/>
              </a:spcAft>
              <a:buSzPct val="100000"/>
              <a:buChar char="•"/>
            </a:pPr>
            <a:r>
              <a:rPr lang="en-US" sz="1250" b="1" dirty="0">
                <a:solidFill>
                  <a:srgbClr val="E8EDF6"/>
                </a:solidFill>
                <a:latin typeface="Calibri" pitchFamily="34" charset="0"/>
                <a:ea typeface="Calibri" pitchFamily="34" charset="-122"/>
                <a:cs typeface="Calibri" pitchFamily="34" charset="-120"/>
              </a:rPr>
              <a:t>Grouped:</a:t>
            </a:r>
            <a:r>
              <a:rPr lang="en-US" sz="1250" dirty="0">
                <a:solidFill>
                  <a:srgbClr val="A3AEC3"/>
                </a:solidFill>
                <a:latin typeface="Calibri" pitchFamily="34" charset="0"/>
                <a:ea typeface="Calibri" pitchFamily="34" charset="-122"/>
                <a:cs typeface="Calibri" pitchFamily="34" charset="-120"/>
              </a:rPr>
              <a:t> the four brief leads, then the 12 synthetic test calls, each with a one-line note.</a:t>
            </a:r>
            <a:endParaRPr lang="en-US" sz="1250" dirty="0"/>
          </a:p>
          <a:p>
            <a:pPr marL="203200" indent="-203200">
              <a:spcAft>
                <a:spcPts val="600"/>
              </a:spcAft>
              <a:buSzPct val="100000"/>
              <a:buChar char="•"/>
            </a:pPr>
            <a:r>
              <a:rPr lang="en-US" sz="1250" b="1" dirty="0">
                <a:solidFill>
                  <a:srgbClr val="E8EDF6"/>
                </a:solidFill>
                <a:latin typeface="Calibri" pitchFamily="34" charset="0"/>
                <a:ea typeface="Calibri" pitchFamily="34" charset="-122"/>
                <a:cs typeface="Calibri" pitchFamily="34" charset="-120"/>
              </a:rPr>
              <a:t>Always coloured:</a:t>
            </a:r>
            <a:r>
              <a:rPr lang="en-US" sz="1250" dirty="0">
                <a:solidFill>
                  <a:srgbClr val="A3AEC3"/>
                </a:solidFill>
                <a:latin typeface="Calibri" pitchFamily="34" charset="0"/>
                <a:ea typeface="Calibri" pitchFamily="34" charset="-122"/>
                <a:cs typeface="Calibri" pitchFamily="34" charset="-120"/>
              </a:rPr>
              <a:t> never-scored leads are scored once in the background at startup (saved, never repeated).</a:t>
            </a:r>
            <a:endParaRPr lang="en-US" sz="1250" dirty="0"/>
          </a:p>
          <a:p>
            <a:pPr marL="203200" indent="-203200">
              <a:spcAft>
                <a:spcPts val="600"/>
              </a:spcAft>
              <a:buSzPct val="100000"/>
              <a:buChar char="•"/>
            </a:pPr>
            <a:r>
              <a:rPr lang="en-US" sz="1250" b="1" dirty="0">
                <a:solidFill>
                  <a:srgbClr val="E8EDF6"/>
                </a:solidFill>
                <a:latin typeface="Calibri" pitchFamily="34" charset="0"/>
                <a:ea typeface="Calibri" pitchFamily="34" charset="-122"/>
                <a:cs typeface="Calibri" pitchFamily="34" charset="-120"/>
              </a:rPr>
              <a:t>Keyboard:</a:t>
            </a:r>
            <a:r>
              <a:rPr lang="en-US" sz="1250" dirty="0">
                <a:solidFill>
                  <a:srgbClr val="A3AEC3"/>
                </a:solidFill>
                <a:latin typeface="Calibri" pitchFamily="34" charset="0"/>
                <a:ea typeface="Calibri" pitchFamily="34" charset="-122"/>
                <a:cs typeface="Calibri" pitchFamily="34" charset="-120"/>
              </a:rPr>
              <a:t> arrow keys move, Escape closes; any press outside closes 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11 · NEEDS ATTENTION</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Said vs expected, in one glance</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The worked example from the brief, exactly as the console shows it.</a:t>
            </a:r>
            <a:endParaRPr lang="en-US" sz="1500" dirty="0"/>
          </a:p>
        </p:txBody>
      </p:sp>
      <p:sp>
        <p:nvSpPr>
          <p:cNvPr id="8" name="Shape 5"/>
          <p:cNvSpPr/>
          <p:nvPr/>
        </p:nvSpPr>
        <p:spPr>
          <a:xfrm>
            <a:off x="493776" y="1728216"/>
            <a:ext cx="3042486" cy="4636008"/>
          </a:xfrm>
          <a:prstGeom prst="roundRect">
            <a:avLst>
              <a:gd name="adj" fmla="val 2404"/>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cards.png"/>
          <p:cNvPicPr>
            <a:picLocks noChangeAspect="1"/>
          </p:cNvPicPr>
          <p:nvPr/>
        </p:nvPicPr>
        <p:blipFill>
          <a:blip r:embed="rId3"/>
          <a:stretch>
            <a:fillRect/>
          </a:stretch>
        </p:blipFill>
        <p:spPr>
          <a:xfrm>
            <a:off x="548640" y="1783080"/>
            <a:ext cx="2932758" cy="4526280"/>
          </a:xfrm>
          <a:prstGeom prst="rect">
            <a:avLst/>
          </a:prstGeom>
        </p:spPr>
      </p:pic>
      <p:sp>
        <p:nvSpPr>
          <p:cNvPr id="10" name="Shape 6"/>
          <p:cNvSpPr/>
          <p:nvPr/>
        </p:nvSpPr>
        <p:spPr>
          <a:xfrm>
            <a:off x="4379976" y="1733369"/>
            <a:ext cx="3035808" cy="4625701"/>
          </a:xfrm>
          <a:prstGeom prst="roundRect">
            <a:avLst>
              <a:gd name="adj" fmla="val 2410"/>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11" name="Image 1" descr="C:\Users\adity\AppData\Local\Temp\claude\E--Webneco-Apps-cimet-qa\5d6d9e1f-a3b0-4938-a5a9-44ec7bd4cb64\scratchpad\deck\crops\passed.png"/>
          <p:cNvPicPr>
            <a:picLocks noChangeAspect="1"/>
          </p:cNvPicPr>
          <p:nvPr/>
        </p:nvPicPr>
        <p:blipFill>
          <a:blip r:embed="rId4"/>
          <a:stretch>
            <a:fillRect/>
          </a:stretch>
        </p:blipFill>
        <p:spPr>
          <a:xfrm>
            <a:off x="4434840" y="1788233"/>
            <a:ext cx="2926080" cy="4515973"/>
          </a:xfrm>
          <a:prstGeom prst="rect">
            <a:avLst/>
          </a:prstGeom>
        </p:spPr>
      </p:pic>
      <p:sp>
        <p:nvSpPr>
          <p:cNvPr id="12" name="Shape 7"/>
          <p:cNvSpPr/>
          <p:nvPr/>
        </p:nvSpPr>
        <p:spPr>
          <a:xfrm>
            <a:off x="7818120" y="1783080"/>
            <a:ext cx="3840480" cy="1417320"/>
          </a:xfrm>
          <a:prstGeom prst="roundRect">
            <a:avLst>
              <a:gd name="adj" fmla="val 6452"/>
            </a:avLst>
          </a:prstGeom>
          <a:solidFill>
            <a:srgbClr val="1A2332"/>
          </a:solidFill>
          <a:ln w="9525">
            <a:solidFill>
              <a:srgbClr val="263248"/>
            </a:solidFill>
            <a:prstDash val="solid"/>
          </a:ln>
        </p:spPr>
        <p:txBody>
          <a:bodyPr/>
          <a:lstStyle/>
          <a:p>
            <a:endParaRPr lang="en-IN"/>
          </a:p>
        </p:txBody>
      </p:sp>
      <p:sp>
        <p:nvSpPr>
          <p:cNvPr id="13" name="Text 8"/>
          <p:cNvSpPr txBox="1"/>
          <p:nvPr/>
        </p:nvSpPr>
        <p:spPr>
          <a:xfrm>
            <a:off x="8092440" y="1938528"/>
            <a:ext cx="1463040" cy="228600"/>
          </a:xfrm>
          <a:prstGeom prst="rect">
            <a:avLst/>
          </a:prstGeom>
          <a:noFill/>
          <a:ln/>
        </p:spPr>
        <p:txBody>
          <a:bodyPr wrap="square" lIns="0" tIns="0" rIns="0" bIns="0" rtlCol="0" anchor="t"/>
          <a:lstStyle/>
          <a:p>
            <a:pPr marL="0" indent="0">
              <a:buNone/>
            </a:pPr>
            <a:r>
              <a:rPr lang="en-US" sz="1000" b="1" kern="0" spc="100" dirty="0">
                <a:solidFill>
                  <a:srgbClr val="6F7C94"/>
                </a:solidFill>
                <a:latin typeface="Calibri" pitchFamily="34" charset="0"/>
                <a:ea typeface="Calibri" pitchFamily="34" charset="-122"/>
                <a:cs typeface="Calibri" pitchFamily="34" charset="-120"/>
              </a:rPr>
              <a:t>SAID</a:t>
            </a:r>
            <a:endParaRPr lang="en-US" sz="1000" dirty="0"/>
          </a:p>
        </p:txBody>
      </p:sp>
      <p:sp>
        <p:nvSpPr>
          <p:cNvPr id="14" name="Text 9"/>
          <p:cNvSpPr txBox="1"/>
          <p:nvPr/>
        </p:nvSpPr>
        <p:spPr>
          <a:xfrm>
            <a:off x="9921240" y="1938528"/>
            <a:ext cx="1463040" cy="228600"/>
          </a:xfrm>
          <a:prstGeom prst="rect">
            <a:avLst/>
          </a:prstGeom>
          <a:noFill/>
          <a:ln/>
        </p:spPr>
        <p:txBody>
          <a:bodyPr wrap="square" lIns="0" tIns="0" rIns="0" bIns="0" rtlCol="0" anchor="t"/>
          <a:lstStyle/>
          <a:p>
            <a:pPr marL="0" indent="0">
              <a:buNone/>
            </a:pPr>
            <a:r>
              <a:rPr lang="en-US" sz="1000" b="1" kern="0" spc="100" dirty="0">
                <a:solidFill>
                  <a:srgbClr val="6F7C94"/>
                </a:solidFill>
                <a:latin typeface="Calibri" pitchFamily="34" charset="0"/>
                <a:ea typeface="Calibri" pitchFamily="34" charset="-122"/>
                <a:cs typeface="Calibri" pitchFamily="34" charset="-120"/>
              </a:rPr>
              <a:t>EXPECTED</a:t>
            </a:r>
            <a:endParaRPr lang="en-US" sz="1000" dirty="0"/>
          </a:p>
        </p:txBody>
      </p:sp>
      <p:sp>
        <p:nvSpPr>
          <p:cNvPr id="15" name="Text 10"/>
          <p:cNvSpPr txBox="1"/>
          <p:nvPr/>
        </p:nvSpPr>
        <p:spPr>
          <a:xfrm>
            <a:off x="8092440" y="2212848"/>
            <a:ext cx="1463040" cy="548640"/>
          </a:xfrm>
          <a:prstGeom prst="rect">
            <a:avLst/>
          </a:prstGeom>
          <a:noFill/>
          <a:ln/>
        </p:spPr>
        <p:txBody>
          <a:bodyPr wrap="square" lIns="0" tIns="0" rIns="0" bIns="0" rtlCol="0" anchor="ctr"/>
          <a:lstStyle/>
          <a:p>
            <a:pPr marL="0" indent="0">
              <a:buNone/>
            </a:pPr>
            <a:r>
              <a:rPr lang="en-US" sz="3000" b="1" dirty="0">
                <a:solidFill>
                  <a:srgbClr val="F87171"/>
                </a:solidFill>
                <a:latin typeface="Courier New" pitchFamily="34" charset="0"/>
                <a:ea typeface="Courier New" pitchFamily="34" charset="-122"/>
                <a:cs typeface="Courier New" pitchFamily="34" charset="-120"/>
              </a:rPr>
              <a:t>28.6</a:t>
            </a:r>
            <a:endParaRPr lang="en-US" sz="3000" dirty="0"/>
          </a:p>
        </p:txBody>
      </p:sp>
      <p:sp>
        <p:nvSpPr>
          <p:cNvPr id="16" name="Text 11"/>
          <p:cNvSpPr txBox="1"/>
          <p:nvPr/>
        </p:nvSpPr>
        <p:spPr>
          <a:xfrm>
            <a:off x="9418320" y="2212848"/>
            <a:ext cx="457200" cy="548640"/>
          </a:xfrm>
          <a:prstGeom prst="rect">
            <a:avLst/>
          </a:prstGeom>
          <a:noFill/>
          <a:ln/>
        </p:spPr>
        <p:txBody>
          <a:bodyPr wrap="square" lIns="0" tIns="0" rIns="0" bIns="0" rtlCol="0" anchor="ctr"/>
          <a:lstStyle/>
          <a:p>
            <a:pPr marL="0" indent="0" algn="ctr">
              <a:buNone/>
            </a:pPr>
            <a:r>
              <a:rPr lang="en-US" sz="2600" dirty="0">
                <a:solidFill>
                  <a:srgbClr val="6F7C94"/>
                </a:solidFill>
                <a:latin typeface="Calibri" pitchFamily="34" charset="0"/>
                <a:ea typeface="Calibri" pitchFamily="34" charset="-122"/>
                <a:cs typeface="Calibri" pitchFamily="34" charset="-120"/>
              </a:rPr>
              <a:t>≠</a:t>
            </a:r>
            <a:endParaRPr lang="en-US" sz="2600" dirty="0"/>
          </a:p>
        </p:txBody>
      </p:sp>
      <p:sp>
        <p:nvSpPr>
          <p:cNvPr id="17" name="Text 12"/>
          <p:cNvSpPr txBox="1"/>
          <p:nvPr/>
        </p:nvSpPr>
        <p:spPr>
          <a:xfrm>
            <a:off x="9921240" y="2212848"/>
            <a:ext cx="1463040" cy="548640"/>
          </a:xfrm>
          <a:prstGeom prst="rect">
            <a:avLst/>
          </a:prstGeom>
          <a:noFill/>
          <a:ln/>
        </p:spPr>
        <p:txBody>
          <a:bodyPr wrap="square" lIns="0" tIns="0" rIns="0" bIns="0" rtlCol="0" anchor="ctr"/>
          <a:lstStyle/>
          <a:p>
            <a:pPr marL="0" indent="0">
              <a:buNone/>
            </a:pPr>
            <a:r>
              <a:rPr lang="en-US" sz="3000" b="1" dirty="0">
                <a:solidFill>
                  <a:srgbClr val="E8EDF6"/>
                </a:solidFill>
                <a:latin typeface="Courier New" pitchFamily="34" charset="0"/>
                <a:ea typeface="Courier New" pitchFamily="34" charset="-122"/>
                <a:cs typeface="Courier New" pitchFamily="34" charset="-120"/>
              </a:rPr>
              <a:t>31.9</a:t>
            </a:r>
            <a:endParaRPr lang="en-US" sz="3000" dirty="0"/>
          </a:p>
        </p:txBody>
      </p:sp>
      <p:sp>
        <p:nvSpPr>
          <p:cNvPr id="18" name="Text 13"/>
          <p:cNvSpPr txBox="1"/>
          <p:nvPr/>
        </p:nvSpPr>
        <p:spPr>
          <a:xfrm>
            <a:off x="8092440" y="2788920"/>
            <a:ext cx="3474720" cy="27432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c/kWh at 14:02 — 3.3c below the plan sold</a:t>
            </a:r>
            <a:endParaRPr lang="en-US" sz="1150" dirty="0"/>
          </a:p>
        </p:txBody>
      </p:sp>
      <p:sp>
        <p:nvSpPr>
          <p:cNvPr id="19" name="Text 14"/>
          <p:cNvSpPr txBox="1"/>
          <p:nvPr/>
        </p:nvSpPr>
        <p:spPr>
          <a:xfrm>
            <a:off x="7818120" y="3474720"/>
            <a:ext cx="3840480" cy="2743200"/>
          </a:xfrm>
          <a:prstGeom prst="rect">
            <a:avLst/>
          </a:prstGeom>
          <a:noFill/>
          <a:ln/>
        </p:spPr>
        <p:txBody>
          <a:bodyPr wrap="square" lIns="0" tIns="0" rIns="0" bIns="0" rtlCol="0" anchor="t"/>
          <a:lstStyle/>
          <a:p>
            <a:pPr marL="203200" indent="-203200">
              <a:spcAft>
                <a:spcPts val="700"/>
              </a:spcAft>
              <a:buSzPct val="100000"/>
              <a:buChar char="•"/>
            </a:pPr>
            <a:r>
              <a:rPr lang="en-US" sz="1250" b="1" dirty="0">
                <a:solidFill>
                  <a:srgbClr val="E8EDF6"/>
                </a:solidFill>
                <a:latin typeface="Calibri" pitchFamily="34" charset="0"/>
                <a:ea typeface="Calibri" pitchFamily="34" charset="-122"/>
                <a:cs typeface="Calibri" pitchFamily="34" charset="-120"/>
              </a:rPr>
              <a:t>Every card has:</a:t>
            </a:r>
            <a:r>
              <a:rPr lang="en-US" sz="1250" dirty="0">
                <a:solidFill>
                  <a:srgbClr val="A3AEC3"/>
                </a:solidFill>
                <a:latin typeface="Calibri" pitchFamily="34" charset="0"/>
                <a:ea typeface="Calibri" pitchFamily="34" charset="-122"/>
                <a:cs typeface="Calibri" pitchFamily="34" charset="-120"/>
              </a:rPr>
              <a:t> the check, section, time, said vs expected, one-line reason, CRITICAL / TYPE / confidence, Play 20s and Override.</a:t>
            </a:r>
            <a:endParaRPr lang="en-US" sz="1250" dirty="0"/>
          </a:p>
          <a:p>
            <a:pPr marL="203200" indent="-203200">
              <a:spcAft>
                <a:spcPts val="700"/>
              </a:spcAft>
              <a:buSzPct val="100000"/>
              <a:buChar char="•"/>
            </a:pPr>
            <a:r>
              <a:rPr lang="en-US" sz="1250" b="1" dirty="0">
                <a:solidFill>
                  <a:srgbClr val="E8EDF6"/>
                </a:solidFill>
                <a:latin typeface="Calibri" pitchFamily="34" charset="0"/>
                <a:ea typeface="Calibri" pitchFamily="34" charset="-122"/>
                <a:cs typeface="Calibri" pitchFamily="34" charset="-120"/>
              </a:rPr>
              <a:t>Missing script wording</a:t>
            </a:r>
            <a:r>
              <a:rPr lang="en-US" sz="1250" dirty="0">
                <a:solidFill>
                  <a:srgbClr val="A3AEC3"/>
                </a:solidFill>
                <a:latin typeface="Calibri" pitchFamily="34" charset="0"/>
                <a:ea typeface="Calibri" pitchFamily="34" charset="-122"/>
                <a:cs typeface="Calibri" pitchFamily="34" charset="-120"/>
              </a:rPr>
              <a:t> is listed phrase by phrase with how much of it was found.</a:t>
            </a:r>
            <a:endParaRPr lang="en-US" sz="1250" dirty="0"/>
          </a:p>
          <a:p>
            <a:pPr marL="203200" indent="-203200">
              <a:spcAft>
                <a:spcPts val="700"/>
              </a:spcAft>
              <a:buSzPct val="100000"/>
              <a:buChar char="•"/>
            </a:pPr>
            <a:r>
              <a:rPr lang="en-US" sz="1250" b="1" dirty="0">
                <a:solidFill>
                  <a:srgbClr val="E8EDF6"/>
                </a:solidFill>
                <a:latin typeface="Calibri" pitchFamily="34" charset="0"/>
                <a:ea typeface="Calibri" pitchFamily="34" charset="-122"/>
                <a:cs typeface="Calibri" pitchFamily="34" charset="-120"/>
              </a:rPr>
              <a:t>Sorted for action:</a:t>
            </a:r>
            <a:r>
              <a:rPr lang="en-US" sz="1250" dirty="0">
                <a:solidFill>
                  <a:srgbClr val="A3AEC3"/>
                </a:solidFill>
                <a:latin typeface="Calibri" pitchFamily="34" charset="0"/>
                <a:ea typeface="Calibri" pitchFamily="34" charset="-122"/>
                <a:cs typeface="Calibri" pitchFamily="34" charset="-120"/>
              </a:rPr>
              <a:t> critical first, fails before unsure, then call order.</a:t>
            </a:r>
            <a:endParaRPr lang="en-US" sz="1250" dirty="0"/>
          </a:p>
          <a:p>
            <a:pPr marL="203200" indent="-203200">
              <a:spcAft>
                <a:spcPts val="700"/>
              </a:spcAft>
              <a:buSzPct val="100000"/>
              <a:buChar char="•"/>
            </a:pPr>
            <a:r>
              <a:rPr lang="en-US" sz="1250" b="1" dirty="0">
                <a:solidFill>
                  <a:srgbClr val="E8EDF6"/>
                </a:solidFill>
                <a:latin typeface="Calibri" pitchFamily="34" charset="0"/>
                <a:ea typeface="Calibri" pitchFamily="34" charset="-122"/>
                <a:cs typeface="Calibri" pitchFamily="34" charset="-120"/>
              </a:rPr>
              <a:t>Passed + coaching notes</a:t>
            </a:r>
            <a:r>
              <a:rPr lang="en-US" sz="1250" dirty="0">
                <a:solidFill>
                  <a:srgbClr val="A3AEC3"/>
                </a:solidFill>
                <a:latin typeface="Calibri" pitchFamily="34" charset="0"/>
                <a:ea typeface="Calibri" pitchFamily="34" charset="-122"/>
                <a:cs typeface="Calibri" pitchFamily="34" charset="-120"/>
              </a:rPr>
              <a:t> fold away (right) — one click from their own evidence.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12 · EVIDENCE</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Every verdict shows its working</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Nothing a team leader is asked to trust is hidden.</a:t>
            </a:r>
            <a:endParaRPr lang="en-US" sz="1500" dirty="0"/>
          </a:p>
        </p:txBody>
      </p:sp>
      <p:sp>
        <p:nvSpPr>
          <p:cNvPr id="8" name="Shape 5"/>
          <p:cNvSpPr/>
          <p:nvPr/>
        </p:nvSpPr>
        <p:spPr>
          <a:xfrm>
            <a:off x="493776" y="1728216"/>
            <a:ext cx="3042486" cy="4636008"/>
          </a:xfrm>
          <a:prstGeom prst="roundRect">
            <a:avLst>
              <a:gd name="adj" fmla="val 2404"/>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evidence.png"/>
          <p:cNvPicPr>
            <a:picLocks noChangeAspect="1"/>
          </p:cNvPicPr>
          <p:nvPr/>
        </p:nvPicPr>
        <p:blipFill>
          <a:blip r:embed="rId3"/>
          <a:stretch>
            <a:fillRect/>
          </a:stretch>
        </p:blipFill>
        <p:spPr>
          <a:xfrm>
            <a:off x="548640" y="1783080"/>
            <a:ext cx="2932758" cy="4526280"/>
          </a:xfrm>
          <a:prstGeom prst="rect">
            <a:avLst/>
          </a:prstGeom>
        </p:spPr>
      </p:pic>
      <p:sp>
        <p:nvSpPr>
          <p:cNvPr id="10" name="Shape 6"/>
          <p:cNvSpPr/>
          <p:nvPr/>
        </p:nvSpPr>
        <p:spPr>
          <a:xfrm>
            <a:off x="4892040" y="182880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11" name="Text 7"/>
          <p:cNvSpPr txBox="1"/>
          <p:nvPr/>
        </p:nvSpPr>
        <p:spPr>
          <a:xfrm>
            <a:off x="5120640" y="193852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Quote</a:t>
            </a:r>
            <a:endParaRPr lang="en-US" sz="1350" dirty="0"/>
          </a:p>
        </p:txBody>
      </p:sp>
      <p:sp>
        <p:nvSpPr>
          <p:cNvPr id="12" name="Text 8"/>
          <p:cNvSpPr txBox="1"/>
          <p:nvPr/>
        </p:nvSpPr>
        <p:spPr>
          <a:xfrm>
            <a:off x="5120640" y="222199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verbatim line, speaker, turn and time</a:t>
            </a:r>
            <a:endParaRPr lang="en-US" sz="1100" dirty="0"/>
          </a:p>
        </p:txBody>
      </p:sp>
      <p:sp>
        <p:nvSpPr>
          <p:cNvPr id="13" name="Shape 9"/>
          <p:cNvSpPr/>
          <p:nvPr/>
        </p:nvSpPr>
        <p:spPr>
          <a:xfrm>
            <a:off x="8321040" y="182880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14" name="Text 10"/>
          <p:cNvSpPr txBox="1"/>
          <p:nvPr/>
        </p:nvSpPr>
        <p:spPr>
          <a:xfrm>
            <a:off x="8549640" y="193852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Spoken value</a:t>
            </a:r>
            <a:endParaRPr lang="en-US" sz="1350" dirty="0"/>
          </a:p>
        </p:txBody>
      </p:sp>
      <p:sp>
        <p:nvSpPr>
          <p:cNvPr id="15" name="Text 11"/>
          <p:cNvSpPr txBox="1"/>
          <p:nvPr/>
        </p:nvSpPr>
        <p:spPr>
          <a:xfrm>
            <a:off x="8549640" y="222199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what the extractor heard + its confidence</a:t>
            </a:r>
            <a:endParaRPr lang="en-US" sz="1100" dirty="0"/>
          </a:p>
        </p:txBody>
      </p:sp>
      <p:sp>
        <p:nvSpPr>
          <p:cNvPr id="16" name="Shape 12"/>
          <p:cNvSpPr/>
          <p:nvPr/>
        </p:nvSpPr>
        <p:spPr>
          <a:xfrm>
            <a:off x="4892040" y="269748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17" name="Text 13"/>
          <p:cNvSpPr txBox="1"/>
          <p:nvPr/>
        </p:nvSpPr>
        <p:spPr>
          <a:xfrm>
            <a:off x="5120640" y="280720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Reference</a:t>
            </a:r>
            <a:endParaRPr lang="en-US" sz="1350" dirty="0"/>
          </a:p>
        </p:txBody>
      </p:sp>
      <p:sp>
        <p:nvSpPr>
          <p:cNvPr id="18" name="Text 14"/>
          <p:cNvSpPr txBox="1"/>
          <p:nvPr/>
        </p:nvSpPr>
        <p:spPr>
          <a:xfrm>
            <a:off x="5120640" y="309067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the CRM / plan value and its source</a:t>
            </a:r>
            <a:endParaRPr lang="en-US" sz="1100" dirty="0"/>
          </a:p>
        </p:txBody>
      </p:sp>
      <p:sp>
        <p:nvSpPr>
          <p:cNvPr id="19" name="Shape 15"/>
          <p:cNvSpPr/>
          <p:nvPr/>
        </p:nvSpPr>
        <p:spPr>
          <a:xfrm>
            <a:off x="8321040" y="269748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20" name="Text 16"/>
          <p:cNvSpPr txBox="1"/>
          <p:nvPr/>
        </p:nvSpPr>
        <p:spPr>
          <a:xfrm>
            <a:off x="8549640" y="280720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Comparison</a:t>
            </a:r>
            <a:endParaRPr lang="en-US" sz="1350" dirty="0"/>
          </a:p>
        </p:txBody>
      </p:sp>
      <p:sp>
        <p:nvSpPr>
          <p:cNvPr id="21" name="Text 17"/>
          <p:cNvSpPr txBox="1"/>
          <p:nvPr/>
        </p:nvSpPr>
        <p:spPr>
          <a:xfrm>
            <a:off x="8549640" y="309067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match or mismatch, and exactly why</a:t>
            </a:r>
            <a:endParaRPr lang="en-US" sz="1100" dirty="0"/>
          </a:p>
        </p:txBody>
      </p:sp>
      <p:sp>
        <p:nvSpPr>
          <p:cNvPr id="22" name="Shape 18"/>
          <p:cNvSpPr/>
          <p:nvPr/>
        </p:nvSpPr>
        <p:spPr>
          <a:xfrm>
            <a:off x="4892040" y="356616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23" name="Text 19"/>
          <p:cNvSpPr txBox="1"/>
          <p:nvPr/>
        </p:nvSpPr>
        <p:spPr>
          <a:xfrm>
            <a:off x="5120640" y="367588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Extractor</a:t>
            </a:r>
            <a:endParaRPr lang="en-US" sz="1350" dirty="0"/>
          </a:p>
        </p:txBody>
      </p:sp>
      <p:sp>
        <p:nvSpPr>
          <p:cNvPr id="24" name="Text 20"/>
          <p:cNvSpPr txBox="1"/>
          <p:nvPr/>
        </p:nvSpPr>
        <p:spPr>
          <a:xfrm>
            <a:off x="5120640" y="395935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Claude model + effort, or the fallback — and why</a:t>
            </a:r>
            <a:endParaRPr lang="en-US" sz="1100" dirty="0"/>
          </a:p>
        </p:txBody>
      </p:sp>
      <p:sp>
        <p:nvSpPr>
          <p:cNvPr id="25" name="Shape 21"/>
          <p:cNvSpPr/>
          <p:nvPr/>
        </p:nvSpPr>
        <p:spPr>
          <a:xfrm>
            <a:off x="8321040" y="356616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26" name="Text 22"/>
          <p:cNvSpPr txBox="1"/>
          <p:nvPr/>
        </p:nvSpPr>
        <p:spPr>
          <a:xfrm>
            <a:off x="8549640" y="367588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Leak guard</a:t>
            </a:r>
            <a:endParaRPr lang="en-US" sz="1350" dirty="0"/>
          </a:p>
        </p:txBody>
      </p:sp>
      <p:sp>
        <p:nvSpPr>
          <p:cNvPr id="27" name="Text 23"/>
          <p:cNvSpPr txBox="1"/>
          <p:nvPr/>
        </p:nvSpPr>
        <p:spPr>
          <a:xfrm>
            <a:off x="8549640" y="395935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confirms the model never saw the reference</a:t>
            </a:r>
            <a:endParaRPr lang="en-US" sz="1100" dirty="0"/>
          </a:p>
        </p:txBody>
      </p:sp>
      <p:sp>
        <p:nvSpPr>
          <p:cNvPr id="28" name="Shape 24"/>
          <p:cNvSpPr/>
          <p:nvPr/>
        </p:nvSpPr>
        <p:spPr>
          <a:xfrm>
            <a:off x="4892040" y="443484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29" name="Text 25"/>
          <p:cNvSpPr txBox="1"/>
          <p:nvPr/>
        </p:nvSpPr>
        <p:spPr>
          <a:xfrm>
            <a:off x="5120640" y="454456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Grounding</a:t>
            </a:r>
            <a:endParaRPr lang="en-US" sz="1350" dirty="0"/>
          </a:p>
        </p:txBody>
      </p:sp>
      <p:sp>
        <p:nvSpPr>
          <p:cNvPr id="30" name="Text 26"/>
          <p:cNvSpPr txBox="1"/>
          <p:nvPr/>
        </p:nvSpPr>
        <p:spPr>
          <a:xfrm>
            <a:off x="5120640" y="482803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quote found in the transcript (and how closely)</a:t>
            </a:r>
            <a:endParaRPr lang="en-US" sz="1100" dirty="0"/>
          </a:p>
        </p:txBody>
      </p:sp>
      <p:sp>
        <p:nvSpPr>
          <p:cNvPr id="31" name="Shape 27"/>
          <p:cNvSpPr/>
          <p:nvPr/>
        </p:nvSpPr>
        <p:spPr>
          <a:xfrm>
            <a:off x="8321040" y="443484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32" name="Text 28"/>
          <p:cNvSpPr txBox="1"/>
          <p:nvPr/>
        </p:nvSpPr>
        <p:spPr>
          <a:xfrm>
            <a:off x="8549640" y="454456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Prompt SHA-256</a:t>
            </a:r>
            <a:endParaRPr lang="en-US" sz="1350" dirty="0"/>
          </a:p>
        </p:txBody>
      </p:sp>
      <p:sp>
        <p:nvSpPr>
          <p:cNvPr id="33" name="Text 29"/>
          <p:cNvSpPr txBox="1"/>
          <p:nvPr/>
        </p:nvSpPr>
        <p:spPr>
          <a:xfrm>
            <a:off x="8549640" y="482803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the exact prompt, reproducible</a:t>
            </a:r>
            <a:endParaRPr lang="en-US" sz="1100" dirty="0"/>
          </a:p>
        </p:txBody>
      </p:sp>
      <p:sp>
        <p:nvSpPr>
          <p:cNvPr id="34" name="Shape 30"/>
          <p:cNvSpPr/>
          <p:nvPr/>
        </p:nvSpPr>
        <p:spPr>
          <a:xfrm>
            <a:off x="4892040" y="530352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35" name="Text 31"/>
          <p:cNvSpPr txBox="1"/>
          <p:nvPr/>
        </p:nvSpPr>
        <p:spPr>
          <a:xfrm>
            <a:off x="5120640" y="541324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Check version</a:t>
            </a:r>
            <a:endParaRPr lang="en-US" sz="1350" dirty="0"/>
          </a:p>
        </p:txBody>
      </p:sp>
      <p:sp>
        <p:nvSpPr>
          <p:cNvPr id="36" name="Text 32"/>
          <p:cNvSpPr txBox="1"/>
          <p:nvPr/>
        </p:nvSpPr>
        <p:spPr>
          <a:xfrm>
            <a:off x="5120640" y="569671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e.g. 1.4.0, in force from 2026-09-01</a:t>
            </a:r>
            <a:endParaRPr lang="en-US" sz="1100" dirty="0"/>
          </a:p>
        </p:txBody>
      </p:sp>
      <p:sp>
        <p:nvSpPr>
          <p:cNvPr id="37" name="Shape 33"/>
          <p:cNvSpPr/>
          <p:nvPr/>
        </p:nvSpPr>
        <p:spPr>
          <a:xfrm>
            <a:off x="8321040" y="5303520"/>
            <a:ext cx="3246120" cy="749808"/>
          </a:xfrm>
          <a:prstGeom prst="roundRect">
            <a:avLst>
              <a:gd name="adj" fmla="val 12195"/>
            </a:avLst>
          </a:prstGeom>
          <a:solidFill>
            <a:srgbClr val="141B28"/>
          </a:solidFill>
          <a:ln w="9525">
            <a:solidFill>
              <a:srgbClr val="263248"/>
            </a:solidFill>
            <a:prstDash val="solid"/>
          </a:ln>
        </p:spPr>
        <p:txBody>
          <a:bodyPr/>
          <a:lstStyle/>
          <a:p>
            <a:endParaRPr lang="en-IN"/>
          </a:p>
        </p:txBody>
      </p:sp>
      <p:sp>
        <p:nvSpPr>
          <p:cNvPr id="38" name="Text 34"/>
          <p:cNvSpPr txBox="1"/>
          <p:nvPr/>
        </p:nvSpPr>
        <p:spPr>
          <a:xfrm>
            <a:off x="8549640" y="5413248"/>
            <a:ext cx="283464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Basis</a:t>
            </a:r>
            <a:endParaRPr lang="en-US" sz="1350" dirty="0"/>
          </a:p>
        </p:txBody>
      </p:sp>
      <p:sp>
        <p:nvSpPr>
          <p:cNvPr id="39" name="Text 35"/>
          <p:cNvSpPr txBox="1"/>
          <p:nvPr/>
        </p:nvSpPr>
        <p:spPr>
          <a:xfrm>
            <a:off x="8549640" y="5696712"/>
            <a:ext cx="2834640" cy="320040"/>
          </a:xfrm>
          <a:prstGeom prst="rect">
            <a:avLst/>
          </a:prstGeom>
          <a:noFill/>
          <a:ln/>
        </p:spPr>
        <p:txBody>
          <a:bodyPr wrap="square" lIns="0" tIns="0" rIns="0" bIns="0" rtlCol="0" anchor="t"/>
          <a:lstStyle/>
          <a:p>
            <a:pPr marL="0" indent="0">
              <a:buNone/>
            </a:pPr>
            <a:r>
              <a:rPr lang="en-US" sz="1100" dirty="0">
                <a:solidFill>
                  <a:srgbClr val="A3AEC3"/>
                </a:solidFill>
                <a:latin typeface="Calibri" pitchFamily="34" charset="0"/>
                <a:ea typeface="Calibri" pitchFamily="34" charset="-122"/>
                <a:cs typeface="Calibri" pitchFamily="34" charset="-120"/>
              </a:rPr>
              <a:t>e.g. NECF Rule 46 — price disclosure before consent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13 · CALL TIMELINE + AUDIO</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Click the timestamp, hear twenty seconds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“Nobody listened to thirty minutes to find that.” — the brief's worked example</a:t>
            </a:r>
            <a:endParaRPr lang="en-US" sz="1500" dirty="0"/>
          </a:p>
        </p:txBody>
      </p:sp>
      <p:sp>
        <p:nvSpPr>
          <p:cNvPr id="8" name="Shape 5"/>
          <p:cNvSpPr/>
          <p:nvPr/>
        </p:nvSpPr>
        <p:spPr>
          <a:xfrm>
            <a:off x="493776" y="1761940"/>
            <a:ext cx="11204143" cy="2145401"/>
          </a:xfrm>
          <a:prstGeom prst="roundRect">
            <a:avLst>
              <a:gd name="adj" fmla="val 3410"/>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timeline.png"/>
          <p:cNvPicPr>
            <a:picLocks noChangeAspect="1"/>
          </p:cNvPicPr>
          <p:nvPr/>
        </p:nvPicPr>
        <p:blipFill>
          <a:blip r:embed="rId3"/>
          <a:stretch>
            <a:fillRect/>
          </a:stretch>
        </p:blipFill>
        <p:spPr>
          <a:xfrm>
            <a:off x="548640" y="1816804"/>
            <a:ext cx="11094415" cy="2035673"/>
          </a:xfrm>
          <a:prstGeom prst="rect">
            <a:avLst/>
          </a:prstGeom>
        </p:spPr>
      </p:pic>
      <p:sp>
        <p:nvSpPr>
          <p:cNvPr id="10" name="Shape 6"/>
          <p:cNvSpPr/>
          <p:nvPr/>
        </p:nvSpPr>
        <p:spPr>
          <a:xfrm>
            <a:off x="548640" y="4251960"/>
            <a:ext cx="2651760" cy="1691640"/>
          </a:xfrm>
          <a:prstGeom prst="roundRect">
            <a:avLst>
              <a:gd name="adj" fmla="val 5405"/>
            </a:avLst>
          </a:prstGeom>
          <a:solidFill>
            <a:srgbClr val="141B28"/>
          </a:solidFill>
          <a:ln w="9525">
            <a:solidFill>
              <a:srgbClr val="263248"/>
            </a:solidFill>
            <a:prstDash val="solid"/>
          </a:ln>
        </p:spPr>
        <p:txBody>
          <a:bodyPr/>
          <a:lstStyle/>
          <a:p>
            <a:endParaRPr lang="en-IN"/>
          </a:p>
        </p:txBody>
      </p:sp>
      <p:sp>
        <p:nvSpPr>
          <p:cNvPr id="11" name="Shape 7"/>
          <p:cNvSpPr/>
          <p:nvPr/>
        </p:nvSpPr>
        <p:spPr>
          <a:xfrm>
            <a:off x="777240" y="4526280"/>
            <a:ext cx="164592" cy="164592"/>
          </a:xfrm>
          <a:prstGeom prst="ellipse">
            <a:avLst/>
          </a:prstGeom>
          <a:solidFill>
            <a:srgbClr val="6AA8FF"/>
          </a:solidFill>
          <a:ln w="12700">
            <a:solidFill>
              <a:srgbClr val="6AA8FF"/>
            </a:solidFill>
            <a:prstDash val="solid"/>
          </a:ln>
        </p:spPr>
        <p:txBody>
          <a:bodyPr/>
          <a:lstStyle/>
          <a:p>
            <a:endParaRPr lang="en-IN"/>
          </a:p>
        </p:txBody>
      </p:sp>
      <p:sp>
        <p:nvSpPr>
          <p:cNvPr id="12" name="Text 8"/>
          <p:cNvSpPr txBox="1"/>
          <p:nvPr/>
        </p:nvSpPr>
        <p:spPr>
          <a:xfrm>
            <a:off x="777240" y="4800600"/>
            <a:ext cx="2286000" cy="320040"/>
          </a:xfrm>
          <a:prstGeom prst="rect">
            <a:avLst/>
          </a:prstGeom>
          <a:noFill/>
          <a:ln/>
        </p:spPr>
        <p:txBody>
          <a:bodyPr wrap="square" lIns="0" tIns="0" rIns="0" bIns="0" rtlCol="0" anchor="t"/>
          <a:lstStyle/>
          <a:p>
            <a:pPr marL="0" indent="0">
              <a:buNone/>
            </a:pPr>
            <a:r>
              <a:rPr lang="en-US" sz="1450" b="1" dirty="0">
                <a:solidFill>
                  <a:srgbClr val="E8EDF6"/>
                </a:solidFill>
                <a:latin typeface="Calibri" pitchFamily="34" charset="0"/>
                <a:ea typeface="Calibri" pitchFamily="34" charset="-122"/>
                <a:cs typeface="Calibri" pitchFamily="34" charset="-120"/>
              </a:rPr>
              <a:t>Two lanes</a:t>
            </a:r>
            <a:endParaRPr lang="en-US" sz="1450" dirty="0"/>
          </a:p>
        </p:txBody>
      </p:sp>
      <p:sp>
        <p:nvSpPr>
          <p:cNvPr id="13" name="Text 9"/>
          <p:cNvSpPr txBox="1"/>
          <p:nvPr/>
        </p:nvSpPr>
        <p:spPr>
          <a:xfrm>
            <a:off x="777240" y="5148072"/>
            <a:ext cx="228600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Agent on top, customer below — who spoke when, at a glance.</a:t>
            </a:r>
            <a:endParaRPr lang="en-US" sz="1150" dirty="0"/>
          </a:p>
        </p:txBody>
      </p:sp>
      <p:sp>
        <p:nvSpPr>
          <p:cNvPr id="14" name="Shape 10"/>
          <p:cNvSpPr/>
          <p:nvPr/>
        </p:nvSpPr>
        <p:spPr>
          <a:xfrm>
            <a:off x="3355848" y="4251960"/>
            <a:ext cx="2651760" cy="1691640"/>
          </a:xfrm>
          <a:prstGeom prst="roundRect">
            <a:avLst>
              <a:gd name="adj" fmla="val 5405"/>
            </a:avLst>
          </a:prstGeom>
          <a:solidFill>
            <a:srgbClr val="141B28"/>
          </a:solidFill>
          <a:ln w="9525">
            <a:solidFill>
              <a:srgbClr val="263248"/>
            </a:solidFill>
            <a:prstDash val="solid"/>
          </a:ln>
        </p:spPr>
        <p:txBody>
          <a:bodyPr/>
          <a:lstStyle/>
          <a:p>
            <a:endParaRPr lang="en-IN"/>
          </a:p>
        </p:txBody>
      </p:sp>
      <p:sp>
        <p:nvSpPr>
          <p:cNvPr id="15" name="Shape 11"/>
          <p:cNvSpPr/>
          <p:nvPr/>
        </p:nvSpPr>
        <p:spPr>
          <a:xfrm>
            <a:off x="3584448" y="4526280"/>
            <a:ext cx="164592" cy="164592"/>
          </a:xfrm>
          <a:prstGeom prst="ellipse">
            <a:avLst/>
          </a:prstGeom>
          <a:solidFill>
            <a:srgbClr val="F87171"/>
          </a:solidFill>
          <a:ln w="12700">
            <a:solidFill>
              <a:srgbClr val="F87171"/>
            </a:solidFill>
            <a:prstDash val="solid"/>
          </a:ln>
        </p:spPr>
        <p:txBody>
          <a:bodyPr/>
          <a:lstStyle/>
          <a:p>
            <a:endParaRPr lang="en-IN"/>
          </a:p>
        </p:txBody>
      </p:sp>
      <p:sp>
        <p:nvSpPr>
          <p:cNvPr id="16" name="Text 12"/>
          <p:cNvSpPr txBox="1"/>
          <p:nvPr/>
        </p:nvSpPr>
        <p:spPr>
          <a:xfrm>
            <a:off x="3584448" y="4800600"/>
            <a:ext cx="2286000" cy="320040"/>
          </a:xfrm>
          <a:prstGeom prst="rect">
            <a:avLst/>
          </a:prstGeom>
          <a:noFill/>
          <a:ln/>
        </p:spPr>
        <p:txBody>
          <a:bodyPr wrap="square" lIns="0" tIns="0" rIns="0" bIns="0" rtlCol="0" anchor="t"/>
          <a:lstStyle/>
          <a:p>
            <a:pPr marL="0" indent="0">
              <a:buNone/>
            </a:pPr>
            <a:r>
              <a:rPr lang="en-US" sz="1450" b="1" dirty="0">
                <a:solidFill>
                  <a:srgbClr val="E8EDF6"/>
                </a:solidFill>
                <a:latin typeface="Calibri" pitchFamily="34" charset="0"/>
                <a:ea typeface="Calibri" pitchFamily="34" charset="-122"/>
                <a:cs typeface="Calibri" pitchFamily="34" charset="-120"/>
              </a:rPr>
              <a:t>A pin per check</a:t>
            </a:r>
            <a:endParaRPr lang="en-US" sz="1450" dirty="0"/>
          </a:p>
        </p:txBody>
      </p:sp>
      <p:sp>
        <p:nvSpPr>
          <p:cNvPr id="17" name="Text 13"/>
          <p:cNvSpPr txBox="1"/>
          <p:nvPr/>
        </p:nvSpPr>
        <p:spPr>
          <a:xfrm>
            <a:off x="3584448" y="5148072"/>
            <a:ext cx="228600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Red fail, amber unsure, green pass. Click: open the check + play it.</a:t>
            </a:r>
            <a:endParaRPr lang="en-US" sz="1150" dirty="0"/>
          </a:p>
        </p:txBody>
      </p:sp>
      <p:sp>
        <p:nvSpPr>
          <p:cNvPr id="18" name="Shape 14"/>
          <p:cNvSpPr/>
          <p:nvPr/>
        </p:nvSpPr>
        <p:spPr>
          <a:xfrm>
            <a:off x="6163056" y="4251960"/>
            <a:ext cx="2651760" cy="1691640"/>
          </a:xfrm>
          <a:prstGeom prst="roundRect">
            <a:avLst>
              <a:gd name="adj" fmla="val 5405"/>
            </a:avLst>
          </a:prstGeom>
          <a:solidFill>
            <a:srgbClr val="141B28"/>
          </a:solidFill>
          <a:ln w="9525">
            <a:solidFill>
              <a:srgbClr val="263248"/>
            </a:solidFill>
            <a:prstDash val="solid"/>
          </a:ln>
        </p:spPr>
        <p:txBody>
          <a:bodyPr/>
          <a:lstStyle/>
          <a:p>
            <a:endParaRPr lang="en-IN"/>
          </a:p>
        </p:txBody>
      </p:sp>
      <p:sp>
        <p:nvSpPr>
          <p:cNvPr id="19" name="Shape 15"/>
          <p:cNvSpPr/>
          <p:nvPr/>
        </p:nvSpPr>
        <p:spPr>
          <a:xfrm>
            <a:off x="6391656" y="4526280"/>
            <a:ext cx="164592" cy="164592"/>
          </a:xfrm>
          <a:prstGeom prst="ellipse">
            <a:avLst/>
          </a:prstGeom>
          <a:solidFill>
            <a:srgbClr val="FBBF24"/>
          </a:solidFill>
          <a:ln w="12700">
            <a:solidFill>
              <a:srgbClr val="FBBF24"/>
            </a:solidFill>
            <a:prstDash val="solid"/>
          </a:ln>
        </p:spPr>
        <p:txBody>
          <a:bodyPr/>
          <a:lstStyle/>
          <a:p>
            <a:endParaRPr lang="en-IN"/>
          </a:p>
        </p:txBody>
      </p:sp>
      <p:sp>
        <p:nvSpPr>
          <p:cNvPr id="20" name="Text 16"/>
          <p:cNvSpPr txBox="1"/>
          <p:nvPr/>
        </p:nvSpPr>
        <p:spPr>
          <a:xfrm>
            <a:off x="6391656" y="4800600"/>
            <a:ext cx="2286000" cy="320040"/>
          </a:xfrm>
          <a:prstGeom prst="rect">
            <a:avLst/>
          </a:prstGeom>
          <a:noFill/>
          <a:ln/>
        </p:spPr>
        <p:txBody>
          <a:bodyPr wrap="square" lIns="0" tIns="0" rIns="0" bIns="0" rtlCol="0" anchor="t"/>
          <a:lstStyle/>
          <a:p>
            <a:pPr marL="0" indent="0">
              <a:buNone/>
            </a:pPr>
            <a:r>
              <a:rPr lang="en-US" sz="1450" b="1" dirty="0">
                <a:solidFill>
                  <a:srgbClr val="E8EDF6"/>
                </a:solidFill>
                <a:latin typeface="Calibri" pitchFamily="34" charset="0"/>
                <a:ea typeface="Calibri" pitchFamily="34" charset="-122"/>
                <a:cs typeface="Calibri" pitchFamily="34" charset="-120"/>
              </a:rPr>
              <a:t>Dead air hatched</a:t>
            </a:r>
            <a:endParaRPr lang="en-US" sz="1450" dirty="0"/>
          </a:p>
        </p:txBody>
      </p:sp>
      <p:sp>
        <p:nvSpPr>
          <p:cNvPr id="21" name="Text 17"/>
          <p:cNvSpPr txBox="1"/>
          <p:nvPr/>
        </p:nvSpPr>
        <p:spPr>
          <a:xfrm>
            <a:off x="6391656" y="5148072"/>
            <a:ext cx="228600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Long silences shown where they happened; coaching only.</a:t>
            </a:r>
            <a:endParaRPr lang="en-US" sz="1150" dirty="0"/>
          </a:p>
        </p:txBody>
      </p:sp>
      <p:sp>
        <p:nvSpPr>
          <p:cNvPr id="22" name="Shape 18"/>
          <p:cNvSpPr/>
          <p:nvPr/>
        </p:nvSpPr>
        <p:spPr>
          <a:xfrm>
            <a:off x="8970264" y="4251960"/>
            <a:ext cx="2651760" cy="1691640"/>
          </a:xfrm>
          <a:prstGeom prst="roundRect">
            <a:avLst>
              <a:gd name="adj" fmla="val 5405"/>
            </a:avLst>
          </a:prstGeom>
          <a:solidFill>
            <a:srgbClr val="141B28"/>
          </a:solidFill>
          <a:ln w="9525">
            <a:solidFill>
              <a:srgbClr val="263248"/>
            </a:solidFill>
            <a:prstDash val="solid"/>
          </a:ln>
        </p:spPr>
        <p:txBody>
          <a:bodyPr/>
          <a:lstStyle/>
          <a:p>
            <a:endParaRPr lang="en-IN"/>
          </a:p>
        </p:txBody>
      </p:sp>
      <p:sp>
        <p:nvSpPr>
          <p:cNvPr id="23" name="Shape 19"/>
          <p:cNvSpPr/>
          <p:nvPr/>
        </p:nvSpPr>
        <p:spPr>
          <a:xfrm>
            <a:off x="9198864" y="4526280"/>
            <a:ext cx="164592" cy="164592"/>
          </a:xfrm>
          <a:prstGeom prst="ellipse">
            <a:avLst/>
          </a:prstGeom>
          <a:solidFill>
            <a:srgbClr val="34D399"/>
          </a:solidFill>
          <a:ln w="12700">
            <a:solidFill>
              <a:srgbClr val="34D399"/>
            </a:solidFill>
            <a:prstDash val="solid"/>
          </a:ln>
        </p:spPr>
        <p:txBody>
          <a:bodyPr/>
          <a:lstStyle/>
          <a:p>
            <a:endParaRPr lang="en-IN"/>
          </a:p>
        </p:txBody>
      </p:sp>
      <p:sp>
        <p:nvSpPr>
          <p:cNvPr id="24" name="Text 20"/>
          <p:cNvSpPr txBox="1"/>
          <p:nvPr/>
        </p:nvSpPr>
        <p:spPr>
          <a:xfrm>
            <a:off x="9198864" y="4800600"/>
            <a:ext cx="2286000" cy="320040"/>
          </a:xfrm>
          <a:prstGeom prst="rect">
            <a:avLst/>
          </a:prstGeom>
          <a:noFill/>
          <a:ln/>
        </p:spPr>
        <p:txBody>
          <a:bodyPr wrap="square" lIns="0" tIns="0" rIns="0" bIns="0" rtlCol="0" anchor="t"/>
          <a:lstStyle/>
          <a:p>
            <a:pPr marL="0" indent="0">
              <a:buNone/>
            </a:pPr>
            <a:r>
              <a:rPr lang="en-US" sz="1450" b="1" dirty="0">
                <a:solidFill>
                  <a:srgbClr val="E8EDF6"/>
                </a:solidFill>
                <a:latin typeface="Calibri" pitchFamily="34" charset="0"/>
                <a:ea typeface="Calibri" pitchFamily="34" charset="-122"/>
                <a:cs typeface="Calibri" pitchFamily="34" charset="-120"/>
              </a:rPr>
              <a:t>Playhead + highlight</a:t>
            </a:r>
            <a:endParaRPr lang="en-US" sz="1450" dirty="0"/>
          </a:p>
        </p:txBody>
      </p:sp>
      <p:sp>
        <p:nvSpPr>
          <p:cNvPr id="25" name="Text 21"/>
          <p:cNvSpPr txBox="1"/>
          <p:nvPr/>
        </p:nvSpPr>
        <p:spPr>
          <a:xfrm>
            <a:off x="9198864" y="5148072"/>
            <a:ext cx="228600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Follows the recording; the line being spoken lights up.</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14 · ON A REAL RECORDING</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Scribe transcript → Claude extraction → held in seconds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Lead 3613802: recording pushed through the webhook, transcribed by ElevenLabs Scribe.</a:t>
            </a:r>
            <a:endParaRPr lang="en-US" sz="1500" dirty="0"/>
          </a:p>
        </p:txBody>
      </p:sp>
      <p:sp>
        <p:nvSpPr>
          <p:cNvPr id="8" name="Shape 5"/>
          <p:cNvSpPr/>
          <p:nvPr/>
        </p:nvSpPr>
        <p:spPr>
          <a:xfrm>
            <a:off x="493776" y="1728216"/>
            <a:ext cx="8156448" cy="4636008"/>
          </a:xfrm>
          <a:prstGeom prst="roundRect">
            <a:avLst>
              <a:gd name="adj" fmla="val 1578"/>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audio.png"/>
          <p:cNvPicPr>
            <a:picLocks noChangeAspect="1"/>
          </p:cNvPicPr>
          <p:nvPr/>
        </p:nvPicPr>
        <p:blipFill>
          <a:blip r:embed="rId3"/>
          <a:stretch>
            <a:fillRect/>
          </a:stretch>
        </p:blipFill>
        <p:spPr>
          <a:xfrm>
            <a:off x="548640" y="1783080"/>
            <a:ext cx="8046720" cy="4526280"/>
          </a:xfrm>
          <a:prstGeom prst="rect">
            <a:avLst/>
          </a:prstGeom>
        </p:spPr>
      </p:pic>
      <p:sp>
        <p:nvSpPr>
          <p:cNvPr id="10" name="Text 6"/>
          <p:cNvSpPr txBox="1"/>
          <p:nvPr/>
        </p:nvSpPr>
        <p:spPr>
          <a:xfrm>
            <a:off x="8961120" y="1828800"/>
            <a:ext cx="2697480" cy="4389120"/>
          </a:xfrm>
          <a:prstGeom prst="rect">
            <a:avLst/>
          </a:prstGeom>
          <a:noFill/>
          <a:ln/>
        </p:spPr>
        <p:txBody>
          <a:bodyPr wrap="square" lIns="0" tIns="0" rIns="0" bIns="0" rtlCol="0" anchor="t"/>
          <a:lstStyle/>
          <a:p>
            <a:pPr marL="203200" indent="-203200">
              <a:spcAft>
                <a:spcPts val="1000"/>
              </a:spcAft>
              <a:buSzPct val="100000"/>
              <a:buChar char="•"/>
            </a:pPr>
            <a:r>
              <a:rPr lang="en-US" sz="1250" b="1" dirty="0">
                <a:solidFill>
                  <a:srgbClr val="E8EDF6"/>
                </a:solidFill>
                <a:latin typeface="Calibri" pitchFamily="34" charset="0"/>
                <a:ea typeface="Calibri" pitchFamily="34" charset="-122"/>
                <a:cs typeface="Calibri" pitchFamily="34" charset="-120"/>
              </a:rPr>
              <a:t>Source:</a:t>
            </a:r>
            <a:r>
              <a:rPr lang="en-US" sz="1250" dirty="0">
                <a:solidFill>
                  <a:srgbClr val="A3AEC3"/>
                </a:solidFill>
                <a:latin typeface="Calibri" pitchFamily="34" charset="0"/>
                <a:ea typeface="Calibri" pitchFamily="34" charset="-122"/>
                <a:cs typeface="Calibri" pitchFamily="34" charset="-120"/>
              </a:rPr>
              <a:t> “from dialler recording · elevenlabs:scribe_v1”, with the file's SHA-256.</a:t>
            </a:r>
            <a:endParaRPr lang="en-US" sz="1250" dirty="0"/>
          </a:p>
          <a:p>
            <a:pPr marL="203200" indent="-203200">
              <a:spcAft>
                <a:spcPts val="1000"/>
              </a:spcAft>
              <a:buSzPct val="100000"/>
              <a:buChar char="•"/>
            </a:pPr>
            <a:r>
              <a:rPr lang="en-US" sz="1250" b="1" dirty="0">
                <a:solidFill>
                  <a:srgbClr val="E8EDF6"/>
                </a:solidFill>
                <a:latin typeface="Calibri" pitchFamily="34" charset="0"/>
                <a:ea typeface="Calibri" pitchFamily="34" charset="-122"/>
                <a:cs typeface="Calibri" pitchFamily="34" charset="-120"/>
              </a:rPr>
              <a:t>Rate:</a:t>
            </a:r>
            <a:r>
              <a:rPr lang="en-US" sz="1250" dirty="0">
                <a:solidFill>
                  <a:srgbClr val="A3AEC3"/>
                </a:solidFill>
                <a:latin typeface="Calibri" pitchFamily="34" charset="0"/>
                <a:ea typeface="Calibri" pitchFamily="34" charset="-122"/>
                <a:cs typeface="Calibri" pitchFamily="34" charset="-120"/>
              </a:rPr>
              <a:t> said 27.9, plan 31.9 — critical fail at 01:38, confidence 0.97.</a:t>
            </a:r>
            <a:endParaRPr lang="en-US" sz="1250" dirty="0"/>
          </a:p>
          <a:p>
            <a:pPr marL="203200" indent="-203200">
              <a:spcAft>
                <a:spcPts val="1000"/>
              </a:spcAft>
              <a:buSzPct val="100000"/>
              <a:buChar char="•"/>
            </a:pPr>
            <a:r>
              <a:rPr lang="en-US" sz="1250" b="1" dirty="0">
                <a:solidFill>
                  <a:srgbClr val="E8EDF6"/>
                </a:solidFill>
                <a:latin typeface="Calibri" pitchFamily="34" charset="0"/>
                <a:ea typeface="Calibri" pitchFamily="34" charset="-122"/>
                <a:cs typeface="Calibri" pitchFamily="34" charset="-120"/>
              </a:rPr>
              <a:t>Email:</a:t>
            </a:r>
            <a:r>
              <a:rPr lang="en-US" sz="1250" dirty="0">
                <a:solidFill>
                  <a:srgbClr val="A3AEC3"/>
                </a:solidFill>
                <a:latin typeface="Calibri" pitchFamily="34" charset="0"/>
                <a:ea typeface="Calibri" pitchFamily="34" charset="-122"/>
                <a:cs typeface="Calibri" pitchFamily="34" charset="-120"/>
              </a:rPr>
              <a:t> unsure (G7) — Scribe wrote “raman” for “rahman”, which audio can't settle.</a:t>
            </a:r>
            <a:endParaRPr lang="en-US" sz="1250" dirty="0"/>
          </a:p>
          <a:p>
            <a:pPr marL="203200" indent="-203200">
              <a:spcAft>
                <a:spcPts val="1000"/>
              </a:spcAft>
              <a:buSzPct val="100000"/>
              <a:buChar char="•"/>
            </a:pPr>
            <a:r>
              <a:rPr lang="en-US" sz="1250" b="1" dirty="0">
                <a:solidFill>
                  <a:srgbClr val="E8EDF6"/>
                </a:solidFill>
                <a:latin typeface="Calibri" pitchFamily="34" charset="0"/>
                <a:ea typeface="Calibri" pitchFamily="34" charset="-122"/>
                <a:cs typeface="Calibri" pitchFamily="34" charset="-120"/>
              </a:rPr>
              <a:t>Verdict:</a:t>
            </a:r>
            <a:r>
              <a:rPr lang="en-US" sz="1250" dirty="0">
                <a:solidFill>
                  <a:srgbClr val="A3AEC3"/>
                </a:solidFill>
                <a:latin typeface="Calibri" pitchFamily="34" charset="0"/>
                <a:ea typeface="Calibri" pitchFamily="34" charset="-122"/>
                <a:cs typeface="Calibri" pitchFamily="34" charset="-120"/>
              </a:rPr>
              <a:t> HELD, routed to team leader review.</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15 · TABS</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The record and the audit trail, one click away</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CRM &amp; plan are read-only — the app never writes to the CRM.</a:t>
            </a:r>
            <a:endParaRPr lang="en-US" sz="1500" dirty="0"/>
          </a:p>
        </p:txBody>
      </p:sp>
      <p:sp>
        <p:nvSpPr>
          <p:cNvPr id="8" name="Shape 5"/>
          <p:cNvSpPr/>
          <p:nvPr/>
        </p:nvSpPr>
        <p:spPr>
          <a:xfrm>
            <a:off x="493776" y="1749258"/>
            <a:ext cx="8247888" cy="2399363"/>
          </a:xfrm>
          <a:prstGeom prst="roundRect">
            <a:avLst>
              <a:gd name="adj" fmla="val 3049"/>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record.png"/>
          <p:cNvPicPr>
            <a:picLocks noChangeAspect="1"/>
          </p:cNvPicPr>
          <p:nvPr/>
        </p:nvPicPr>
        <p:blipFill>
          <a:blip r:embed="rId3"/>
          <a:stretch>
            <a:fillRect/>
          </a:stretch>
        </p:blipFill>
        <p:spPr>
          <a:xfrm>
            <a:off x="548640" y="1804122"/>
            <a:ext cx="8138160" cy="2289635"/>
          </a:xfrm>
          <a:prstGeom prst="rect">
            <a:avLst/>
          </a:prstGeom>
        </p:spPr>
      </p:pic>
      <p:sp>
        <p:nvSpPr>
          <p:cNvPr id="10" name="Text 6"/>
          <p:cNvSpPr txBox="1"/>
          <p:nvPr/>
        </p:nvSpPr>
        <p:spPr>
          <a:xfrm>
            <a:off x="548640" y="4224528"/>
            <a:ext cx="8138160" cy="274320"/>
          </a:xfrm>
          <a:prstGeom prst="rect">
            <a:avLst/>
          </a:prstGeom>
          <a:noFill/>
          <a:ln/>
        </p:spPr>
        <p:txBody>
          <a:bodyPr wrap="square" lIns="0" tIns="0" rIns="0" bIns="0" rtlCol="0" anchor="t"/>
          <a:lstStyle/>
          <a:p>
            <a:pPr marL="0" indent="0">
              <a:buNone/>
            </a:pPr>
            <a:r>
              <a:rPr lang="en-US" sz="1200" dirty="0">
                <a:solidFill>
                  <a:srgbClr val="6F7C94"/>
                </a:solidFill>
                <a:latin typeface="Calibri" pitchFamily="34" charset="0"/>
                <a:ea typeface="Calibri" pitchFamily="34" charset="-122"/>
                <a:cs typeface="Calibri" pitchFamily="34" charset="-120"/>
              </a:rPr>
              <a:t>CRM &amp; plan: read-only; the failed field is flagged — the CRM holds j.smith@gmial.com.</a:t>
            </a:r>
            <a:endParaRPr lang="en-US" sz="1200" dirty="0"/>
          </a:p>
        </p:txBody>
      </p:sp>
      <p:sp>
        <p:nvSpPr>
          <p:cNvPr id="11" name="Shape 7"/>
          <p:cNvSpPr/>
          <p:nvPr/>
        </p:nvSpPr>
        <p:spPr>
          <a:xfrm>
            <a:off x="548640" y="4663440"/>
            <a:ext cx="8138160" cy="1600200"/>
          </a:xfrm>
          <a:prstGeom prst="roundRect">
            <a:avLst>
              <a:gd name="adj" fmla="val 5714"/>
            </a:avLst>
          </a:prstGeom>
          <a:solidFill>
            <a:srgbClr val="1A2332"/>
          </a:solidFill>
          <a:ln w="9525">
            <a:solidFill>
              <a:srgbClr val="263248"/>
            </a:solidFill>
            <a:prstDash val="solid"/>
          </a:ln>
        </p:spPr>
        <p:txBody>
          <a:bodyPr/>
          <a:lstStyle/>
          <a:p>
            <a:endParaRPr lang="en-IN"/>
          </a:p>
        </p:txBody>
      </p:sp>
      <p:sp>
        <p:nvSpPr>
          <p:cNvPr id="12" name="Text 8"/>
          <p:cNvSpPr txBox="1"/>
          <p:nvPr/>
        </p:nvSpPr>
        <p:spPr>
          <a:xfrm>
            <a:off x="822960" y="4800600"/>
            <a:ext cx="75895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Redacted leads stay redacted</a:t>
            </a:r>
            <a:endParaRPr lang="en-US" sz="1500" dirty="0"/>
          </a:p>
        </p:txBody>
      </p:sp>
      <p:sp>
        <p:nvSpPr>
          <p:cNvPr id="13" name="Text 9"/>
          <p:cNvSpPr txBox="1"/>
          <p:nvPr/>
        </p:nvSpPr>
        <p:spPr>
          <a:xfrm>
            <a:off x="822960" y="5138928"/>
            <a:ext cx="7589520" cy="3657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On the NBN artefact the CRM record shows the placeholder tags exactly as supplied - nothing is re-identified or filled in.</a:t>
            </a:r>
            <a:endParaRPr lang="en-US" sz="1200" dirty="0"/>
          </a:p>
        </p:txBody>
      </p:sp>
      <p:sp>
        <p:nvSpPr>
          <p:cNvPr id="14" name="Shape 10"/>
          <p:cNvSpPr/>
          <p:nvPr/>
        </p:nvSpPr>
        <p:spPr>
          <a:xfrm>
            <a:off x="822960" y="5669280"/>
            <a:ext cx="1700784"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15" name="Text 11"/>
          <p:cNvSpPr txBox="1"/>
          <p:nvPr/>
        </p:nvSpPr>
        <p:spPr>
          <a:xfrm>
            <a:off x="822960" y="5669280"/>
            <a:ext cx="1700784"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[CUSTOMER_FULL_NAME]</a:t>
            </a:r>
            <a:endParaRPr lang="en-US" sz="1050" dirty="0"/>
          </a:p>
        </p:txBody>
      </p:sp>
      <p:sp>
        <p:nvSpPr>
          <p:cNvPr id="16" name="Shape 12"/>
          <p:cNvSpPr/>
          <p:nvPr/>
        </p:nvSpPr>
        <p:spPr>
          <a:xfrm>
            <a:off x="2633472" y="5669280"/>
            <a:ext cx="690372"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17" name="Text 13"/>
          <p:cNvSpPr txBox="1"/>
          <p:nvPr/>
        </p:nvSpPr>
        <p:spPr>
          <a:xfrm>
            <a:off x="2633472" y="5669280"/>
            <a:ext cx="690372"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[EMAIL]</a:t>
            </a:r>
            <a:endParaRPr lang="en-US" sz="1050" dirty="0"/>
          </a:p>
        </p:txBody>
      </p:sp>
      <p:sp>
        <p:nvSpPr>
          <p:cNvPr id="18" name="Shape 14"/>
          <p:cNvSpPr/>
          <p:nvPr/>
        </p:nvSpPr>
        <p:spPr>
          <a:xfrm>
            <a:off x="3433572" y="5669280"/>
            <a:ext cx="690372"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19" name="Text 15"/>
          <p:cNvSpPr txBox="1"/>
          <p:nvPr/>
        </p:nvSpPr>
        <p:spPr>
          <a:xfrm>
            <a:off x="3433572" y="5669280"/>
            <a:ext cx="690372"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[PHONE]</a:t>
            </a:r>
            <a:endParaRPr lang="en-US" sz="1050" dirty="0"/>
          </a:p>
        </p:txBody>
      </p:sp>
      <p:sp>
        <p:nvSpPr>
          <p:cNvPr id="20" name="Shape 16"/>
          <p:cNvSpPr/>
          <p:nvPr/>
        </p:nvSpPr>
        <p:spPr>
          <a:xfrm>
            <a:off x="4233672" y="5669280"/>
            <a:ext cx="534924"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21" name="Text 17"/>
          <p:cNvSpPr txBox="1"/>
          <p:nvPr/>
        </p:nvSpPr>
        <p:spPr>
          <a:xfrm>
            <a:off x="4233672" y="5669280"/>
            <a:ext cx="534924"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[DOB]</a:t>
            </a:r>
            <a:endParaRPr lang="en-US" sz="1050" dirty="0"/>
          </a:p>
        </p:txBody>
      </p:sp>
      <p:sp>
        <p:nvSpPr>
          <p:cNvPr id="22" name="Shape 18"/>
          <p:cNvSpPr/>
          <p:nvPr/>
        </p:nvSpPr>
        <p:spPr>
          <a:xfrm>
            <a:off x="4878324" y="5669280"/>
            <a:ext cx="1467612"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23" name="Text 19"/>
          <p:cNvSpPr txBox="1"/>
          <p:nvPr/>
        </p:nvSpPr>
        <p:spPr>
          <a:xfrm>
            <a:off x="4878324" y="5669280"/>
            <a:ext cx="1467612"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[SERVICE_ADDRESS]</a:t>
            </a:r>
            <a:endParaRPr lang="en-US" sz="1050" dirty="0"/>
          </a:p>
        </p:txBody>
      </p:sp>
      <p:sp>
        <p:nvSpPr>
          <p:cNvPr id="24" name="Shape 20"/>
          <p:cNvSpPr/>
          <p:nvPr/>
        </p:nvSpPr>
        <p:spPr>
          <a:xfrm>
            <a:off x="9006840" y="1783080"/>
            <a:ext cx="2633472" cy="1005840"/>
          </a:xfrm>
          <a:prstGeom prst="roundRect">
            <a:avLst>
              <a:gd name="adj" fmla="val 9091"/>
            </a:avLst>
          </a:prstGeom>
          <a:solidFill>
            <a:srgbClr val="141B28"/>
          </a:solidFill>
          <a:ln w="9525">
            <a:solidFill>
              <a:srgbClr val="263248"/>
            </a:solidFill>
            <a:prstDash val="solid"/>
          </a:ln>
        </p:spPr>
        <p:txBody>
          <a:bodyPr/>
          <a:lstStyle/>
          <a:p>
            <a:endParaRPr lang="en-IN"/>
          </a:p>
        </p:txBody>
      </p:sp>
      <p:sp>
        <p:nvSpPr>
          <p:cNvPr id="25" name="Shape 21"/>
          <p:cNvSpPr/>
          <p:nvPr/>
        </p:nvSpPr>
        <p:spPr>
          <a:xfrm>
            <a:off x="9208008" y="1984248"/>
            <a:ext cx="137160" cy="137160"/>
          </a:xfrm>
          <a:prstGeom prst="ellipse">
            <a:avLst/>
          </a:prstGeom>
          <a:solidFill>
            <a:srgbClr val="6AA8FF"/>
          </a:solidFill>
          <a:ln w="12700">
            <a:solidFill>
              <a:srgbClr val="6AA8FF"/>
            </a:solidFill>
            <a:prstDash val="solid"/>
          </a:ln>
        </p:spPr>
        <p:txBody>
          <a:bodyPr/>
          <a:lstStyle/>
          <a:p>
            <a:endParaRPr lang="en-IN"/>
          </a:p>
        </p:txBody>
      </p:sp>
      <p:sp>
        <p:nvSpPr>
          <p:cNvPr id="26" name="Text 22"/>
          <p:cNvSpPr txBox="1"/>
          <p:nvPr/>
        </p:nvSpPr>
        <p:spPr>
          <a:xfrm>
            <a:off x="9436608" y="1892808"/>
            <a:ext cx="210312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Transcript</a:t>
            </a:r>
            <a:endParaRPr lang="en-US" sz="1350" dirty="0"/>
          </a:p>
        </p:txBody>
      </p:sp>
      <p:sp>
        <p:nvSpPr>
          <p:cNvPr id="27" name="Text 23"/>
          <p:cNvSpPr txBox="1"/>
          <p:nvPr/>
        </p:nvSpPr>
        <p:spPr>
          <a:xfrm>
            <a:off x="9208008" y="2194560"/>
            <a:ext cx="2331720" cy="566928"/>
          </a:xfrm>
          <a:prstGeom prst="rect">
            <a:avLst/>
          </a:prstGeom>
          <a:noFill/>
          <a:ln/>
        </p:spPr>
        <p:txBody>
          <a:bodyPr wrap="square" lIns="0" tIns="0" rIns="0" bIns="0" rtlCol="0" anchor="t"/>
          <a:lstStyle/>
          <a:p>
            <a:pPr marL="0" indent="0">
              <a:buNone/>
            </a:pPr>
            <a:r>
              <a:rPr lang="en-US" sz="1050" dirty="0">
                <a:solidFill>
                  <a:srgbClr val="A3AEC3"/>
                </a:solidFill>
                <a:latin typeface="Calibri" pitchFamily="34" charset="0"/>
                <a:ea typeface="Calibri" pitchFamily="34" charset="-122"/>
                <a:cs typeface="Calibri" pitchFamily="34" charset="-120"/>
              </a:rPr>
              <a:t>The whole call; the line being spoken is highlighted; any timestamp plays from there.</a:t>
            </a:r>
            <a:endParaRPr lang="en-US" sz="1050" dirty="0"/>
          </a:p>
        </p:txBody>
      </p:sp>
      <p:sp>
        <p:nvSpPr>
          <p:cNvPr id="28" name="Shape 24"/>
          <p:cNvSpPr/>
          <p:nvPr/>
        </p:nvSpPr>
        <p:spPr>
          <a:xfrm>
            <a:off x="9006840" y="2926080"/>
            <a:ext cx="2633472" cy="1005840"/>
          </a:xfrm>
          <a:prstGeom prst="roundRect">
            <a:avLst>
              <a:gd name="adj" fmla="val 9091"/>
            </a:avLst>
          </a:prstGeom>
          <a:solidFill>
            <a:srgbClr val="141B28"/>
          </a:solidFill>
          <a:ln w="9525">
            <a:solidFill>
              <a:srgbClr val="263248"/>
            </a:solidFill>
            <a:prstDash val="solid"/>
          </a:ln>
        </p:spPr>
        <p:txBody>
          <a:bodyPr/>
          <a:lstStyle/>
          <a:p>
            <a:endParaRPr lang="en-IN"/>
          </a:p>
        </p:txBody>
      </p:sp>
      <p:sp>
        <p:nvSpPr>
          <p:cNvPr id="29" name="Shape 25"/>
          <p:cNvSpPr/>
          <p:nvPr/>
        </p:nvSpPr>
        <p:spPr>
          <a:xfrm>
            <a:off x="9208008" y="3127248"/>
            <a:ext cx="137160" cy="137160"/>
          </a:xfrm>
          <a:prstGeom prst="ellipse">
            <a:avLst/>
          </a:prstGeom>
          <a:solidFill>
            <a:srgbClr val="B9A4FF"/>
          </a:solidFill>
          <a:ln w="12700">
            <a:solidFill>
              <a:srgbClr val="B9A4FF"/>
            </a:solidFill>
            <a:prstDash val="solid"/>
          </a:ln>
        </p:spPr>
        <p:txBody>
          <a:bodyPr/>
          <a:lstStyle/>
          <a:p>
            <a:endParaRPr lang="en-IN"/>
          </a:p>
        </p:txBody>
      </p:sp>
      <p:sp>
        <p:nvSpPr>
          <p:cNvPr id="30" name="Text 26"/>
          <p:cNvSpPr txBox="1"/>
          <p:nvPr/>
        </p:nvSpPr>
        <p:spPr>
          <a:xfrm>
            <a:off x="9436608" y="3035808"/>
            <a:ext cx="210312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CRM &amp; plan</a:t>
            </a:r>
            <a:endParaRPr lang="en-US" sz="1350" dirty="0"/>
          </a:p>
        </p:txBody>
      </p:sp>
      <p:sp>
        <p:nvSpPr>
          <p:cNvPr id="31" name="Text 27"/>
          <p:cNvSpPr txBox="1"/>
          <p:nvPr/>
        </p:nvSpPr>
        <p:spPr>
          <a:xfrm>
            <a:off x="9208008" y="3337560"/>
            <a:ext cx="2331720" cy="566928"/>
          </a:xfrm>
          <a:prstGeom prst="rect">
            <a:avLst/>
          </a:prstGeom>
          <a:noFill/>
          <a:ln/>
        </p:spPr>
        <p:txBody>
          <a:bodyPr wrap="square" lIns="0" tIns="0" rIns="0" bIns="0" rtlCol="0" anchor="t"/>
          <a:lstStyle/>
          <a:p>
            <a:pPr marL="0" indent="0">
              <a:buNone/>
            </a:pPr>
            <a:r>
              <a:rPr lang="en-US" sz="1050" dirty="0">
                <a:solidFill>
                  <a:srgbClr val="A3AEC3"/>
                </a:solidFill>
                <a:latin typeface="Calibri" pitchFamily="34" charset="0"/>
                <a:ea typeface="Calibri" pitchFamily="34" charset="-122"/>
                <a:cs typeface="Calibri" pitchFamily="34" charset="-120"/>
              </a:rPr>
              <a:t>Read-only. A field that failed is flagged in red. Redacted tags stay as tags.</a:t>
            </a:r>
            <a:endParaRPr lang="en-US" sz="1050" dirty="0"/>
          </a:p>
        </p:txBody>
      </p:sp>
      <p:sp>
        <p:nvSpPr>
          <p:cNvPr id="32" name="Shape 28"/>
          <p:cNvSpPr/>
          <p:nvPr/>
        </p:nvSpPr>
        <p:spPr>
          <a:xfrm>
            <a:off x="9006840" y="4069080"/>
            <a:ext cx="2633472" cy="1005840"/>
          </a:xfrm>
          <a:prstGeom prst="roundRect">
            <a:avLst>
              <a:gd name="adj" fmla="val 9091"/>
            </a:avLst>
          </a:prstGeom>
          <a:solidFill>
            <a:srgbClr val="141B28"/>
          </a:solidFill>
          <a:ln w="9525">
            <a:solidFill>
              <a:srgbClr val="263248"/>
            </a:solidFill>
            <a:prstDash val="solid"/>
          </a:ln>
        </p:spPr>
        <p:txBody>
          <a:bodyPr/>
          <a:lstStyle/>
          <a:p>
            <a:endParaRPr lang="en-IN"/>
          </a:p>
        </p:txBody>
      </p:sp>
      <p:sp>
        <p:nvSpPr>
          <p:cNvPr id="33" name="Shape 29"/>
          <p:cNvSpPr/>
          <p:nvPr/>
        </p:nvSpPr>
        <p:spPr>
          <a:xfrm>
            <a:off x="9208008" y="4270248"/>
            <a:ext cx="137160" cy="137160"/>
          </a:xfrm>
          <a:prstGeom prst="ellipse">
            <a:avLst/>
          </a:prstGeom>
          <a:solidFill>
            <a:srgbClr val="FBBF24"/>
          </a:solidFill>
          <a:ln w="12700">
            <a:solidFill>
              <a:srgbClr val="FBBF24"/>
            </a:solidFill>
            <a:prstDash val="solid"/>
          </a:ln>
        </p:spPr>
        <p:txBody>
          <a:bodyPr/>
          <a:lstStyle/>
          <a:p>
            <a:endParaRPr lang="en-IN"/>
          </a:p>
        </p:txBody>
      </p:sp>
      <p:sp>
        <p:nvSpPr>
          <p:cNvPr id="34" name="Text 30"/>
          <p:cNvSpPr txBox="1"/>
          <p:nvPr/>
        </p:nvSpPr>
        <p:spPr>
          <a:xfrm>
            <a:off x="9436608" y="4178808"/>
            <a:ext cx="210312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Audit</a:t>
            </a:r>
            <a:endParaRPr lang="en-US" sz="1350" dirty="0"/>
          </a:p>
        </p:txBody>
      </p:sp>
      <p:sp>
        <p:nvSpPr>
          <p:cNvPr id="35" name="Text 31"/>
          <p:cNvSpPr txBox="1"/>
          <p:nvPr/>
        </p:nvSpPr>
        <p:spPr>
          <a:xfrm>
            <a:off x="9208008" y="4480560"/>
            <a:ext cx="2331720" cy="566928"/>
          </a:xfrm>
          <a:prstGeom prst="rect">
            <a:avLst/>
          </a:prstGeom>
          <a:noFill/>
          <a:ln/>
        </p:spPr>
        <p:txBody>
          <a:bodyPr wrap="square" lIns="0" tIns="0" rIns="0" bIns="0" rtlCol="0" anchor="t"/>
          <a:lstStyle/>
          <a:p>
            <a:pPr marL="0" indent="0">
              <a:buNone/>
            </a:pPr>
            <a:r>
              <a:rPr lang="en-US" sz="1050" dirty="0">
                <a:solidFill>
                  <a:srgbClr val="A3AEC3"/>
                </a:solidFill>
                <a:latin typeface="Calibri" pitchFamily="34" charset="0"/>
                <a:ea typeface="Calibri" pitchFamily="34" charset="-122"/>
                <a:cs typeface="Calibri" pitchFamily="34" charset="-120"/>
              </a:rPr>
              <a:t>Run ID, checklist version, extractor, floor, score, coverage, checksum, pipeline trace, audit JSON.</a:t>
            </a:r>
            <a:endParaRPr lang="en-US" sz="1050" dirty="0"/>
          </a:p>
        </p:txBody>
      </p:sp>
      <p:sp>
        <p:nvSpPr>
          <p:cNvPr id="36" name="Shape 32"/>
          <p:cNvSpPr/>
          <p:nvPr/>
        </p:nvSpPr>
        <p:spPr>
          <a:xfrm>
            <a:off x="9006840" y="5212080"/>
            <a:ext cx="2633472" cy="1005840"/>
          </a:xfrm>
          <a:prstGeom prst="roundRect">
            <a:avLst>
              <a:gd name="adj" fmla="val 9091"/>
            </a:avLst>
          </a:prstGeom>
          <a:solidFill>
            <a:srgbClr val="141B28"/>
          </a:solidFill>
          <a:ln w="9525">
            <a:solidFill>
              <a:srgbClr val="263248"/>
            </a:solidFill>
            <a:prstDash val="solid"/>
          </a:ln>
        </p:spPr>
        <p:txBody>
          <a:bodyPr/>
          <a:lstStyle/>
          <a:p>
            <a:endParaRPr lang="en-IN"/>
          </a:p>
        </p:txBody>
      </p:sp>
      <p:sp>
        <p:nvSpPr>
          <p:cNvPr id="37" name="Shape 33"/>
          <p:cNvSpPr/>
          <p:nvPr/>
        </p:nvSpPr>
        <p:spPr>
          <a:xfrm>
            <a:off x="9208008" y="5413248"/>
            <a:ext cx="137160" cy="137160"/>
          </a:xfrm>
          <a:prstGeom prst="ellipse">
            <a:avLst/>
          </a:prstGeom>
          <a:solidFill>
            <a:srgbClr val="34D399"/>
          </a:solidFill>
          <a:ln w="12700">
            <a:solidFill>
              <a:srgbClr val="34D399"/>
            </a:solidFill>
            <a:prstDash val="solid"/>
          </a:ln>
        </p:spPr>
        <p:txBody>
          <a:bodyPr/>
          <a:lstStyle/>
          <a:p>
            <a:endParaRPr lang="en-IN"/>
          </a:p>
        </p:txBody>
      </p:sp>
      <p:sp>
        <p:nvSpPr>
          <p:cNvPr id="38" name="Text 34"/>
          <p:cNvSpPr txBox="1"/>
          <p:nvPr/>
        </p:nvSpPr>
        <p:spPr>
          <a:xfrm>
            <a:off x="9436608" y="5321808"/>
            <a:ext cx="210312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Overrides</a:t>
            </a:r>
            <a:endParaRPr lang="en-US" sz="1350" dirty="0"/>
          </a:p>
        </p:txBody>
      </p:sp>
      <p:sp>
        <p:nvSpPr>
          <p:cNvPr id="39" name="Text 35"/>
          <p:cNvSpPr txBox="1"/>
          <p:nvPr/>
        </p:nvSpPr>
        <p:spPr>
          <a:xfrm>
            <a:off x="9208008" y="5623560"/>
            <a:ext cx="2331720" cy="566928"/>
          </a:xfrm>
          <a:prstGeom prst="rect">
            <a:avLst/>
          </a:prstGeom>
          <a:noFill/>
          <a:ln/>
        </p:spPr>
        <p:txBody>
          <a:bodyPr wrap="square" lIns="0" tIns="0" rIns="0" bIns="0" rtlCol="0" anchor="t"/>
          <a:lstStyle/>
          <a:p>
            <a:pPr marL="0" indent="0">
              <a:buNone/>
            </a:pPr>
            <a:r>
              <a:rPr lang="en-US" sz="1050" dirty="0">
                <a:solidFill>
                  <a:srgbClr val="A3AEC3"/>
                </a:solidFill>
                <a:latin typeface="Calibri" pitchFamily="34" charset="0"/>
                <a:ea typeface="Calibri" pitchFamily="34" charset="-122"/>
                <a:cs typeface="Calibri" pitchFamily="34" charset="-120"/>
              </a:rPr>
              <a:t>The append-only log for this run: who, why, machine verdict, gate before → after.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17</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16 · THE BRIEF'S WORKED EXAMPLE</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Lead 3613790: the brief's example, reproduced</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Retailer 1, 25-minute call. Every verdict matches the brief.</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7863840" cy="3335528"/>
        </p:xfrm>
        <a:graphic>
          <a:graphicData uri="http://schemas.openxmlformats.org/drawingml/2006/table">
            <a:tbl>
              <a:tblPr/>
              <a:tblGrid>
                <a:gridCol w="25603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75488">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The brief expects</a:t>
                      </a:r>
                      <a:endParaRPr lang="en-US" sz="11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CIMET QA Gate shows</a:t>
                      </a:r>
                      <a:endParaRPr lang="en-US" sz="11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0"/>
                  </a:ext>
                </a:extLst>
              </a:tr>
              <a:tr h="475488">
                <a:tc>
                  <a:txBody>
                    <a:bodyPr/>
                    <a:lstStyle/>
                    <a:p>
                      <a:pPr marL="0" indent="0">
                        <a:buNone/>
                      </a:pPr>
                      <a:r>
                        <a:rPr lang="en-US" sz="1250" dirty="0">
                          <a:solidFill>
                            <a:srgbClr val="E8EDF6"/>
                          </a:solidFill>
                          <a:latin typeface="Calibri" pitchFamily="34" charset="0"/>
                          <a:ea typeface="Calibri" pitchFamily="34" charset="-122"/>
                          <a:cs typeface="Calibri" pitchFamily="34" charset="-120"/>
                        </a:rPr>
                        <a:t>Recording disclaimer + consent</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b="1" dirty="0">
                          <a:solidFill>
                            <a:srgbClr val="34D399"/>
                          </a:solidFill>
                          <a:latin typeface="Calibri" pitchFamily="34" charset="0"/>
                          <a:ea typeface="Calibri" pitchFamily="34" charset="-122"/>
                          <a:cs typeface="Calibri" pitchFamily="34" charset="-120"/>
                        </a:rPr>
                        <a:t>PASS · 00:00</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1"/>
                  </a:ext>
                </a:extLst>
              </a:tr>
              <a:tr h="475488">
                <a:tc>
                  <a:txBody>
                    <a:bodyPr/>
                    <a:lstStyle/>
                    <a:p>
                      <a:pPr marL="0" indent="0">
                        <a:buNone/>
                      </a:pPr>
                      <a:r>
                        <a:rPr lang="en-US" sz="1250" dirty="0">
                          <a:solidFill>
                            <a:srgbClr val="E8EDF6"/>
                          </a:solidFill>
                          <a:latin typeface="Calibri" pitchFamily="34" charset="0"/>
                          <a:ea typeface="Calibri" pitchFamily="34" charset="-122"/>
                          <a:cs typeface="Calibri" pitchFamily="34" charset="-120"/>
                        </a:rPr>
                        <a:t>Account holder confirmed</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b="1" dirty="0">
                          <a:solidFill>
                            <a:srgbClr val="34D399"/>
                          </a:solidFill>
                          <a:latin typeface="Calibri" pitchFamily="34" charset="0"/>
                          <a:ea typeface="Calibri" pitchFamily="34" charset="-122"/>
                          <a:cs typeface="Calibri" pitchFamily="34" charset="-120"/>
                        </a:rPr>
                        <a:t>PASS · 00:18</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2"/>
                  </a:ext>
                </a:extLst>
              </a:tr>
              <a:tr h="475488">
                <a:tc>
                  <a:txBody>
                    <a:bodyPr/>
                    <a:lstStyle/>
                    <a:p>
                      <a:pPr marL="0" indent="0">
                        <a:buNone/>
                      </a:pPr>
                      <a:r>
                        <a:rPr lang="en-US" sz="1250" dirty="0">
                          <a:solidFill>
                            <a:srgbClr val="E8EDF6"/>
                          </a:solidFill>
                          <a:latin typeface="Calibri" pitchFamily="34" charset="0"/>
                          <a:ea typeface="Calibri" pitchFamily="34" charset="-122"/>
                          <a:cs typeface="Calibri" pitchFamily="34" charset="-120"/>
                        </a:rPr>
                        <a:t>DMO read verbatim</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b="1" dirty="0">
                          <a:solidFill>
                            <a:srgbClr val="34D399"/>
                          </a:solidFill>
                          <a:latin typeface="Calibri" pitchFamily="34" charset="0"/>
                          <a:ea typeface="Calibri" pitchFamily="34" charset="-122"/>
                          <a:cs typeface="Calibri" pitchFamily="34" charset="-120"/>
                        </a:rPr>
                        <a:t>PASS · 01:21</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3"/>
                  </a:ext>
                </a:extLst>
              </a:tr>
              <a:tr h="475488">
                <a:tc>
                  <a:txBody>
                    <a:bodyPr/>
                    <a:lstStyle/>
                    <a:p>
                      <a:pPr marL="0" indent="0">
                        <a:buNone/>
                      </a:pPr>
                      <a:r>
                        <a:rPr lang="en-US" sz="1250" dirty="0">
                          <a:solidFill>
                            <a:srgbClr val="E8EDF6"/>
                          </a:solidFill>
                          <a:latin typeface="Calibri" pitchFamily="34" charset="0"/>
                          <a:ea typeface="Calibri" pitchFamily="34" charset="-122"/>
                          <a:cs typeface="Calibri" pitchFamily="34" charset="-120"/>
                        </a:rPr>
                        <a:t>Rates and charges</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FAIL · 28.6 vs 31.9 · 14:02</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b="1" dirty="0">
                          <a:solidFill>
                            <a:srgbClr val="F87171"/>
                          </a:solidFill>
                          <a:latin typeface="Calibri" pitchFamily="34" charset="0"/>
                          <a:ea typeface="Calibri" pitchFamily="34" charset="-122"/>
                          <a:cs typeface="Calibri" pitchFamily="34" charset="-120"/>
                        </a:rPr>
                        <a:t>FAIL · 14:02 · said 28.6 ≠ 31.9</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4"/>
                  </a:ext>
                </a:extLst>
              </a:tr>
              <a:tr h="475488">
                <a:tc>
                  <a:txBody>
                    <a:bodyPr/>
                    <a:lstStyle/>
                    <a:p>
                      <a:pPr marL="0" indent="0">
                        <a:buNone/>
                      </a:pPr>
                      <a:r>
                        <a:rPr lang="en-US" sz="1250" dirty="0">
                          <a:solidFill>
                            <a:srgbClr val="E8EDF6"/>
                          </a:solidFill>
                          <a:latin typeface="Calibri" pitchFamily="34" charset="0"/>
                          <a:ea typeface="Calibri" pitchFamily="34" charset="-122"/>
                          <a:cs typeface="Calibri" pitchFamily="34" charset="-120"/>
                        </a:rPr>
                        <a:t>Email captured</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FAIL · gmail vs gmial · 22:10</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b="1" dirty="0">
                          <a:solidFill>
                            <a:srgbClr val="F87171"/>
                          </a:solidFill>
                          <a:latin typeface="Calibri" pitchFamily="34" charset="0"/>
                          <a:ea typeface="Calibri" pitchFamily="34" charset="-122"/>
                          <a:cs typeface="Calibri" pitchFamily="34" charset="-120"/>
                        </a:rPr>
                        <a:t>FAIL · 22:10 · gmial.com is a CRM keying error</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5"/>
                  </a:ext>
                </a:extLst>
              </a:tr>
              <a:tr h="475488">
                <a:tc>
                  <a:txBody>
                    <a:bodyPr/>
                    <a:lstStyle/>
                    <a:p>
                      <a:pPr marL="0" indent="0">
                        <a:buNone/>
                      </a:pPr>
                      <a:r>
                        <a:rPr lang="en-US" sz="1250" dirty="0">
                          <a:solidFill>
                            <a:srgbClr val="E8EDF6"/>
                          </a:solidFill>
                          <a:latin typeface="Calibri" pitchFamily="34" charset="0"/>
                          <a:ea typeface="Calibri" pitchFamily="34" charset="-122"/>
                          <a:cs typeface="Calibri" pitchFamily="34" charset="-120"/>
                        </a:rPr>
                        <a:t>Dead air (coaching)</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NOTE · 47s at 18:30</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6F7C94"/>
                          </a:solidFill>
                          <a:latin typeface="Calibri" pitchFamily="34" charset="0"/>
                          <a:ea typeface="Calibri" pitchFamily="34" charset="-122"/>
                          <a:cs typeface="Calibri" pitchFamily="34" charset="-120"/>
                        </a:rPr>
                        <a:t>NOTE · dead air at 18:30 · never blocks</a:t>
                      </a:r>
                      <a:endParaRPr lang="en-US" sz="125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6"/>
                  </a:ext>
                </a:extLst>
              </a:tr>
            </a:tbl>
          </a:graphicData>
        </a:graphic>
      </p:graphicFrame>
      <p:sp>
        <p:nvSpPr>
          <p:cNvPr id="9" name="Shape 5"/>
          <p:cNvSpPr/>
          <p:nvPr/>
        </p:nvSpPr>
        <p:spPr>
          <a:xfrm>
            <a:off x="8732520" y="1874520"/>
            <a:ext cx="2907792" cy="3328416"/>
          </a:xfrm>
          <a:prstGeom prst="roundRect">
            <a:avLst>
              <a:gd name="adj" fmla="val 3145"/>
            </a:avLst>
          </a:prstGeom>
          <a:solidFill>
            <a:srgbClr val="1A2332"/>
          </a:solidFill>
          <a:ln w="9525">
            <a:solidFill>
              <a:srgbClr val="263248"/>
            </a:solidFill>
            <a:prstDash val="solid"/>
          </a:ln>
        </p:spPr>
        <p:txBody>
          <a:bodyPr/>
          <a:lstStyle/>
          <a:p>
            <a:endParaRPr lang="en-IN"/>
          </a:p>
        </p:txBody>
      </p:sp>
      <p:sp>
        <p:nvSpPr>
          <p:cNvPr id="10" name="Shape 6"/>
          <p:cNvSpPr/>
          <p:nvPr/>
        </p:nvSpPr>
        <p:spPr>
          <a:xfrm>
            <a:off x="9006840" y="2148840"/>
            <a:ext cx="1463040" cy="502920"/>
          </a:xfrm>
          <a:prstGeom prst="roundRect">
            <a:avLst>
              <a:gd name="adj" fmla="val 18182"/>
            </a:avLst>
          </a:prstGeom>
          <a:solidFill>
            <a:srgbClr val="F87171">
              <a:alpha val="16000"/>
            </a:srgbClr>
          </a:solidFill>
          <a:ln w="12700">
            <a:solidFill>
              <a:srgbClr val="F87171"/>
            </a:solidFill>
            <a:prstDash val="solid"/>
          </a:ln>
        </p:spPr>
        <p:txBody>
          <a:bodyPr/>
          <a:lstStyle/>
          <a:p>
            <a:endParaRPr lang="en-IN"/>
          </a:p>
        </p:txBody>
      </p:sp>
      <p:sp>
        <p:nvSpPr>
          <p:cNvPr id="11" name="Text 7"/>
          <p:cNvSpPr txBox="1"/>
          <p:nvPr/>
        </p:nvSpPr>
        <p:spPr>
          <a:xfrm>
            <a:off x="9006840" y="2148840"/>
            <a:ext cx="1463040" cy="502920"/>
          </a:xfrm>
          <a:prstGeom prst="rect">
            <a:avLst/>
          </a:prstGeom>
          <a:noFill/>
          <a:ln/>
        </p:spPr>
        <p:txBody>
          <a:bodyPr wrap="square" lIns="0" tIns="0" rIns="0" bIns="0" rtlCol="0" anchor="ctr"/>
          <a:lstStyle/>
          <a:p>
            <a:pPr marL="0" indent="0" algn="ctr">
              <a:buNone/>
            </a:pPr>
            <a:r>
              <a:rPr lang="en-US" sz="2000" b="1" dirty="0">
                <a:solidFill>
                  <a:srgbClr val="F87171"/>
                </a:solidFill>
                <a:latin typeface="Courier New" pitchFamily="34" charset="0"/>
                <a:ea typeface="Courier New" pitchFamily="34" charset="-122"/>
                <a:cs typeface="Courier New" pitchFamily="34" charset="-120"/>
              </a:rPr>
              <a:t>HELD</a:t>
            </a:r>
            <a:endParaRPr lang="en-US" sz="2000" dirty="0"/>
          </a:p>
        </p:txBody>
      </p:sp>
      <p:sp>
        <p:nvSpPr>
          <p:cNvPr id="12" name="Text 8"/>
          <p:cNvSpPr txBox="1"/>
          <p:nvPr/>
        </p:nvSpPr>
        <p:spPr>
          <a:xfrm>
            <a:off x="9006840" y="2834640"/>
            <a:ext cx="2468880" cy="640080"/>
          </a:xfrm>
          <a:prstGeom prst="rect">
            <a:avLst/>
          </a:prstGeom>
          <a:noFill/>
          <a:ln/>
        </p:spPr>
        <p:txBody>
          <a:bodyPr wrap="square" lIns="0" tIns="0" rIns="0" bIns="0" rtlCol="0" anchor="t"/>
          <a:lstStyle/>
          <a:p>
            <a:pPr marL="0" indent="0">
              <a:buNone/>
            </a:pPr>
            <a:r>
              <a:rPr lang="en-US" sz="1300" dirty="0">
                <a:solidFill>
                  <a:srgbClr val="E8EDF6"/>
                </a:solidFill>
                <a:latin typeface="Calibri" pitchFamily="34" charset="0"/>
                <a:ea typeface="Calibri" pitchFamily="34" charset="-122"/>
                <a:cs typeface="Calibri" pitchFamily="34" charset="-120"/>
              </a:rPr>
              <a:t>2 critical checks failed. Routed to team leader review.</a:t>
            </a:r>
            <a:endParaRPr lang="en-US" sz="1300" dirty="0"/>
          </a:p>
        </p:txBody>
      </p:sp>
      <p:sp>
        <p:nvSpPr>
          <p:cNvPr id="13" name="Text 9"/>
          <p:cNvSpPr txBox="1"/>
          <p:nvPr/>
        </p:nvSpPr>
        <p:spPr>
          <a:xfrm>
            <a:off x="9006840" y="3566160"/>
            <a:ext cx="2468880" cy="137160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The TL clicks 14:02, hears twenty seconds, corrects the email and re-confirms the rate — or the sale is cancelled.</a:t>
            </a:r>
            <a:endParaRPr lang="en-US" sz="1150" dirty="0"/>
          </a:p>
        </p:txBody>
      </p:sp>
      <p:sp>
        <p:nvSpPr>
          <p:cNvPr id="14" name="Text 10"/>
          <p:cNvSpPr txBox="1"/>
          <p:nvPr/>
        </p:nvSpPr>
        <p:spPr>
          <a:xfrm>
            <a:off x="548640" y="5486400"/>
            <a:ext cx="7863840" cy="457200"/>
          </a:xfrm>
          <a:prstGeom prst="rect">
            <a:avLst/>
          </a:prstGeom>
          <a:noFill/>
          <a:ln/>
        </p:spPr>
        <p:txBody>
          <a:bodyPr wrap="square" lIns="0" tIns="0" rIns="0" bIns="0" rtlCol="0" anchor="t"/>
          <a:lstStyle/>
          <a:p>
            <a:pPr marL="0" indent="0">
              <a:buNone/>
            </a:pPr>
            <a:r>
              <a:rPr lang="en-US" sz="1100" i="1" dirty="0">
                <a:solidFill>
                  <a:srgbClr val="6F7C94"/>
                </a:solidFill>
                <a:latin typeface="Calibri" pitchFamily="34" charset="0"/>
                <a:ea typeface="Calibri" pitchFamily="34" charset="-122"/>
                <a:cs typeface="Calibri" pitchFamily="34" charset="-120"/>
              </a:rPr>
              <a:t>Our transcript's opening checks fall at different times than the brief's illustration; the verdicts are identical.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18</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17 · MESSY REAL-WORLD AUDIO</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Silence is never evidence</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Lead 3613792: crosstalk, [inaudible], a dropped line → QA, not HELD.</a:t>
            </a:r>
            <a:endParaRPr lang="en-US" sz="1500" dirty="0"/>
          </a:p>
        </p:txBody>
      </p:sp>
      <p:sp>
        <p:nvSpPr>
          <p:cNvPr id="8" name="Shape 5"/>
          <p:cNvSpPr/>
          <p:nvPr/>
        </p:nvSpPr>
        <p:spPr>
          <a:xfrm>
            <a:off x="493776" y="1728216"/>
            <a:ext cx="3042486" cy="4636008"/>
          </a:xfrm>
          <a:prstGeom prst="roundRect">
            <a:avLst>
              <a:gd name="adj" fmla="val 2404"/>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noisy.png"/>
          <p:cNvPicPr>
            <a:picLocks noChangeAspect="1"/>
          </p:cNvPicPr>
          <p:nvPr/>
        </p:nvPicPr>
        <p:blipFill>
          <a:blip r:embed="rId3"/>
          <a:stretch>
            <a:fillRect/>
          </a:stretch>
        </p:blipFill>
        <p:spPr>
          <a:xfrm>
            <a:off x="548640" y="1783080"/>
            <a:ext cx="2932758" cy="4526280"/>
          </a:xfrm>
          <a:prstGeom prst="rect">
            <a:avLst/>
          </a:prstGeom>
        </p:spPr>
      </p:pic>
      <p:sp>
        <p:nvSpPr>
          <p:cNvPr id="10" name="Shape 6"/>
          <p:cNvSpPr/>
          <p:nvPr/>
        </p:nvSpPr>
        <p:spPr>
          <a:xfrm>
            <a:off x="4572000" y="1828800"/>
            <a:ext cx="7086600" cy="932688"/>
          </a:xfrm>
          <a:prstGeom prst="roundRect">
            <a:avLst>
              <a:gd name="adj" fmla="val 9804"/>
            </a:avLst>
          </a:prstGeom>
          <a:solidFill>
            <a:srgbClr val="141B28"/>
          </a:solidFill>
          <a:ln w="9525">
            <a:solidFill>
              <a:srgbClr val="263248"/>
            </a:solidFill>
            <a:prstDash val="solid"/>
          </a:ln>
        </p:spPr>
        <p:txBody>
          <a:bodyPr/>
          <a:lstStyle/>
          <a:p>
            <a:endParaRPr lang="en-IN"/>
          </a:p>
        </p:txBody>
      </p:sp>
      <p:sp>
        <p:nvSpPr>
          <p:cNvPr id="11" name="Text 7"/>
          <p:cNvSpPr txBox="1"/>
          <p:nvPr/>
        </p:nvSpPr>
        <p:spPr>
          <a:xfrm>
            <a:off x="4800600" y="1993392"/>
            <a:ext cx="1143000" cy="603504"/>
          </a:xfrm>
          <a:prstGeom prst="rect">
            <a:avLst/>
          </a:prstGeom>
          <a:noFill/>
          <a:ln/>
        </p:spPr>
        <p:txBody>
          <a:bodyPr wrap="square" lIns="0" tIns="0" rIns="0" bIns="0" rtlCol="0" anchor="ctr"/>
          <a:lstStyle/>
          <a:p>
            <a:pPr marL="0" indent="0">
              <a:buNone/>
            </a:pPr>
            <a:r>
              <a:rPr lang="en-US" sz="2800" b="1" dirty="0">
                <a:solidFill>
                  <a:srgbClr val="F87171"/>
                </a:solidFill>
                <a:latin typeface="Calibri" pitchFamily="34" charset="0"/>
                <a:ea typeface="Calibri" pitchFamily="34" charset="-122"/>
                <a:cs typeface="Calibri" pitchFamily="34" charset="-120"/>
              </a:rPr>
              <a:t>44%</a:t>
            </a:r>
            <a:endParaRPr lang="en-US" sz="2800" dirty="0"/>
          </a:p>
        </p:txBody>
      </p:sp>
      <p:sp>
        <p:nvSpPr>
          <p:cNvPr id="12" name="Text 8"/>
          <p:cNvSpPr txBox="1"/>
          <p:nvPr/>
        </p:nvSpPr>
        <p:spPr>
          <a:xfrm>
            <a:off x="6080760" y="2103120"/>
            <a:ext cx="5394960" cy="457200"/>
          </a:xfrm>
          <a:prstGeom prst="rect">
            <a:avLst/>
          </a:prstGeom>
          <a:noFill/>
          <a:ln/>
        </p:spPr>
        <p:txBody>
          <a:bodyPr wrap="square" lIns="0" tIns="0" rIns="0" bIns="0" rtlCol="0" anchor="t"/>
          <a:lstStyle/>
          <a:p>
            <a:pPr marL="0" indent="0">
              <a:buNone/>
            </a:pPr>
            <a:r>
              <a:rPr lang="en-US" sz="1500" dirty="0">
                <a:solidFill>
                  <a:srgbClr val="E8EDF6"/>
                </a:solidFill>
                <a:latin typeface="Calibri" pitchFamily="34" charset="0"/>
                <a:ea typeface="Calibri" pitchFamily="34" charset="-122"/>
                <a:cs typeface="Calibri" pitchFamily="34" charset="-120"/>
              </a:rPr>
              <a:t>of the DMO wording found — on its own, a fail</a:t>
            </a:r>
            <a:endParaRPr lang="en-US" sz="1500" dirty="0"/>
          </a:p>
        </p:txBody>
      </p:sp>
      <p:sp>
        <p:nvSpPr>
          <p:cNvPr id="13" name="Shape 9"/>
          <p:cNvSpPr/>
          <p:nvPr/>
        </p:nvSpPr>
        <p:spPr>
          <a:xfrm>
            <a:off x="4572000" y="2926080"/>
            <a:ext cx="7086600" cy="932688"/>
          </a:xfrm>
          <a:prstGeom prst="roundRect">
            <a:avLst>
              <a:gd name="adj" fmla="val 9804"/>
            </a:avLst>
          </a:prstGeom>
          <a:solidFill>
            <a:srgbClr val="141B28"/>
          </a:solidFill>
          <a:ln w="9525">
            <a:solidFill>
              <a:srgbClr val="263248"/>
            </a:solidFill>
            <a:prstDash val="solid"/>
          </a:ln>
        </p:spPr>
        <p:txBody>
          <a:bodyPr/>
          <a:lstStyle/>
          <a:p>
            <a:endParaRPr lang="en-IN"/>
          </a:p>
        </p:txBody>
      </p:sp>
      <p:sp>
        <p:nvSpPr>
          <p:cNvPr id="14" name="Text 10"/>
          <p:cNvSpPr txBox="1"/>
          <p:nvPr/>
        </p:nvSpPr>
        <p:spPr>
          <a:xfrm>
            <a:off x="4800600" y="3090672"/>
            <a:ext cx="1143000" cy="603504"/>
          </a:xfrm>
          <a:prstGeom prst="rect">
            <a:avLst/>
          </a:prstGeom>
          <a:noFill/>
          <a:ln/>
        </p:spPr>
        <p:txBody>
          <a:bodyPr wrap="square" lIns="0" tIns="0" rIns="0" bIns="0" rtlCol="0" anchor="ctr"/>
          <a:lstStyle/>
          <a:p>
            <a:pPr marL="0" indent="0">
              <a:buNone/>
            </a:pPr>
            <a:r>
              <a:rPr lang="en-US" sz="2800" b="1" dirty="0">
                <a:solidFill>
                  <a:srgbClr val="FBBF24"/>
                </a:solidFill>
                <a:latin typeface="Calibri" pitchFamily="34" charset="0"/>
                <a:ea typeface="Calibri" pitchFamily="34" charset="-122"/>
                <a:cs typeface="Calibri" pitchFamily="34" charset="-120"/>
              </a:rPr>
              <a:t>G1</a:t>
            </a:r>
            <a:endParaRPr lang="en-US" sz="2800" dirty="0"/>
          </a:p>
        </p:txBody>
      </p:sp>
      <p:sp>
        <p:nvSpPr>
          <p:cNvPr id="15" name="Text 11"/>
          <p:cNvSpPr txBox="1"/>
          <p:nvPr/>
        </p:nvSpPr>
        <p:spPr>
          <a:xfrm>
            <a:off x="6080760" y="3200400"/>
            <a:ext cx="5394960" cy="457200"/>
          </a:xfrm>
          <a:prstGeom prst="rect">
            <a:avLst/>
          </a:prstGeom>
          <a:noFill/>
          <a:ln/>
        </p:spPr>
        <p:txBody>
          <a:bodyPr wrap="square" lIns="0" tIns="0" rIns="0" bIns="0" rtlCol="0" anchor="t"/>
          <a:lstStyle/>
          <a:p>
            <a:pPr marL="0" indent="0">
              <a:buNone/>
            </a:pPr>
            <a:r>
              <a:rPr lang="en-US" sz="1500" dirty="0">
                <a:solidFill>
                  <a:srgbClr val="E8EDF6"/>
                </a:solidFill>
                <a:latin typeface="Calibri" pitchFamily="34" charset="0"/>
                <a:ea typeface="Calibri" pitchFamily="34" charset="-122"/>
                <a:cs typeface="Calibri" pitchFamily="34" charset="-120"/>
              </a:rPr>
              <a:t>5 audio markers + ASR 0.38 in that span → unsure, not fail</a:t>
            </a:r>
            <a:endParaRPr lang="en-US" sz="1500" dirty="0"/>
          </a:p>
        </p:txBody>
      </p:sp>
      <p:sp>
        <p:nvSpPr>
          <p:cNvPr id="16" name="Shape 12"/>
          <p:cNvSpPr/>
          <p:nvPr/>
        </p:nvSpPr>
        <p:spPr>
          <a:xfrm>
            <a:off x="4572000" y="4023360"/>
            <a:ext cx="7086600" cy="932688"/>
          </a:xfrm>
          <a:prstGeom prst="roundRect">
            <a:avLst>
              <a:gd name="adj" fmla="val 9804"/>
            </a:avLst>
          </a:prstGeom>
          <a:solidFill>
            <a:srgbClr val="141B28"/>
          </a:solidFill>
          <a:ln w="9525">
            <a:solidFill>
              <a:srgbClr val="263248"/>
            </a:solidFill>
            <a:prstDash val="solid"/>
          </a:ln>
        </p:spPr>
        <p:txBody>
          <a:bodyPr/>
          <a:lstStyle/>
          <a:p>
            <a:endParaRPr lang="en-IN"/>
          </a:p>
        </p:txBody>
      </p:sp>
      <p:sp>
        <p:nvSpPr>
          <p:cNvPr id="17" name="Text 13"/>
          <p:cNvSpPr txBox="1"/>
          <p:nvPr/>
        </p:nvSpPr>
        <p:spPr>
          <a:xfrm>
            <a:off x="4800600" y="4187952"/>
            <a:ext cx="1143000" cy="603504"/>
          </a:xfrm>
          <a:prstGeom prst="rect">
            <a:avLst/>
          </a:prstGeom>
          <a:noFill/>
          <a:ln/>
        </p:spPr>
        <p:txBody>
          <a:bodyPr wrap="square" lIns="0" tIns="0" rIns="0" bIns="0" rtlCol="0" anchor="ctr"/>
          <a:lstStyle/>
          <a:p>
            <a:pPr marL="0" indent="0">
              <a:buNone/>
            </a:pPr>
            <a:r>
              <a:rPr lang="en-US" sz="2800" b="1" dirty="0">
                <a:solidFill>
                  <a:srgbClr val="FBBF24"/>
                </a:solidFill>
                <a:latin typeface="Calibri" pitchFamily="34" charset="0"/>
                <a:ea typeface="Calibri" pitchFamily="34" charset="-122"/>
                <a:cs typeface="Calibri" pitchFamily="34" charset="-120"/>
              </a:rPr>
              <a:t>G2</a:t>
            </a:r>
            <a:endParaRPr lang="en-US" sz="2800" dirty="0"/>
          </a:p>
        </p:txBody>
      </p:sp>
      <p:sp>
        <p:nvSpPr>
          <p:cNvPr id="18" name="Text 14"/>
          <p:cNvSpPr txBox="1"/>
          <p:nvPr/>
        </p:nvSpPr>
        <p:spPr>
          <a:xfrm>
            <a:off x="6080760" y="4297680"/>
            <a:ext cx="5394960" cy="457200"/>
          </a:xfrm>
          <a:prstGeom prst="rect">
            <a:avLst/>
          </a:prstGeom>
          <a:noFill/>
          <a:ln/>
        </p:spPr>
        <p:txBody>
          <a:bodyPr wrap="square" lIns="0" tIns="0" rIns="0" bIns="0" rtlCol="0" anchor="t"/>
          <a:lstStyle/>
          <a:p>
            <a:pPr marL="0" indent="0">
              <a:buNone/>
            </a:pPr>
            <a:r>
              <a:rPr lang="en-US" sz="1500" dirty="0">
                <a:solidFill>
                  <a:srgbClr val="E8EDF6"/>
                </a:solidFill>
                <a:latin typeface="Calibri" pitchFamily="34" charset="0"/>
                <a:ea typeface="Calibri" pitchFamily="34" charset="-122"/>
                <a:cs typeface="Calibri" pitchFamily="34" charset="-120"/>
              </a:rPr>
              <a:t>rate and email obstructed → extractor abstains, never guesses</a:t>
            </a:r>
            <a:endParaRPr lang="en-US" sz="1500" dirty="0"/>
          </a:p>
        </p:txBody>
      </p:sp>
      <p:sp>
        <p:nvSpPr>
          <p:cNvPr id="19" name="Shape 15"/>
          <p:cNvSpPr/>
          <p:nvPr/>
        </p:nvSpPr>
        <p:spPr>
          <a:xfrm>
            <a:off x="4572000" y="5120640"/>
            <a:ext cx="7086600" cy="932688"/>
          </a:xfrm>
          <a:prstGeom prst="roundRect">
            <a:avLst>
              <a:gd name="adj" fmla="val 9804"/>
            </a:avLst>
          </a:prstGeom>
          <a:solidFill>
            <a:srgbClr val="141B28"/>
          </a:solidFill>
          <a:ln w="9525">
            <a:solidFill>
              <a:srgbClr val="263248"/>
            </a:solidFill>
            <a:prstDash val="solid"/>
          </a:ln>
        </p:spPr>
        <p:txBody>
          <a:bodyPr/>
          <a:lstStyle/>
          <a:p>
            <a:endParaRPr lang="en-IN"/>
          </a:p>
        </p:txBody>
      </p:sp>
      <p:sp>
        <p:nvSpPr>
          <p:cNvPr id="20" name="Text 16"/>
          <p:cNvSpPr txBox="1"/>
          <p:nvPr/>
        </p:nvSpPr>
        <p:spPr>
          <a:xfrm>
            <a:off x="4800600" y="5285232"/>
            <a:ext cx="1143000" cy="603504"/>
          </a:xfrm>
          <a:prstGeom prst="rect">
            <a:avLst/>
          </a:prstGeom>
          <a:noFill/>
          <a:ln/>
        </p:spPr>
        <p:txBody>
          <a:bodyPr wrap="square" lIns="0" tIns="0" rIns="0" bIns="0" rtlCol="0" anchor="ctr"/>
          <a:lstStyle/>
          <a:p>
            <a:pPr marL="0" indent="0">
              <a:buNone/>
            </a:pPr>
            <a:r>
              <a:rPr lang="en-US" sz="2800" b="1" dirty="0">
                <a:solidFill>
                  <a:srgbClr val="FBBF24"/>
                </a:solidFill>
                <a:latin typeface="Calibri" pitchFamily="34" charset="0"/>
                <a:ea typeface="Calibri" pitchFamily="34" charset="-122"/>
                <a:cs typeface="Calibri" pitchFamily="34" charset="-120"/>
              </a:rPr>
              <a:t>QA</a:t>
            </a:r>
            <a:endParaRPr lang="en-US" sz="2800" dirty="0"/>
          </a:p>
        </p:txBody>
      </p:sp>
      <p:sp>
        <p:nvSpPr>
          <p:cNvPr id="21" name="Text 17"/>
          <p:cNvSpPr txBox="1"/>
          <p:nvPr/>
        </p:nvSpPr>
        <p:spPr>
          <a:xfrm>
            <a:off x="6080760" y="5394960"/>
            <a:ext cx="5394960" cy="457200"/>
          </a:xfrm>
          <a:prstGeom prst="rect">
            <a:avLst/>
          </a:prstGeom>
          <a:noFill/>
          <a:ln/>
        </p:spPr>
        <p:txBody>
          <a:bodyPr wrap="square" lIns="0" tIns="0" rIns="0" bIns="0" rtlCol="0" anchor="t"/>
          <a:lstStyle/>
          <a:p>
            <a:pPr marL="0" indent="0">
              <a:buNone/>
            </a:pPr>
            <a:r>
              <a:rPr lang="en-US" sz="1500" dirty="0">
                <a:solidFill>
                  <a:srgbClr val="E8EDF6"/>
                </a:solidFill>
                <a:latin typeface="Calibri" pitchFamily="34" charset="0"/>
                <a:ea typeface="Calibri" pitchFamily="34" charset="-122"/>
                <a:cs typeface="Calibri" pitchFamily="34" charset="-120"/>
              </a:rPr>
              <a:t>a human decides; audible checks still pass</a:t>
            </a:r>
            <a:endParaRPr lang="en-US" sz="1500" dirty="0"/>
          </a:p>
        </p:txBody>
      </p:sp>
      <p:sp>
        <p:nvSpPr>
          <p:cNvPr id="22" name="Text 18"/>
          <p:cNvSpPr txBox="1"/>
          <p:nvPr/>
        </p:nvSpPr>
        <p:spPr>
          <a:xfrm>
            <a:off x="4572000" y="6217920"/>
            <a:ext cx="7086600" cy="274320"/>
          </a:xfrm>
          <a:prstGeom prst="rect">
            <a:avLst/>
          </a:prstGeom>
          <a:noFill/>
          <a:ln/>
        </p:spPr>
        <p:txBody>
          <a:bodyPr wrap="square" lIns="0" tIns="0" rIns="0" bIns="0" rtlCol="0" anchor="t"/>
          <a:lstStyle/>
          <a:p>
            <a:pPr marL="0" indent="0">
              <a:buNone/>
            </a:pPr>
            <a:r>
              <a:rPr lang="en-US" sz="1100" i="1" dirty="0">
                <a:solidFill>
                  <a:srgbClr val="6F7C94"/>
                </a:solidFill>
                <a:latin typeface="Calibri" pitchFamily="34" charset="0"/>
                <a:ea typeface="Calibri" pitchFamily="34" charset="-122"/>
                <a:cs typeface="Calibri" pitchFamily="34" charset="-120"/>
              </a:rPr>
              <a:t>The judging criterion: “Handles messy real calls — crosstalk, mishears, silence — without manufacturing false criticals.”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19</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18 · FOUND BY TESTING ON REAL AUDIO</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A mishear is not a keying error</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ElevenLabs Scribe heard “bigpond” as “bizpoint”. Before G7, that held a clean sale.</a:t>
            </a:r>
            <a:endParaRPr lang="en-US" sz="1500" dirty="0"/>
          </a:p>
        </p:txBody>
      </p:sp>
      <p:sp>
        <p:nvSpPr>
          <p:cNvPr id="8" name="Shape 5"/>
          <p:cNvSpPr/>
          <p:nvPr/>
        </p:nvSpPr>
        <p:spPr>
          <a:xfrm>
            <a:off x="493776" y="1728216"/>
            <a:ext cx="3362257" cy="4636008"/>
          </a:xfrm>
          <a:prstGeom prst="roundRect">
            <a:avLst>
              <a:gd name="adj" fmla="val 2176"/>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g7.png"/>
          <p:cNvPicPr>
            <a:picLocks noChangeAspect="1"/>
          </p:cNvPicPr>
          <p:nvPr/>
        </p:nvPicPr>
        <p:blipFill>
          <a:blip r:embed="rId3"/>
          <a:stretch>
            <a:fillRect/>
          </a:stretch>
        </p:blipFill>
        <p:spPr>
          <a:xfrm>
            <a:off x="548640" y="1783080"/>
            <a:ext cx="3252529" cy="4526280"/>
          </a:xfrm>
          <a:prstGeom prst="rect">
            <a:avLst/>
          </a:prstGeom>
        </p:spPr>
      </p:pic>
      <p:sp>
        <p:nvSpPr>
          <p:cNvPr id="10" name="Shape 6"/>
          <p:cNvSpPr/>
          <p:nvPr/>
        </p:nvSpPr>
        <p:spPr>
          <a:xfrm>
            <a:off x="4846320" y="1783080"/>
            <a:ext cx="6812280" cy="1170432"/>
          </a:xfrm>
          <a:prstGeom prst="roundRect">
            <a:avLst>
              <a:gd name="adj" fmla="val 7813"/>
            </a:avLst>
          </a:prstGeom>
          <a:solidFill>
            <a:srgbClr val="141B28"/>
          </a:solidFill>
          <a:ln w="9525">
            <a:solidFill>
              <a:srgbClr val="263248"/>
            </a:solidFill>
            <a:prstDash val="solid"/>
          </a:ln>
        </p:spPr>
        <p:txBody>
          <a:bodyPr/>
          <a:lstStyle/>
          <a:p>
            <a:endParaRPr lang="en-IN"/>
          </a:p>
        </p:txBody>
      </p:sp>
      <p:sp>
        <p:nvSpPr>
          <p:cNvPr id="11" name="Text 7"/>
          <p:cNvSpPr txBox="1"/>
          <p:nvPr/>
        </p:nvSpPr>
        <p:spPr>
          <a:xfrm>
            <a:off x="5029200" y="1911096"/>
            <a:ext cx="4572000" cy="274320"/>
          </a:xfrm>
          <a:prstGeom prst="rect">
            <a:avLst/>
          </a:prstGeom>
          <a:noFill/>
          <a:ln/>
        </p:spPr>
        <p:txBody>
          <a:bodyPr wrap="square" lIns="0" tIns="0" rIns="0" bIns="0" rtlCol="0" anchor="t"/>
          <a:lstStyle/>
          <a:p>
            <a:pPr marL="0" indent="0">
              <a:buNone/>
            </a:pPr>
            <a:r>
              <a:rPr lang="en-US" sz="950" b="1" dirty="0">
                <a:solidFill>
                  <a:srgbClr val="6F7C94"/>
                </a:solidFill>
                <a:latin typeface="Calibri" pitchFamily="34" charset="0"/>
                <a:ea typeface="Calibri" pitchFamily="34" charset="-122"/>
                <a:cs typeface="Calibri" pitchFamily="34" charset="-120"/>
              </a:rPr>
              <a:t>HEARD  </a:t>
            </a:r>
            <a:r>
              <a:rPr lang="en-US" sz="1200" dirty="0">
                <a:solidFill>
                  <a:srgbClr val="E8EDF6"/>
                </a:solidFill>
                <a:latin typeface="Courier New" pitchFamily="34" charset="0"/>
                <a:ea typeface="Courier New" pitchFamily="34" charset="-122"/>
                <a:cs typeface="Courier New" pitchFamily="34" charset="-120"/>
              </a:rPr>
              <a:t>mario.bianchi@bizpoint.com</a:t>
            </a:r>
            <a:endParaRPr lang="en-US" sz="1200" dirty="0"/>
          </a:p>
        </p:txBody>
      </p:sp>
      <p:sp>
        <p:nvSpPr>
          <p:cNvPr id="12" name="Text 8"/>
          <p:cNvSpPr txBox="1"/>
          <p:nvPr/>
        </p:nvSpPr>
        <p:spPr>
          <a:xfrm>
            <a:off x="5029200" y="2203704"/>
            <a:ext cx="4572000" cy="274320"/>
          </a:xfrm>
          <a:prstGeom prst="rect">
            <a:avLst/>
          </a:prstGeom>
          <a:noFill/>
          <a:ln/>
        </p:spPr>
        <p:txBody>
          <a:bodyPr wrap="square" lIns="0" tIns="0" rIns="0" bIns="0" rtlCol="0" anchor="t"/>
          <a:lstStyle/>
          <a:p>
            <a:pPr marL="0" indent="0">
              <a:buNone/>
            </a:pPr>
            <a:r>
              <a:rPr lang="en-US" sz="950" b="1" dirty="0">
                <a:solidFill>
                  <a:srgbClr val="6F7C94"/>
                </a:solidFill>
                <a:latin typeface="Calibri" pitchFamily="34" charset="0"/>
                <a:ea typeface="Calibri" pitchFamily="34" charset="-122"/>
                <a:cs typeface="Calibri" pitchFamily="34" charset="-120"/>
              </a:rPr>
              <a:t>CRM    </a:t>
            </a:r>
            <a:r>
              <a:rPr lang="en-US" sz="1200" dirty="0">
                <a:solidFill>
                  <a:srgbClr val="E8EDF6"/>
                </a:solidFill>
                <a:latin typeface="Courier New" pitchFamily="34" charset="0"/>
                <a:ea typeface="Courier New" pitchFamily="34" charset="-122"/>
                <a:cs typeface="Courier New" pitchFamily="34" charset="-120"/>
              </a:rPr>
              <a:t>mario.bianchi@bigpond.com</a:t>
            </a:r>
            <a:endParaRPr lang="en-US" sz="1200" dirty="0"/>
          </a:p>
        </p:txBody>
      </p:sp>
      <p:sp>
        <p:nvSpPr>
          <p:cNvPr id="13" name="Text 9"/>
          <p:cNvSpPr txBox="1"/>
          <p:nvPr/>
        </p:nvSpPr>
        <p:spPr>
          <a:xfrm>
            <a:off x="5029200" y="2551176"/>
            <a:ext cx="4572000" cy="32004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Real provider in CRM, non-existent one heard</a:t>
            </a:r>
            <a:endParaRPr lang="en-US" sz="1200" dirty="0"/>
          </a:p>
        </p:txBody>
      </p:sp>
      <p:sp>
        <p:nvSpPr>
          <p:cNvPr id="14" name="Shape 10"/>
          <p:cNvSpPr/>
          <p:nvPr/>
        </p:nvSpPr>
        <p:spPr>
          <a:xfrm>
            <a:off x="9692640" y="2231136"/>
            <a:ext cx="178308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15" name="Text 11"/>
          <p:cNvSpPr txBox="1"/>
          <p:nvPr/>
        </p:nvSpPr>
        <p:spPr>
          <a:xfrm>
            <a:off x="9692640" y="2231136"/>
            <a:ext cx="178308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UNSURE → human</a:t>
            </a:r>
            <a:endParaRPr lang="en-US" sz="1050" dirty="0"/>
          </a:p>
        </p:txBody>
      </p:sp>
      <p:sp>
        <p:nvSpPr>
          <p:cNvPr id="16" name="Shape 12"/>
          <p:cNvSpPr/>
          <p:nvPr/>
        </p:nvSpPr>
        <p:spPr>
          <a:xfrm>
            <a:off x="4846320" y="3081528"/>
            <a:ext cx="6812280" cy="1170432"/>
          </a:xfrm>
          <a:prstGeom prst="roundRect">
            <a:avLst>
              <a:gd name="adj" fmla="val 7813"/>
            </a:avLst>
          </a:prstGeom>
          <a:solidFill>
            <a:srgbClr val="141B28"/>
          </a:solidFill>
          <a:ln w="9525">
            <a:solidFill>
              <a:srgbClr val="263248"/>
            </a:solidFill>
            <a:prstDash val="solid"/>
          </a:ln>
        </p:spPr>
        <p:txBody>
          <a:bodyPr/>
          <a:lstStyle/>
          <a:p>
            <a:endParaRPr lang="en-IN"/>
          </a:p>
        </p:txBody>
      </p:sp>
      <p:sp>
        <p:nvSpPr>
          <p:cNvPr id="17" name="Text 13"/>
          <p:cNvSpPr txBox="1"/>
          <p:nvPr/>
        </p:nvSpPr>
        <p:spPr>
          <a:xfrm>
            <a:off x="5029200" y="3209544"/>
            <a:ext cx="4572000" cy="274320"/>
          </a:xfrm>
          <a:prstGeom prst="rect">
            <a:avLst/>
          </a:prstGeom>
          <a:noFill/>
          <a:ln/>
        </p:spPr>
        <p:txBody>
          <a:bodyPr wrap="square" lIns="0" tIns="0" rIns="0" bIns="0" rtlCol="0" anchor="t"/>
          <a:lstStyle/>
          <a:p>
            <a:pPr marL="0" indent="0">
              <a:buNone/>
            </a:pPr>
            <a:r>
              <a:rPr lang="en-US" sz="950" b="1" dirty="0">
                <a:solidFill>
                  <a:srgbClr val="6F7C94"/>
                </a:solidFill>
                <a:latin typeface="Calibri" pitchFamily="34" charset="0"/>
                <a:ea typeface="Calibri" pitchFamily="34" charset="-122"/>
                <a:cs typeface="Calibri" pitchFamily="34" charset="-120"/>
              </a:rPr>
              <a:t>HEARD  </a:t>
            </a:r>
            <a:r>
              <a:rPr lang="en-US" sz="1200" dirty="0">
                <a:solidFill>
                  <a:srgbClr val="E8EDF6"/>
                </a:solidFill>
                <a:latin typeface="Courier New" pitchFamily="34" charset="0"/>
                <a:ea typeface="Courier New" pitchFamily="34" charset="-122"/>
                <a:cs typeface="Courier New" pitchFamily="34" charset="-120"/>
              </a:rPr>
              <a:t>aisha.raman@gmail.com</a:t>
            </a:r>
            <a:endParaRPr lang="en-US" sz="1200" dirty="0"/>
          </a:p>
        </p:txBody>
      </p:sp>
      <p:sp>
        <p:nvSpPr>
          <p:cNvPr id="18" name="Text 14"/>
          <p:cNvSpPr txBox="1"/>
          <p:nvPr/>
        </p:nvSpPr>
        <p:spPr>
          <a:xfrm>
            <a:off x="5029200" y="3502152"/>
            <a:ext cx="4572000" cy="274320"/>
          </a:xfrm>
          <a:prstGeom prst="rect">
            <a:avLst/>
          </a:prstGeom>
          <a:noFill/>
          <a:ln/>
        </p:spPr>
        <p:txBody>
          <a:bodyPr wrap="square" lIns="0" tIns="0" rIns="0" bIns="0" rtlCol="0" anchor="t"/>
          <a:lstStyle/>
          <a:p>
            <a:pPr marL="0" indent="0">
              <a:buNone/>
            </a:pPr>
            <a:r>
              <a:rPr lang="en-US" sz="950" b="1" dirty="0">
                <a:solidFill>
                  <a:srgbClr val="6F7C94"/>
                </a:solidFill>
                <a:latin typeface="Calibri" pitchFamily="34" charset="0"/>
                <a:ea typeface="Calibri" pitchFamily="34" charset="-122"/>
                <a:cs typeface="Calibri" pitchFamily="34" charset="-120"/>
              </a:rPr>
              <a:t>CRM    </a:t>
            </a:r>
            <a:r>
              <a:rPr lang="en-US" sz="1200" dirty="0">
                <a:solidFill>
                  <a:srgbClr val="E8EDF6"/>
                </a:solidFill>
                <a:latin typeface="Courier New" pitchFamily="34" charset="0"/>
                <a:ea typeface="Courier New" pitchFamily="34" charset="-122"/>
                <a:cs typeface="Courier New" pitchFamily="34" charset="-120"/>
              </a:rPr>
              <a:t>aisha.rahman@gmail.com</a:t>
            </a:r>
            <a:endParaRPr lang="en-US" sz="1200" dirty="0"/>
          </a:p>
        </p:txBody>
      </p:sp>
      <p:sp>
        <p:nvSpPr>
          <p:cNvPr id="19" name="Text 15"/>
          <p:cNvSpPr txBox="1"/>
          <p:nvPr/>
        </p:nvSpPr>
        <p:spPr>
          <a:xfrm>
            <a:off x="5029200" y="3849624"/>
            <a:ext cx="4572000" cy="32004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Spellings sound identical</a:t>
            </a:r>
            <a:endParaRPr lang="en-US" sz="1200" dirty="0"/>
          </a:p>
        </p:txBody>
      </p:sp>
      <p:sp>
        <p:nvSpPr>
          <p:cNvPr id="20" name="Shape 16"/>
          <p:cNvSpPr/>
          <p:nvPr/>
        </p:nvSpPr>
        <p:spPr>
          <a:xfrm>
            <a:off x="9692640" y="3529584"/>
            <a:ext cx="178308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21" name="Text 17"/>
          <p:cNvSpPr txBox="1"/>
          <p:nvPr/>
        </p:nvSpPr>
        <p:spPr>
          <a:xfrm>
            <a:off x="9692640" y="3529584"/>
            <a:ext cx="178308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UNSURE → human</a:t>
            </a:r>
            <a:endParaRPr lang="en-US" sz="1050" dirty="0"/>
          </a:p>
        </p:txBody>
      </p:sp>
      <p:sp>
        <p:nvSpPr>
          <p:cNvPr id="22" name="Shape 18"/>
          <p:cNvSpPr/>
          <p:nvPr/>
        </p:nvSpPr>
        <p:spPr>
          <a:xfrm>
            <a:off x="4846320" y="4379976"/>
            <a:ext cx="6812280" cy="1170432"/>
          </a:xfrm>
          <a:prstGeom prst="roundRect">
            <a:avLst>
              <a:gd name="adj" fmla="val 7813"/>
            </a:avLst>
          </a:prstGeom>
          <a:solidFill>
            <a:srgbClr val="141B28"/>
          </a:solidFill>
          <a:ln w="9525">
            <a:solidFill>
              <a:srgbClr val="263248"/>
            </a:solidFill>
            <a:prstDash val="solid"/>
          </a:ln>
        </p:spPr>
        <p:txBody>
          <a:bodyPr/>
          <a:lstStyle/>
          <a:p>
            <a:endParaRPr lang="en-IN"/>
          </a:p>
        </p:txBody>
      </p:sp>
      <p:sp>
        <p:nvSpPr>
          <p:cNvPr id="23" name="Text 19"/>
          <p:cNvSpPr txBox="1"/>
          <p:nvPr/>
        </p:nvSpPr>
        <p:spPr>
          <a:xfrm>
            <a:off x="5029200" y="4507992"/>
            <a:ext cx="4572000" cy="274320"/>
          </a:xfrm>
          <a:prstGeom prst="rect">
            <a:avLst/>
          </a:prstGeom>
          <a:noFill/>
          <a:ln/>
        </p:spPr>
        <p:txBody>
          <a:bodyPr wrap="square" lIns="0" tIns="0" rIns="0" bIns="0" rtlCol="0" anchor="t"/>
          <a:lstStyle/>
          <a:p>
            <a:pPr marL="0" indent="0">
              <a:buNone/>
            </a:pPr>
            <a:r>
              <a:rPr lang="en-US" sz="950" b="1" dirty="0">
                <a:solidFill>
                  <a:srgbClr val="6F7C94"/>
                </a:solidFill>
                <a:latin typeface="Calibri" pitchFamily="34" charset="0"/>
                <a:ea typeface="Calibri" pitchFamily="34" charset="-122"/>
                <a:cs typeface="Calibri" pitchFamily="34" charset="-120"/>
              </a:rPr>
              <a:t>HEARD  </a:t>
            </a:r>
            <a:r>
              <a:rPr lang="en-US" sz="1200" dirty="0">
                <a:solidFill>
                  <a:srgbClr val="E8EDF6"/>
                </a:solidFill>
                <a:latin typeface="Courier New" pitchFamily="34" charset="0"/>
                <a:ea typeface="Courier New" pitchFamily="34" charset="-122"/>
                <a:cs typeface="Courier New" pitchFamily="34" charset="-120"/>
              </a:rPr>
              <a:t>j.smith@gmail.com</a:t>
            </a:r>
            <a:endParaRPr lang="en-US" sz="1200" dirty="0"/>
          </a:p>
        </p:txBody>
      </p:sp>
      <p:sp>
        <p:nvSpPr>
          <p:cNvPr id="24" name="Text 20"/>
          <p:cNvSpPr txBox="1"/>
          <p:nvPr/>
        </p:nvSpPr>
        <p:spPr>
          <a:xfrm>
            <a:off x="5029200" y="4800600"/>
            <a:ext cx="4572000" cy="274320"/>
          </a:xfrm>
          <a:prstGeom prst="rect">
            <a:avLst/>
          </a:prstGeom>
          <a:noFill/>
          <a:ln/>
        </p:spPr>
        <p:txBody>
          <a:bodyPr wrap="square" lIns="0" tIns="0" rIns="0" bIns="0" rtlCol="0" anchor="t"/>
          <a:lstStyle/>
          <a:p>
            <a:pPr marL="0" indent="0">
              <a:buNone/>
            </a:pPr>
            <a:r>
              <a:rPr lang="en-US" sz="950" b="1" dirty="0">
                <a:solidFill>
                  <a:srgbClr val="6F7C94"/>
                </a:solidFill>
                <a:latin typeface="Calibri" pitchFamily="34" charset="0"/>
                <a:ea typeface="Calibri" pitchFamily="34" charset="-122"/>
                <a:cs typeface="Calibri" pitchFamily="34" charset="-120"/>
              </a:rPr>
              <a:t>CRM    </a:t>
            </a:r>
            <a:r>
              <a:rPr lang="en-US" sz="1200" dirty="0">
                <a:solidFill>
                  <a:srgbClr val="E8EDF6"/>
                </a:solidFill>
                <a:latin typeface="Courier New" pitchFamily="34" charset="0"/>
                <a:ea typeface="Courier New" pitchFamily="34" charset="-122"/>
                <a:cs typeface="Courier New" pitchFamily="34" charset="-120"/>
              </a:rPr>
              <a:t>j.smith@gmial.com</a:t>
            </a:r>
            <a:endParaRPr lang="en-US" sz="1200" dirty="0"/>
          </a:p>
        </p:txBody>
      </p:sp>
      <p:sp>
        <p:nvSpPr>
          <p:cNvPr id="25" name="Text 21"/>
          <p:cNvSpPr txBox="1"/>
          <p:nvPr/>
        </p:nvSpPr>
        <p:spPr>
          <a:xfrm>
            <a:off x="5029200" y="5148072"/>
            <a:ext cx="4572000" cy="32004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CRM domain isn't a real provider: keying error</a:t>
            </a:r>
            <a:endParaRPr lang="en-US" sz="1200" dirty="0"/>
          </a:p>
        </p:txBody>
      </p:sp>
      <p:sp>
        <p:nvSpPr>
          <p:cNvPr id="26" name="Shape 22"/>
          <p:cNvSpPr/>
          <p:nvPr/>
        </p:nvSpPr>
        <p:spPr>
          <a:xfrm>
            <a:off x="9692640" y="4828032"/>
            <a:ext cx="1783080" cy="274320"/>
          </a:xfrm>
          <a:prstGeom prst="roundRect">
            <a:avLst>
              <a:gd name="adj" fmla="val 50000"/>
            </a:avLst>
          </a:prstGeom>
          <a:solidFill>
            <a:srgbClr val="F87171">
              <a:alpha val="18000"/>
            </a:srgbClr>
          </a:solidFill>
          <a:ln w="9525">
            <a:solidFill>
              <a:srgbClr val="F87171"/>
            </a:solidFill>
            <a:prstDash val="solid"/>
          </a:ln>
        </p:spPr>
        <p:txBody>
          <a:bodyPr/>
          <a:lstStyle/>
          <a:p>
            <a:endParaRPr lang="en-IN"/>
          </a:p>
        </p:txBody>
      </p:sp>
      <p:sp>
        <p:nvSpPr>
          <p:cNvPr id="27" name="Text 23"/>
          <p:cNvSpPr txBox="1"/>
          <p:nvPr/>
        </p:nvSpPr>
        <p:spPr>
          <a:xfrm>
            <a:off x="9692640" y="4828032"/>
            <a:ext cx="1783080" cy="274320"/>
          </a:xfrm>
          <a:prstGeom prst="rect">
            <a:avLst/>
          </a:prstGeom>
          <a:noFill/>
          <a:ln/>
        </p:spPr>
        <p:txBody>
          <a:bodyPr wrap="square" lIns="0" tIns="0" rIns="0" bIns="0"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FAIL → held</a:t>
            </a:r>
            <a:endParaRPr lang="en-US" sz="1050" dirty="0"/>
          </a:p>
        </p:txBody>
      </p:sp>
      <p:sp>
        <p:nvSpPr>
          <p:cNvPr id="28" name="Text 24"/>
          <p:cNvSpPr txBox="1"/>
          <p:nvPr/>
        </p:nvSpPr>
        <p:spPr>
          <a:xfrm>
            <a:off x="4846320" y="5760720"/>
            <a:ext cx="6812280" cy="365760"/>
          </a:xfrm>
          <a:prstGeom prst="rect">
            <a:avLst/>
          </a:prstGeom>
          <a:noFill/>
          <a:ln/>
        </p:spPr>
        <p:txBody>
          <a:bodyPr wrap="square" lIns="0" tIns="0" rIns="0" bIns="0" rtlCol="0" anchor="t"/>
          <a:lstStyle/>
          <a:p>
            <a:pPr marL="0" indent="0">
              <a:buNone/>
            </a:pPr>
            <a:r>
              <a:rPr lang="en-US" sz="1150" dirty="0">
                <a:solidFill>
                  <a:srgbClr val="6F7C94"/>
                </a:solidFill>
                <a:latin typeface="Calibri" pitchFamily="34" charset="0"/>
                <a:ea typeface="Calibri" pitchFamily="34" charset="-122"/>
                <a:cs typeface="Calibri" pitchFamily="34" charset="-120"/>
              </a:rPr>
              <a:t>Also from real ASR: US spellings (“authorized”) now match Australian scripts (“authorised”).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20</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19 · MULTI-RETAILER, MULTI-VERTICAL</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Checklist packs — and the official NBN artefact</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Lead 3613793: the redacted internet sales call, scored against a 12-check NBN pack.</a:t>
            </a:r>
            <a:endParaRPr lang="en-US" sz="1500" dirty="0"/>
          </a:p>
        </p:txBody>
      </p:sp>
      <p:sp>
        <p:nvSpPr>
          <p:cNvPr id="8" name="Shape 5"/>
          <p:cNvSpPr/>
          <p:nvPr/>
        </p:nvSpPr>
        <p:spPr>
          <a:xfrm>
            <a:off x="493776" y="1728216"/>
            <a:ext cx="5880608" cy="3355848"/>
          </a:xfrm>
          <a:prstGeom prst="roundRect">
            <a:avLst>
              <a:gd name="adj" fmla="val 2180"/>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nbn.png"/>
          <p:cNvPicPr>
            <a:picLocks noChangeAspect="1"/>
          </p:cNvPicPr>
          <p:nvPr/>
        </p:nvPicPr>
        <p:blipFill>
          <a:blip r:embed="rId3"/>
          <a:stretch>
            <a:fillRect/>
          </a:stretch>
        </p:blipFill>
        <p:spPr>
          <a:xfrm>
            <a:off x="548640" y="1783080"/>
            <a:ext cx="5770880" cy="3246120"/>
          </a:xfrm>
          <a:prstGeom prst="rect">
            <a:avLst/>
          </a:prstGeom>
        </p:spPr>
      </p:pic>
      <p:sp>
        <p:nvSpPr>
          <p:cNvPr id="10" name="Text 6"/>
          <p:cNvSpPr txBox="1"/>
          <p:nvPr/>
        </p:nvSpPr>
        <p:spPr>
          <a:xfrm>
            <a:off x="548640" y="5212080"/>
            <a:ext cx="6035040" cy="1143000"/>
          </a:xfrm>
          <a:prstGeom prst="rect">
            <a:avLst/>
          </a:prstGeom>
          <a:noFill/>
          <a:ln/>
        </p:spPr>
        <p:txBody>
          <a:bodyPr wrap="square" lIns="0" tIns="0" rIns="0" bIns="0" rtlCol="0" anchor="t"/>
          <a:lstStyle/>
          <a:p>
            <a:pPr marL="203200" indent="-203200">
              <a:spcAft>
                <a:spcPts val="200"/>
              </a:spcAft>
              <a:buSzPct val="100000"/>
              <a:buChar char="•"/>
            </a:pPr>
            <a:r>
              <a:rPr lang="en-US" sz="1150" b="1" dirty="0">
                <a:solidFill>
                  <a:srgbClr val="E8EDF6"/>
                </a:solidFill>
                <a:latin typeface="Calibri" pitchFamily="34" charset="0"/>
                <a:ea typeface="Calibri" pitchFamily="34" charset="-122"/>
                <a:cs typeface="Calibri" pitchFamily="34" charset="-120"/>
              </a:rPr>
              <a:t>Packs:</a:t>
            </a:r>
            <a:r>
              <a:rPr lang="en-US" sz="1150" dirty="0">
                <a:solidFill>
                  <a:srgbClr val="A3AEC3"/>
                </a:solidFill>
                <a:latin typeface="Calibri" pitchFamily="34" charset="0"/>
                <a:ea typeface="Calibri" pitchFamily="34" charset="-122"/>
                <a:cs typeface="Calibri" pitchFamily="34" charset="-120"/>
              </a:rPr>
              <a:t> Retailer 1 energy (9 checks) is the default; NBN-QA (12) applies to leads that name it.</a:t>
            </a:r>
            <a:endParaRPr lang="en-US" sz="1150" dirty="0"/>
          </a:p>
          <a:p>
            <a:pPr marL="203200" indent="-203200">
              <a:spcAft>
                <a:spcPts val="200"/>
              </a:spcAft>
              <a:buSzPct val="100000"/>
              <a:buChar char="•"/>
            </a:pPr>
            <a:r>
              <a:rPr lang="en-US" sz="1150" b="1" dirty="0">
                <a:solidFill>
                  <a:srgbClr val="E8EDF6"/>
                </a:solidFill>
                <a:latin typeface="Calibri" pitchFamily="34" charset="0"/>
                <a:ea typeface="Calibri" pitchFamily="34" charset="-122"/>
                <a:cs typeface="Calibri" pitchFamily="34" charset="-120"/>
              </a:rPr>
              <a:t>Transcript:</a:t>
            </a:r>
            <a:r>
              <a:rPr lang="en-US" sz="1150" dirty="0">
                <a:solidFill>
                  <a:srgbClr val="A3AEC3"/>
                </a:solidFill>
                <a:latin typeface="Calibri" pitchFamily="34" charset="0"/>
                <a:ea typeface="Calibri" pitchFamily="34" charset="-122"/>
                <a:cs typeface="Calibri" pitchFamily="34" charset="-120"/>
              </a:rPr>
              <a:t> copied row for row from the redacted PDF; all 15 placeholder tags kept verbatim.</a:t>
            </a:r>
            <a:endParaRPr lang="en-US" sz="1150" dirty="0"/>
          </a:p>
          <a:p>
            <a:pPr marL="203200" indent="-203200">
              <a:spcAft>
                <a:spcPts val="200"/>
              </a:spcAft>
              <a:buSzPct val="100000"/>
              <a:buChar char="•"/>
            </a:pPr>
            <a:r>
              <a:rPr lang="en-US" sz="1150" b="1" dirty="0">
                <a:solidFill>
                  <a:srgbClr val="E8EDF6"/>
                </a:solidFill>
                <a:latin typeface="Calibri" pitchFamily="34" charset="0"/>
                <a:ea typeface="Calibri" pitchFamily="34" charset="-122"/>
                <a:cs typeface="Calibri" pitchFamily="34" charset="-120"/>
              </a:rPr>
              <a:t>No regressions:</a:t>
            </a:r>
            <a:r>
              <a:rPr lang="en-US" sz="1150" dirty="0">
                <a:solidFill>
                  <a:srgbClr val="A3AEC3"/>
                </a:solidFill>
                <a:latin typeface="Calibri" pitchFamily="34" charset="0"/>
                <a:ea typeface="Calibri" pitchFamily="34" charset="-122"/>
                <a:cs typeface="Calibri" pitchFamily="34" charset="-120"/>
              </a:rPr>
              <a:t> 0 verdict changes on 3613790–92 after adding the pack.</a:t>
            </a:r>
            <a:endParaRPr lang="en-US" sz="1150" dirty="0"/>
          </a:p>
          <a:p>
            <a:pPr marL="203200" indent="-203200">
              <a:spcAft>
                <a:spcPts val="200"/>
              </a:spcAft>
              <a:buSzPct val="100000"/>
              <a:buChar char="•"/>
            </a:pPr>
            <a:r>
              <a:rPr lang="en-US" sz="1150" b="1" dirty="0">
                <a:solidFill>
                  <a:srgbClr val="E8EDF6"/>
                </a:solidFill>
                <a:latin typeface="Calibri" pitchFamily="34" charset="0"/>
                <a:ea typeface="Calibri" pitchFamily="34" charset="-122"/>
                <a:cs typeface="Calibri" pitchFamily="34" charset="-120"/>
              </a:rPr>
              <a:t>Honest timing:</a:t>
            </a:r>
            <a:r>
              <a:rPr lang="en-US" sz="1150" dirty="0">
                <a:solidFill>
                  <a:srgbClr val="A3AEC3"/>
                </a:solidFill>
                <a:latin typeface="Calibri" pitchFamily="34" charset="0"/>
                <a:ea typeface="Calibri" pitchFamily="34" charset="-122"/>
                <a:cs typeface="Calibri" pitchFamily="34" charset="-120"/>
              </a:rPr>
              <a:t> the PDF has no audio, so timestamps are estimated from turn order — and labelled as such.</a:t>
            </a:r>
            <a:endParaRPr lang="en-US" sz="1150" dirty="0"/>
          </a:p>
        </p:txBody>
      </p:sp>
      <p:sp>
        <p:nvSpPr>
          <p:cNvPr id="11" name="Shape 7"/>
          <p:cNvSpPr/>
          <p:nvPr/>
        </p:nvSpPr>
        <p:spPr>
          <a:xfrm>
            <a:off x="6903720" y="1783080"/>
            <a:ext cx="4754880" cy="1280160"/>
          </a:xfrm>
          <a:prstGeom prst="roundRect">
            <a:avLst>
              <a:gd name="adj" fmla="val 7143"/>
            </a:avLst>
          </a:prstGeom>
          <a:solidFill>
            <a:srgbClr val="141B28"/>
          </a:solidFill>
          <a:ln w="9525">
            <a:solidFill>
              <a:srgbClr val="263248"/>
            </a:solidFill>
            <a:prstDash val="solid"/>
          </a:ln>
        </p:spPr>
        <p:txBody>
          <a:bodyPr/>
          <a:lstStyle/>
          <a:p>
            <a:endParaRPr lang="en-IN"/>
          </a:p>
        </p:txBody>
      </p:sp>
      <p:sp>
        <p:nvSpPr>
          <p:cNvPr id="12" name="Shape 8"/>
          <p:cNvSpPr/>
          <p:nvPr/>
        </p:nvSpPr>
        <p:spPr>
          <a:xfrm>
            <a:off x="7132320" y="1965960"/>
            <a:ext cx="137160" cy="137160"/>
          </a:xfrm>
          <a:prstGeom prst="ellipse">
            <a:avLst/>
          </a:prstGeom>
          <a:solidFill>
            <a:srgbClr val="6AA8FF"/>
          </a:solidFill>
          <a:ln w="12700">
            <a:solidFill>
              <a:srgbClr val="6AA8FF"/>
            </a:solidFill>
            <a:prstDash val="solid"/>
          </a:ln>
        </p:spPr>
        <p:txBody>
          <a:bodyPr/>
          <a:lstStyle/>
          <a:p>
            <a:endParaRPr lang="en-IN"/>
          </a:p>
        </p:txBody>
      </p:sp>
      <p:sp>
        <p:nvSpPr>
          <p:cNvPr id="13" name="Text 9"/>
          <p:cNvSpPr txBox="1"/>
          <p:nvPr/>
        </p:nvSpPr>
        <p:spPr>
          <a:xfrm>
            <a:off x="7360920" y="1892808"/>
            <a:ext cx="411480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Type A · script &amp; rules</a:t>
            </a:r>
            <a:endParaRPr lang="en-US" sz="1350" dirty="0"/>
          </a:p>
        </p:txBody>
      </p:sp>
      <p:sp>
        <p:nvSpPr>
          <p:cNvPr id="14" name="Text 10"/>
          <p:cNvSpPr txBox="1"/>
          <p:nvPr/>
        </p:nvSpPr>
        <p:spPr>
          <a:xfrm>
            <a:off x="7360920" y="2194560"/>
            <a:ext cx="4114800" cy="82296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Recording disclaimer at the open</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Identity verified (name, email, DOB)</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Card kept off the recording (mute, no PAN)</a:t>
            </a:r>
            <a:endParaRPr lang="en-US" sz="1150" dirty="0"/>
          </a:p>
        </p:txBody>
      </p:sp>
      <p:sp>
        <p:nvSpPr>
          <p:cNvPr id="15" name="Shape 11"/>
          <p:cNvSpPr/>
          <p:nvPr/>
        </p:nvSpPr>
        <p:spPr>
          <a:xfrm>
            <a:off x="6903720" y="3200400"/>
            <a:ext cx="4754880" cy="2377440"/>
          </a:xfrm>
          <a:prstGeom prst="roundRect">
            <a:avLst>
              <a:gd name="adj" fmla="val 3846"/>
            </a:avLst>
          </a:prstGeom>
          <a:solidFill>
            <a:srgbClr val="141B28"/>
          </a:solidFill>
          <a:ln w="9525">
            <a:solidFill>
              <a:srgbClr val="263248"/>
            </a:solidFill>
            <a:prstDash val="solid"/>
          </a:ln>
        </p:spPr>
        <p:txBody>
          <a:bodyPr/>
          <a:lstStyle/>
          <a:p>
            <a:endParaRPr lang="en-IN"/>
          </a:p>
        </p:txBody>
      </p:sp>
      <p:sp>
        <p:nvSpPr>
          <p:cNvPr id="16" name="Shape 12"/>
          <p:cNvSpPr/>
          <p:nvPr/>
        </p:nvSpPr>
        <p:spPr>
          <a:xfrm>
            <a:off x="7132320" y="3383280"/>
            <a:ext cx="137160" cy="137160"/>
          </a:xfrm>
          <a:prstGeom prst="ellipse">
            <a:avLst/>
          </a:prstGeom>
          <a:solidFill>
            <a:srgbClr val="FBBF24"/>
          </a:solidFill>
          <a:ln w="12700">
            <a:solidFill>
              <a:srgbClr val="FBBF24"/>
            </a:solidFill>
            <a:prstDash val="solid"/>
          </a:ln>
        </p:spPr>
        <p:txBody>
          <a:bodyPr/>
          <a:lstStyle/>
          <a:p>
            <a:endParaRPr lang="en-IN"/>
          </a:p>
        </p:txBody>
      </p:sp>
      <p:sp>
        <p:nvSpPr>
          <p:cNvPr id="17" name="Text 13"/>
          <p:cNvSpPr txBox="1"/>
          <p:nvPr/>
        </p:nvSpPr>
        <p:spPr>
          <a:xfrm>
            <a:off x="7360920" y="3310128"/>
            <a:ext cx="411480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Type B · facts vs plan</a:t>
            </a:r>
            <a:endParaRPr lang="en-US" sz="1350" dirty="0"/>
          </a:p>
        </p:txBody>
      </p:sp>
      <p:sp>
        <p:nvSpPr>
          <p:cNvPr id="18" name="Text 14"/>
          <p:cNvSpPr txBox="1"/>
          <p:nvPr/>
        </p:nvSpPr>
        <p:spPr>
          <a:xfrm>
            <a:off x="7360920" y="3611880"/>
            <a:ext cx="4114800" cy="19202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Promo price + months</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Ongoing price</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Typical evening speed</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Modem model + cost</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Total minimum cost</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Development fee vs order screen</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Contract term</a:t>
            </a:r>
            <a:endParaRPr lang="en-US" sz="1150" dirty="0"/>
          </a:p>
        </p:txBody>
      </p:sp>
      <p:sp>
        <p:nvSpPr>
          <p:cNvPr id="19" name="Shape 15"/>
          <p:cNvSpPr/>
          <p:nvPr/>
        </p:nvSpPr>
        <p:spPr>
          <a:xfrm>
            <a:off x="6903720" y="5715000"/>
            <a:ext cx="4754880" cy="1005840"/>
          </a:xfrm>
          <a:prstGeom prst="roundRect">
            <a:avLst>
              <a:gd name="adj" fmla="val 9091"/>
            </a:avLst>
          </a:prstGeom>
          <a:solidFill>
            <a:srgbClr val="141B28"/>
          </a:solidFill>
          <a:ln w="9525">
            <a:solidFill>
              <a:srgbClr val="263248"/>
            </a:solidFill>
            <a:prstDash val="solid"/>
          </a:ln>
        </p:spPr>
        <p:txBody>
          <a:bodyPr/>
          <a:lstStyle/>
          <a:p>
            <a:endParaRPr lang="en-IN"/>
          </a:p>
        </p:txBody>
      </p:sp>
      <p:sp>
        <p:nvSpPr>
          <p:cNvPr id="20" name="Shape 16"/>
          <p:cNvSpPr/>
          <p:nvPr/>
        </p:nvSpPr>
        <p:spPr>
          <a:xfrm>
            <a:off x="7132320" y="5897880"/>
            <a:ext cx="137160" cy="137160"/>
          </a:xfrm>
          <a:prstGeom prst="ellipse">
            <a:avLst/>
          </a:prstGeom>
          <a:solidFill>
            <a:srgbClr val="5EEAD4"/>
          </a:solidFill>
          <a:ln w="12700">
            <a:solidFill>
              <a:srgbClr val="5EEAD4"/>
            </a:solidFill>
            <a:prstDash val="solid"/>
          </a:ln>
        </p:spPr>
        <p:txBody>
          <a:bodyPr/>
          <a:lstStyle/>
          <a:p>
            <a:endParaRPr lang="en-IN"/>
          </a:p>
        </p:txBody>
      </p:sp>
      <p:sp>
        <p:nvSpPr>
          <p:cNvPr id="21" name="Text 17"/>
          <p:cNvSpPr txBox="1"/>
          <p:nvPr/>
        </p:nvSpPr>
        <p:spPr>
          <a:xfrm>
            <a:off x="7360920" y="5824728"/>
            <a:ext cx="4114800" cy="274320"/>
          </a:xfrm>
          <a:prstGeom prst="rect">
            <a:avLst/>
          </a:prstGeom>
          <a:noFill/>
          <a:ln/>
        </p:spPr>
        <p:txBody>
          <a:bodyPr wrap="square" lIns="0" tIns="0" rIns="0" bIns="0" rtlCol="0" anchor="t"/>
          <a:lstStyle/>
          <a:p>
            <a:pPr marL="0" indent="0">
              <a:buNone/>
            </a:pPr>
            <a:r>
              <a:rPr lang="en-US" sz="1350" b="1" dirty="0">
                <a:solidFill>
                  <a:srgbClr val="E8EDF6"/>
                </a:solidFill>
                <a:latin typeface="Calibri" pitchFamily="34" charset="0"/>
                <a:ea typeface="Calibri" pitchFamily="34" charset="-122"/>
                <a:cs typeface="Calibri" pitchFamily="34" charset="-120"/>
              </a:rPr>
              <a:t>Type C · coaching</a:t>
            </a:r>
            <a:endParaRPr lang="en-US" sz="1350" dirty="0"/>
          </a:p>
        </p:txBody>
      </p:sp>
      <p:sp>
        <p:nvSpPr>
          <p:cNvPr id="22" name="Text 18"/>
          <p:cNvSpPr txBox="1"/>
          <p:nvPr/>
        </p:nvSpPr>
        <p:spPr>
          <a:xfrm>
            <a:off x="7360920" y="6126480"/>
            <a:ext cx="4114800" cy="54864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Talk-over / cut-off turns</a:t>
            </a:r>
            <a:endParaRPr lang="en-US" sz="1150" dirty="0"/>
          </a:p>
          <a:p>
            <a:pPr marL="0" indent="0">
              <a:buNone/>
            </a:pPr>
            <a:r>
              <a:rPr lang="en-US" sz="1150" dirty="0">
                <a:solidFill>
                  <a:srgbClr val="A3AEC3"/>
                </a:solidFill>
                <a:latin typeface="Calibri" pitchFamily="34" charset="0"/>
                <a:ea typeface="Calibri" pitchFamily="34" charset="-122"/>
                <a:cs typeface="Calibri" pitchFamily="34" charset="-120"/>
              </a:rPr>
              <a:t>Customer confusion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21</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20 · NBN: WHAT THE AGENT SAID VS THE SCREEN</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$42.90 said. $317 on the screen.</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G8 scores the conflict; the confidence floor decides it goes to a human.</a:t>
            </a:r>
            <a:endParaRPr lang="en-US" sz="1500" dirty="0"/>
          </a:p>
        </p:txBody>
      </p:sp>
      <p:sp>
        <p:nvSpPr>
          <p:cNvPr id="8" name="Shape 5"/>
          <p:cNvSpPr/>
          <p:nvPr/>
        </p:nvSpPr>
        <p:spPr>
          <a:xfrm>
            <a:off x="493776" y="1728216"/>
            <a:ext cx="3092762" cy="4636008"/>
          </a:xfrm>
          <a:prstGeom prst="roundRect">
            <a:avLst>
              <a:gd name="adj" fmla="val 2365"/>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tmc.png"/>
          <p:cNvPicPr>
            <a:picLocks noChangeAspect="1"/>
          </p:cNvPicPr>
          <p:nvPr/>
        </p:nvPicPr>
        <p:blipFill>
          <a:blip r:embed="rId3"/>
          <a:stretch>
            <a:fillRect/>
          </a:stretch>
        </p:blipFill>
        <p:spPr>
          <a:xfrm>
            <a:off x="548640" y="1783080"/>
            <a:ext cx="2983034" cy="4526280"/>
          </a:xfrm>
          <a:prstGeom prst="rect">
            <a:avLst/>
          </a:prstGeom>
        </p:spPr>
      </p:pic>
      <p:sp>
        <p:nvSpPr>
          <p:cNvPr id="10" name="Text 6"/>
          <p:cNvSpPr txBox="1"/>
          <p:nvPr/>
        </p:nvSpPr>
        <p:spPr>
          <a:xfrm>
            <a:off x="4526280" y="1783080"/>
            <a:ext cx="2331720" cy="731520"/>
          </a:xfrm>
          <a:prstGeom prst="rect">
            <a:avLst/>
          </a:prstGeom>
          <a:noFill/>
          <a:ln/>
        </p:spPr>
        <p:txBody>
          <a:bodyPr wrap="square" lIns="0" tIns="0" rIns="0" bIns="0" rtlCol="0" anchor="ctr"/>
          <a:lstStyle/>
          <a:p>
            <a:pPr marL="0" indent="0">
              <a:buNone/>
            </a:pPr>
            <a:r>
              <a:rPr lang="en-US" sz="4400" b="1" dirty="0">
                <a:solidFill>
                  <a:srgbClr val="FBBF24"/>
                </a:solidFill>
                <a:latin typeface="Calibri" pitchFamily="34" charset="0"/>
                <a:ea typeface="Calibri" pitchFamily="34" charset="-122"/>
                <a:cs typeface="Calibri" pitchFamily="34" charset="-120"/>
              </a:rPr>
              <a:t>$42.90</a:t>
            </a:r>
            <a:endParaRPr lang="en-US" sz="4400" dirty="0"/>
          </a:p>
        </p:txBody>
      </p:sp>
      <p:sp>
        <p:nvSpPr>
          <p:cNvPr id="11" name="Text 7"/>
          <p:cNvSpPr txBox="1"/>
          <p:nvPr/>
        </p:nvSpPr>
        <p:spPr>
          <a:xfrm>
            <a:off x="4526280" y="2514600"/>
            <a:ext cx="233172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the agent's TMC at 06:07 — “forty two dollars and ninety only”</a:t>
            </a:r>
            <a:endParaRPr lang="en-US" sz="1250" dirty="0"/>
          </a:p>
        </p:txBody>
      </p:sp>
      <p:sp>
        <p:nvSpPr>
          <p:cNvPr id="12" name="Text 8"/>
          <p:cNvSpPr txBox="1"/>
          <p:nvPr/>
        </p:nvSpPr>
        <p:spPr>
          <a:xfrm>
            <a:off x="6995160" y="1783080"/>
            <a:ext cx="2331720" cy="731520"/>
          </a:xfrm>
          <a:prstGeom prst="rect">
            <a:avLst/>
          </a:prstGeom>
          <a:noFill/>
          <a:ln/>
        </p:spPr>
        <p:txBody>
          <a:bodyPr wrap="square" lIns="0" tIns="0" rIns="0" bIns="0" rtlCol="0" anchor="ctr"/>
          <a:lstStyle/>
          <a:p>
            <a:pPr marL="0" indent="0">
              <a:buNone/>
            </a:pPr>
            <a:r>
              <a:rPr lang="en-US" sz="4400" b="1" dirty="0">
                <a:solidFill>
                  <a:srgbClr val="E8EDF6"/>
                </a:solidFill>
                <a:latin typeface="Calibri" pitchFamily="34" charset="0"/>
                <a:ea typeface="Calibri" pitchFamily="34" charset="-122"/>
                <a:cs typeface="Calibri" pitchFamily="34" charset="-120"/>
              </a:rPr>
              <a:t>$317</a:t>
            </a:r>
            <a:endParaRPr lang="en-US" sz="4400" dirty="0"/>
          </a:p>
        </p:txBody>
      </p:sp>
      <p:sp>
        <p:nvSpPr>
          <p:cNvPr id="13" name="Text 9"/>
          <p:cNvSpPr txBox="1"/>
          <p:nvPr/>
        </p:nvSpPr>
        <p:spPr>
          <a:xfrm>
            <a:off x="6995160" y="2514600"/>
            <a:ext cx="233172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read off the order screen 3× — “don't worry about that”</a:t>
            </a:r>
            <a:endParaRPr lang="en-US" sz="1250" dirty="0"/>
          </a:p>
        </p:txBody>
      </p:sp>
      <p:sp>
        <p:nvSpPr>
          <p:cNvPr id="14" name="Text 10"/>
          <p:cNvSpPr txBox="1"/>
          <p:nvPr/>
        </p:nvSpPr>
        <p:spPr>
          <a:xfrm>
            <a:off x="9464040" y="1783080"/>
            <a:ext cx="2194560" cy="731520"/>
          </a:xfrm>
          <a:prstGeom prst="rect">
            <a:avLst/>
          </a:prstGeom>
          <a:noFill/>
          <a:ln/>
        </p:spPr>
        <p:txBody>
          <a:bodyPr wrap="square" lIns="0" tIns="0" rIns="0" bIns="0" rtlCol="0" anchor="ctr"/>
          <a:lstStyle/>
          <a:p>
            <a:pPr marL="0" indent="0">
              <a:buNone/>
            </a:pPr>
            <a:r>
              <a:rPr lang="en-US" sz="4400" b="1" dirty="0">
                <a:solidFill>
                  <a:srgbClr val="F87171"/>
                </a:solidFill>
                <a:latin typeface="Calibri" pitchFamily="34" charset="0"/>
                <a:ea typeface="Calibri" pitchFamily="34" charset="-122"/>
                <a:cs typeface="Calibri" pitchFamily="34" charset="-120"/>
              </a:rPr>
              <a:t>$275</a:t>
            </a:r>
            <a:endParaRPr lang="en-US" sz="4400" dirty="0"/>
          </a:p>
        </p:txBody>
      </p:sp>
      <p:sp>
        <p:nvSpPr>
          <p:cNvPr id="15" name="Text 11"/>
          <p:cNvSpPr txBox="1"/>
          <p:nvPr/>
        </p:nvSpPr>
        <p:spPr>
          <a:xfrm>
            <a:off x="9464040" y="2514600"/>
            <a:ext cx="219456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development fee — “I really guarantee you it will not be charged”</a:t>
            </a:r>
            <a:endParaRPr lang="en-US" sz="1250" dirty="0"/>
          </a:p>
        </p:txBody>
      </p:sp>
      <p:sp>
        <p:nvSpPr>
          <p:cNvPr id="16" name="Shape 12"/>
          <p:cNvSpPr/>
          <p:nvPr/>
        </p:nvSpPr>
        <p:spPr>
          <a:xfrm>
            <a:off x="4526280" y="3246120"/>
            <a:ext cx="7132320" cy="1143000"/>
          </a:xfrm>
          <a:prstGeom prst="roundRect">
            <a:avLst>
              <a:gd name="adj" fmla="val 8000"/>
            </a:avLst>
          </a:prstGeom>
          <a:solidFill>
            <a:srgbClr val="1A2332"/>
          </a:solidFill>
          <a:ln w="9525">
            <a:solidFill>
              <a:srgbClr val="263248"/>
            </a:solidFill>
            <a:prstDash val="solid"/>
          </a:ln>
        </p:spPr>
        <p:txBody>
          <a:bodyPr/>
          <a:lstStyle/>
          <a:p>
            <a:endParaRPr lang="en-IN"/>
          </a:p>
        </p:txBody>
      </p:sp>
      <p:sp>
        <p:nvSpPr>
          <p:cNvPr id="17" name="Text 13"/>
          <p:cNvSpPr txBox="1"/>
          <p:nvPr/>
        </p:nvSpPr>
        <p:spPr>
          <a:xfrm>
            <a:off x="4800600" y="3401568"/>
            <a:ext cx="6583680" cy="868680"/>
          </a:xfrm>
          <a:prstGeom prst="rect">
            <a:avLst/>
          </a:prstGeom>
          <a:noFill/>
          <a:ln/>
        </p:spPr>
        <p:txBody>
          <a:bodyPr wrap="square" lIns="0" tIns="0" rIns="0" bIns="0" rtlCol="0" anchor="t"/>
          <a:lstStyle/>
          <a:p>
            <a:pPr marL="0" indent="0">
              <a:buNone/>
            </a:pPr>
            <a:r>
              <a:rPr lang="en-US" sz="1350" b="1" dirty="0">
                <a:solidFill>
                  <a:srgbClr val="E8EDF6"/>
                </a:solidFill>
                <a:latin typeface="Courier New" pitchFamily="34" charset="0"/>
                <a:ea typeface="Courier New" pitchFamily="34" charset="-122"/>
                <a:cs typeface="Courier New" pitchFamily="34" charset="-120"/>
              </a:rPr>
              <a:t>$317 − $275 = $42</a:t>
            </a:r>
            <a:r>
              <a:rPr lang="en-US" sz="1350" dirty="0">
                <a:solidFill>
                  <a:srgbClr val="A3AEC3"/>
                </a:solidFill>
                <a:latin typeface="Calibri" pitchFamily="34" charset="0"/>
                <a:ea typeface="Calibri" pitchFamily="34" charset="-122"/>
                <a:cs typeface="Calibri" pitchFamily="34" charset="-120"/>
              </a:rPr>
              <a:t>  → the agent quoted the order total without a fee the lead marks not applicable, while the submitted order still includes it.</a:t>
            </a:r>
            <a:endParaRPr lang="en-US" sz="1350" dirty="0"/>
          </a:p>
        </p:txBody>
      </p:sp>
      <p:sp>
        <p:nvSpPr>
          <p:cNvPr id="18" name="Shape 14"/>
          <p:cNvSpPr/>
          <p:nvPr/>
        </p:nvSpPr>
        <p:spPr>
          <a:xfrm>
            <a:off x="4526280" y="4572000"/>
            <a:ext cx="640080" cy="274320"/>
          </a:xfrm>
          <a:prstGeom prst="roundRect">
            <a:avLst>
              <a:gd name="adj" fmla="val 50000"/>
            </a:avLst>
          </a:prstGeom>
          <a:solidFill>
            <a:srgbClr val="B9A4FF">
              <a:alpha val="18000"/>
            </a:srgbClr>
          </a:solidFill>
          <a:ln w="9525">
            <a:solidFill>
              <a:srgbClr val="B9A4FF"/>
            </a:solidFill>
            <a:prstDash val="solid"/>
          </a:ln>
        </p:spPr>
        <p:txBody>
          <a:bodyPr/>
          <a:lstStyle/>
          <a:p>
            <a:endParaRPr lang="en-IN"/>
          </a:p>
        </p:txBody>
      </p:sp>
      <p:sp>
        <p:nvSpPr>
          <p:cNvPr id="19" name="Text 15"/>
          <p:cNvSpPr txBox="1"/>
          <p:nvPr/>
        </p:nvSpPr>
        <p:spPr>
          <a:xfrm>
            <a:off x="4526280" y="4572000"/>
            <a:ext cx="640080" cy="274320"/>
          </a:xfrm>
          <a:prstGeom prst="rect">
            <a:avLst/>
          </a:prstGeom>
          <a:noFill/>
          <a:ln/>
        </p:spPr>
        <p:txBody>
          <a:bodyPr wrap="square" lIns="0" tIns="0" rIns="0" bIns="0" rtlCol="0" anchor="ctr"/>
          <a:lstStyle/>
          <a:p>
            <a:pPr marL="0" indent="0" algn="ctr">
              <a:buNone/>
            </a:pPr>
            <a:r>
              <a:rPr lang="en-US" sz="1050" b="1" dirty="0">
                <a:solidFill>
                  <a:srgbClr val="B9A4FF"/>
                </a:solidFill>
                <a:latin typeface="Calibri" pitchFamily="34" charset="0"/>
                <a:ea typeface="Calibri" pitchFamily="34" charset="-122"/>
                <a:cs typeface="Calibri" pitchFamily="34" charset="-120"/>
              </a:rPr>
              <a:t>G8</a:t>
            </a:r>
            <a:endParaRPr lang="en-US" sz="1050" dirty="0"/>
          </a:p>
        </p:txBody>
      </p:sp>
      <p:sp>
        <p:nvSpPr>
          <p:cNvPr id="20" name="Text 16"/>
          <p:cNvSpPr txBox="1"/>
          <p:nvPr/>
        </p:nvSpPr>
        <p:spPr>
          <a:xfrm>
            <a:off x="5349240" y="4599432"/>
            <a:ext cx="6309360" cy="274320"/>
          </a:xfrm>
          <a:prstGeom prst="rect">
            <a:avLst/>
          </a:prstGeom>
          <a:noFill/>
          <a:ln/>
        </p:spPr>
        <p:txBody>
          <a:bodyPr wrap="square" lIns="0" tIns="0" rIns="0" bIns="0" rtlCol="0" anchor="t"/>
          <a:lstStyle/>
          <a:p>
            <a:pPr marL="0" indent="0">
              <a:buNone/>
            </a:pPr>
            <a:r>
              <a:rPr lang="en-US" sz="1300" dirty="0">
                <a:solidFill>
                  <a:srgbClr val="E8EDF6"/>
                </a:solidFill>
                <a:latin typeface="Calibri" pitchFamily="34" charset="0"/>
                <a:ea typeface="Calibri" pitchFamily="34" charset="-122"/>
                <a:cs typeface="Calibri" pitchFamily="34" charset="-120"/>
              </a:rPr>
              <a:t>screen vs spoken: FAIL at 0.7× (0.81 → 0.57)</a:t>
            </a:r>
            <a:endParaRPr lang="en-US" sz="1300" dirty="0"/>
          </a:p>
        </p:txBody>
      </p:sp>
      <p:sp>
        <p:nvSpPr>
          <p:cNvPr id="21" name="Shape 17"/>
          <p:cNvSpPr/>
          <p:nvPr/>
        </p:nvSpPr>
        <p:spPr>
          <a:xfrm>
            <a:off x="4526280" y="5120640"/>
            <a:ext cx="640080" cy="274320"/>
          </a:xfrm>
          <a:prstGeom prst="roundRect">
            <a:avLst>
              <a:gd name="adj" fmla="val 50000"/>
            </a:avLst>
          </a:prstGeom>
          <a:solidFill>
            <a:srgbClr val="6AA8FF">
              <a:alpha val="18000"/>
            </a:srgbClr>
          </a:solidFill>
          <a:ln w="9525">
            <a:solidFill>
              <a:srgbClr val="6AA8FF"/>
            </a:solidFill>
            <a:prstDash val="solid"/>
          </a:ln>
        </p:spPr>
        <p:txBody>
          <a:bodyPr/>
          <a:lstStyle/>
          <a:p>
            <a:endParaRPr lang="en-IN"/>
          </a:p>
        </p:txBody>
      </p:sp>
      <p:sp>
        <p:nvSpPr>
          <p:cNvPr id="22" name="Text 18"/>
          <p:cNvSpPr txBox="1"/>
          <p:nvPr/>
        </p:nvSpPr>
        <p:spPr>
          <a:xfrm>
            <a:off x="4526280" y="5120640"/>
            <a:ext cx="640080" cy="274320"/>
          </a:xfrm>
          <a:prstGeom prst="rect">
            <a:avLst/>
          </a:prstGeom>
          <a:noFill/>
          <a:ln/>
        </p:spPr>
        <p:txBody>
          <a:bodyPr wrap="square" lIns="0" tIns="0" rIns="0" bIns="0" rtlCol="0" anchor="ctr"/>
          <a:lstStyle/>
          <a:p>
            <a:pPr marL="0" indent="0" algn="ctr">
              <a:buNone/>
            </a:pPr>
            <a:r>
              <a:rPr lang="en-US" sz="1050" b="1" dirty="0">
                <a:solidFill>
                  <a:srgbClr val="6AA8FF"/>
                </a:solidFill>
                <a:latin typeface="Calibri" pitchFamily="34" charset="0"/>
                <a:ea typeface="Calibri" pitchFamily="34" charset="-122"/>
                <a:cs typeface="Calibri" pitchFamily="34" charset="-120"/>
              </a:rPr>
              <a:t>G5</a:t>
            </a:r>
            <a:endParaRPr lang="en-US" sz="1050" dirty="0"/>
          </a:p>
        </p:txBody>
      </p:sp>
      <p:sp>
        <p:nvSpPr>
          <p:cNvPr id="23" name="Text 19"/>
          <p:cNvSpPr txBox="1"/>
          <p:nvPr/>
        </p:nvSpPr>
        <p:spPr>
          <a:xfrm>
            <a:off x="5349240" y="5148072"/>
            <a:ext cx="6309360" cy="274320"/>
          </a:xfrm>
          <a:prstGeom prst="rect">
            <a:avLst/>
          </a:prstGeom>
          <a:noFill/>
          <a:ln/>
        </p:spPr>
        <p:txBody>
          <a:bodyPr wrap="square" lIns="0" tIns="0" rIns="0" bIns="0" rtlCol="0" anchor="t"/>
          <a:lstStyle/>
          <a:p>
            <a:pPr marL="0" indent="0">
              <a:buNone/>
            </a:pPr>
            <a:r>
              <a:rPr lang="en-US" sz="1300" dirty="0">
                <a:solidFill>
                  <a:srgbClr val="E8EDF6"/>
                </a:solidFill>
                <a:latin typeface="Calibri" pitchFamily="34" charset="0"/>
                <a:ea typeface="Calibri" pitchFamily="34" charset="-122"/>
                <a:cs typeface="Calibri" pitchFamily="34" charset="-120"/>
              </a:rPr>
              <a:t>0.57 &lt; 0.60 floor → unsure</a:t>
            </a:r>
            <a:endParaRPr lang="en-US" sz="1300" dirty="0"/>
          </a:p>
        </p:txBody>
      </p:sp>
      <p:sp>
        <p:nvSpPr>
          <p:cNvPr id="24" name="Shape 20"/>
          <p:cNvSpPr/>
          <p:nvPr/>
        </p:nvSpPr>
        <p:spPr>
          <a:xfrm>
            <a:off x="4526280" y="5669280"/>
            <a:ext cx="64008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25" name="Text 21"/>
          <p:cNvSpPr txBox="1"/>
          <p:nvPr/>
        </p:nvSpPr>
        <p:spPr>
          <a:xfrm>
            <a:off x="4526280" y="5669280"/>
            <a:ext cx="64008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QA</a:t>
            </a:r>
            <a:endParaRPr lang="en-US" sz="1050" dirty="0"/>
          </a:p>
        </p:txBody>
      </p:sp>
      <p:sp>
        <p:nvSpPr>
          <p:cNvPr id="26" name="Text 22"/>
          <p:cNvSpPr txBox="1"/>
          <p:nvPr/>
        </p:nvSpPr>
        <p:spPr>
          <a:xfrm>
            <a:off x="5349240" y="5696712"/>
            <a:ext cx="6309360" cy="274320"/>
          </a:xfrm>
          <a:prstGeom prst="rect">
            <a:avLst/>
          </a:prstGeom>
          <a:noFill/>
          <a:ln/>
        </p:spPr>
        <p:txBody>
          <a:bodyPr wrap="square" lIns="0" tIns="0" rIns="0" bIns="0" rtlCol="0" anchor="t"/>
          <a:lstStyle/>
          <a:p>
            <a:pPr marL="0" indent="0">
              <a:buNone/>
            </a:pPr>
            <a:r>
              <a:rPr lang="en-US" sz="1300" dirty="0">
                <a:solidFill>
                  <a:srgbClr val="E8EDF6"/>
                </a:solidFill>
                <a:latin typeface="Calibri" pitchFamily="34" charset="0"/>
                <a:ea typeface="Calibri" pitchFamily="34" charset="-122"/>
                <a:cs typeface="Calibri" pitchFamily="34" charset="-120"/>
              </a:rPr>
              <a:t>a human confirms the fee is removed before submitting</a:t>
            </a:r>
            <a:endParaRPr lang="en-US" sz="1300" dirty="0"/>
          </a:p>
        </p:txBody>
      </p:sp>
      <p:sp>
        <p:nvSpPr>
          <p:cNvPr id="27" name="Text 23"/>
          <p:cNvSpPr txBox="1"/>
          <p:nvPr/>
        </p:nvSpPr>
        <p:spPr>
          <a:xfrm>
            <a:off x="4526280" y="6190488"/>
            <a:ext cx="7132320" cy="274320"/>
          </a:xfrm>
          <a:prstGeom prst="rect">
            <a:avLst/>
          </a:prstGeom>
          <a:noFill/>
          <a:ln/>
        </p:spPr>
        <p:txBody>
          <a:bodyPr wrap="square" lIns="0" tIns="0" rIns="0" bIns="0" rtlCol="0" anchor="t"/>
          <a:lstStyle/>
          <a:p>
            <a:pPr marL="0" indent="0">
              <a:buNone/>
            </a:pPr>
            <a:r>
              <a:rPr lang="en-US" sz="1100" dirty="0">
                <a:solidFill>
                  <a:srgbClr val="6F7C94"/>
                </a:solidFill>
                <a:latin typeface="Calibri" pitchFamily="34" charset="0"/>
                <a:ea typeface="Calibri" pitchFamily="34" charset="-122"/>
                <a:cs typeface="Calibri" pitchFamily="34" charset="-120"/>
              </a:rPr>
              <a:t>Contract term: “month to month” and “one to one contract”, and no term on the lead → unsure (none invented).</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22</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21 · RESPECT THE OVERRIDE</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Humans decide — and every decision is kept</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An override changes the gate, never the CRM.</a:t>
            </a:r>
            <a:endParaRPr lang="en-US" sz="1500" dirty="0"/>
          </a:p>
        </p:txBody>
      </p:sp>
      <p:sp>
        <p:nvSpPr>
          <p:cNvPr id="8" name="Shape 5"/>
          <p:cNvSpPr/>
          <p:nvPr/>
        </p:nvSpPr>
        <p:spPr>
          <a:xfrm>
            <a:off x="493776" y="1731320"/>
            <a:ext cx="4864608" cy="4629799"/>
          </a:xfrm>
          <a:prstGeom prst="roundRect">
            <a:avLst>
              <a:gd name="adj" fmla="val 1580"/>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9" name="Image 0" descr="C:\Users\adity\AppData\Local\Temp\claude\E--Webneco-Apps-cimet-qa\5d6d9e1f-a3b0-4938-a5a9-44ec7bd4cb64\scratchpad\deck\crops\override.png"/>
          <p:cNvPicPr>
            <a:picLocks noChangeAspect="1"/>
          </p:cNvPicPr>
          <p:nvPr/>
        </p:nvPicPr>
        <p:blipFill>
          <a:blip r:embed="rId3"/>
          <a:stretch>
            <a:fillRect/>
          </a:stretch>
        </p:blipFill>
        <p:spPr>
          <a:xfrm>
            <a:off x="548640" y="1786184"/>
            <a:ext cx="4754880" cy="4520071"/>
          </a:xfrm>
          <a:prstGeom prst="rect">
            <a:avLst/>
          </a:prstGeom>
        </p:spPr>
      </p:pic>
      <p:sp>
        <p:nvSpPr>
          <p:cNvPr id="10" name="Shape 6"/>
          <p:cNvSpPr/>
          <p:nvPr/>
        </p:nvSpPr>
        <p:spPr>
          <a:xfrm>
            <a:off x="5760720" y="1828800"/>
            <a:ext cx="2834640" cy="1298448"/>
          </a:xfrm>
          <a:prstGeom prst="roundRect">
            <a:avLst>
              <a:gd name="adj" fmla="val 7042"/>
            </a:avLst>
          </a:prstGeom>
          <a:solidFill>
            <a:srgbClr val="141B28"/>
          </a:solidFill>
          <a:ln w="9525">
            <a:solidFill>
              <a:srgbClr val="263248"/>
            </a:solidFill>
            <a:prstDash val="solid"/>
          </a:ln>
        </p:spPr>
        <p:txBody>
          <a:bodyPr/>
          <a:lstStyle/>
          <a:p>
            <a:endParaRPr lang="en-IN"/>
          </a:p>
        </p:txBody>
      </p:sp>
      <p:sp>
        <p:nvSpPr>
          <p:cNvPr id="11" name="Shape 7"/>
          <p:cNvSpPr/>
          <p:nvPr/>
        </p:nvSpPr>
        <p:spPr>
          <a:xfrm>
            <a:off x="5989320" y="2075688"/>
            <a:ext cx="146304" cy="146304"/>
          </a:xfrm>
          <a:prstGeom prst="ellipse">
            <a:avLst/>
          </a:prstGeom>
          <a:solidFill>
            <a:srgbClr val="6AA8FF"/>
          </a:solidFill>
          <a:ln w="12700">
            <a:solidFill>
              <a:srgbClr val="6AA8FF"/>
            </a:solidFill>
            <a:prstDash val="solid"/>
          </a:ln>
        </p:spPr>
        <p:txBody>
          <a:bodyPr/>
          <a:lstStyle/>
          <a:p>
            <a:endParaRPr lang="en-IN"/>
          </a:p>
        </p:txBody>
      </p:sp>
      <p:sp>
        <p:nvSpPr>
          <p:cNvPr id="12" name="Text 8"/>
          <p:cNvSpPr txBox="1"/>
          <p:nvPr/>
        </p:nvSpPr>
        <p:spPr>
          <a:xfrm>
            <a:off x="6217920" y="1993392"/>
            <a:ext cx="2286000" cy="32004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A written reason</a:t>
            </a:r>
            <a:endParaRPr lang="en-US" sz="1400" dirty="0"/>
          </a:p>
        </p:txBody>
      </p:sp>
      <p:sp>
        <p:nvSpPr>
          <p:cNvPr id="13" name="Text 9"/>
          <p:cNvSpPr txBox="1"/>
          <p:nvPr/>
        </p:nvSpPr>
        <p:spPr>
          <a:xfrm>
            <a:off x="5989320" y="2377440"/>
            <a:ext cx="246888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At least 10 characters — enforced in the UI and again at the API.</a:t>
            </a:r>
            <a:endParaRPr lang="en-US" sz="1150" dirty="0"/>
          </a:p>
        </p:txBody>
      </p:sp>
      <p:sp>
        <p:nvSpPr>
          <p:cNvPr id="14" name="Shape 10"/>
          <p:cNvSpPr/>
          <p:nvPr/>
        </p:nvSpPr>
        <p:spPr>
          <a:xfrm>
            <a:off x="8732520" y="1828800"/>
            <a:ext cx="2834640" cy="1298448"/>
          </a:xfrm>
          <a:prstGeom prst="roundRect">
            <a:avLst>
              <a:gd name="adj" fmla="val 7042"/>
            </a:avLst>
          </a:prstGeom>
          <a:solidFill>
            <a:srgbClr val="141B28"/>
          </a:solidFill>
          <a:ln w="9525">
            <a:solidFill>
              <a:srgbClr val="263248"/>
            </a:solidFill>
            <a:prstDash val="solid"/>
          </a:ln>
        </p:spPr>
        <p:txBody>
          <a:bodyPr/>
          <a:lstStyle/>
          <a:p>
            <a:endParaRPr lang="en-IN"/>
          </a:p>
        </p:txBody>
      </p:sp>
      <p:sp>
        <p:nvSpPr>
          <p:cNvPr id="15" name="Shape 11"/>
          <p:cNvSpPr/>
          <p:nvPr/>
        </p:nvSpPr>
        <p:spPr>
          <a:xfrm>
            <a:off x="8961120" y="2075688"/>
            <a:ext cx="146304" cy="146304"/>
          </a:xfrm>
          <a:prstGeom prst="ellipse">
            <a:avLst/>
          </a:prstGeom>
          <a:solidFill>
            <a:srgbClr val="B9A4FF"/>
          </a:solidFill>
          <a:ln w="12700">
            <a:solidFill>
              <a:srgbClr val="B9A4FF"/>
            </a:solidFill>
            <a:prstDash val="solid"/>
          </a:ln>
        </p:spPr>
        <p:txBody>
          <a:bodyPr/>
          <a:lstStyle/>
          <a:p>
            <a:endParaRPr lang="en-IN"/>
          </a:p>
        </p:txBody>
      </p:sp>
      <p:sp>
        <p:nvSpPr>
          <p:cNvPr id="16" name="Text 12"/>
          <p:cNvSpPr txBox="1"/>
          <p:nvPr/>
        </p:nvSpPr>
        <p:spPr>
          <a:xfrm>
            <a:off x="9189720" y="1993392"/>
            <a:ext cx="2286000" cy="32004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Machine verdict kept</a:t>
            </a:r>
            <a:endParaRPr lang="en-US" sz="1400" dirty="0"/>
          </a:p>
        </p:txBody>
      </p:sp>
      <p:sp>
        <p:nvSpPr>
          <p:cNvPr id="17" name="Text 13"/>
          <p:cNvSpPr txBox="1"/>
          <p:nvPr/>
        </p:nvSpPr>
        <p:spPr>
          <a:xfrm>
            <a:off x="8961120" y="2377440"/>
            <a:ext cx="246888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Original status and confidence stay next to the human decision.</a:t>
            </a:r>
            <a:endParaRPr lang="en-US" sz="1150" dirty="0"/>
          </a:p>
        </p:txBody>
      </p:sp>
      <p:sp>
        <p:nvSpPr>
          <p:cNvPr id="18" name="Shape 14"/>
          <p:cNvSpPr/>
          <p:nvPr/>
        </p:nvSpPr>
        <p:spPr>
          <a:xfrm>
            <a:off x="5760720" y="3291840"/>
            <a:ext cx="2834640" cy="1298448"/>
          </a:xfrm>
          <a:prstGeom prst="roundRect">
            <a:avLst>
              <a:gd name="adj" fmla="val 7042"/>
            </a:avLst>
          </a:prstGeom>
          <a:solidFill>
            <a:srgbClr val="141B28"/>
          </a:solidFill>
          <a:ln w="9525">
            <a:solidFill>
              <a:srgbClr val="263248"/>
            </a:solidFill>
            <a:prstDash val="solid"/>
          </a:ln>
        </p:spPr>
        <p:txBody>
          <a:bodyPr/>
          <a:lstStyle/>
          <a:p>
            <a:endParaRPr lang="en-IN"/>
          </a:p>
        </p:txBody>
      </p:sp>
      <p:sp>
        <p:nvSpPr>
          <p:cNvPr id="19" name="Shape 15"/>
          <p:cNvSpPr/>
          <p:nvPr/>
        </p:nvSpPr>
        <p:spPr>
          <a:xfrm>
            <a:off x="5989320" y="3538728"/>
            <a:ext cx="146304" cy="146304"/>
          </a:xfrm>
          <a:prstGeom prst="ellipse">
            <a:avLst/>
          </a:prstGeom>
          <a:solidFill>
            <a:srgbClr val="34D399"/>
          </a:solidFill>
          <a:ln w="12700">
            <a:solidFill>
              <a:srgbClr val="34D399"/>
            </a:solidFill>
            <a:prstDash val="solid"/>
          </a:ln>
        </p:spPr>
        <p:txBody>
          <a:bodyPr/>
          <a:lstStyle/>
          <a:p>
            <a:endParaRPr lang="en-IN"/>
          </a:p>
        </p:txBody>
      </p:sp>
      <p:sp>
        <p:nvSpPr>
          <p:cNvPr id="20" name="Text 16"/>
          <p:cNvSpPr txBox="1"/>
          <p:nvPr/>
        </p:nvSpPr>
        <p:spPr>
          <a:xfrm>
            <a:off x="6217920" y="3456432"/>
            <a:ext cx="2286000" cy="32004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Gate re-runs live</a:t>
            </a:r>
            <a:endParaRPr lang="en-US" sz="1400" dirty="0"/>
          </a:p>
        </p:txBody>
      </p:sp>
      <p:sp>
        <p:nvSpPr>
          <p:cNvPr id="21" name="Text 17"/>
          <p:cNvSpPr txBox="1"/>
          <p:nvPr/>
        </p:nvSpPr>
        <p:spPr>
          <a:xfrm>
            <a:off x="5989320" y="3840480"/>
            <a:ext cx="246888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HELD → SUBMITTED only when the last blocking check clears.</a:t>
            </a:r>
            <a:endParaRPr lang="en-US" sz="1150" dirty="0"/>
          </a:p>
        </p:txBody>
      </p:sp>
      <p:sp>
        <p:nvSpPr>
          <p:cNvPr id="22" name="Shape 18"/>
          <p:cNvSpPr/>
          <p:nvPr/>
        </p:nvSpPr>
        <p:spPr>
          <a:xfrm>
            <a:off x="8732520" y="3291840"/>
            <a:ext cx="2834640" cy="1298448"/>
          </a:xfrm>
          <a:prstGeom prst="roundRect">
            <a:avLst>
              <a:gd name="adj" fmla="val 7042"/>
            </a:avLst>
          </a:prstGeom>
          <a:solidFill>
            <a:srgbClr val="141B28"/>
          </a:solidFill>
          <a:ln w="9525">
            <a:solidFill>
              <a:srgbClr val="263248"/>
            </a:solidFill>
            <a:prstDash val="solid"/>
          </a:ln>
        </p:spPr>
        <p:txBody>
          <a:bodyPr/>
          <a:lstStyle/>
          <a:p>
            <a:endParaRPr lang="en-IN"/>
          </a:p>
        </p:txBody>
      </p:sp>
      <p:sp>
        <p:nvSpPr>
          <p:cNvPr id="23" name="Shape 19"/>
          <p:cNvSpPr/>
          <p:nvPr/>
        </p:nvSpPr>
        <p:spPr>
          <a:xfrm>
            <a:off x="8961120" y="3538728"/>
            <a:ext cx="146304" cy="146304"/>
          </a:xfrm>
          <a:prstGeom prst="ellipse">
            <a:avLst/>
          </a:prstGeom>
          <a:solidFill>
            <a:srgbClr val="FBBF24"/>
          </a:solidFill>
          <a:ln w="12700">
            <a:solidFill>
              <a:srgbClr val="FBBF24"/>
            </a:solidFill>
            <a:prstDash val="solid"/>
          </a:ln>
        </p:spPr>
        <p:txBody>
          <a:bodyPr/>
          <a:lstStyle/>
          <a:p>
            <a:endParaRPr lang="en-IN"/>
          </a:p>
        </p:txBody>
      </p:sp>
      <p:sp>
        <p:nvSpPr>
          <p:cNvPr id="24" name="Text 20"/>
          <p:cNvSpPr txBox="1"/>
          <p:nvPr/>
        </p:nvSpPr>
        <p:spPr>
          <a:xfrm>
            <a:off x="9189720" y="3456432"/>
            <a:ext cx="2286000" cy="32004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Append-only log</a:t>
            </a:r>
            <a:endParaRPr lang="en-US" sz="1400" dirty="0"/>
          </a:p>
        </p:txBody>
      </p:sp>
      <p:sp>
        <p:nvSpPr>
          <p:cNvPr id="25" name="Text 21"/>
          <p:cNvSpPr txBox="1"/>
          <p:nvPr/>
        </p:nvSpPr>
        <p:spPr>
          <a:xfrm>
            <a:off x="8961120" y="3840480"/>
            <a:ext cx="246888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runs/override_log.jsonl: who, why, when, gate before → after.</a:t>
            </a:r>
            <a:endParaRPr lang="en-US" sz="1150" dirty="0"/>
          </a:p>
        </p:txBody>
      </p:sp>
      <p:sp>
        <p:nvSpPr>
          <p:cNvPr id="26" name="Shape 22"/>
          <p:cNvSpPr/>
          <p:nvPr/>
        </p:nvSpPr>
        <p:spPr>
          <a:xfrm>
            <a:off x="5760720" y="4754880"/>
            <a:ext cx="2834640" cy="1298448"/>
          </a:xfrm>
          <a:prstGeom prst="roundRect">
            <a:avLst>
              <a:gd name="adj" fmla="val 7042"/>
            </a:avLst>
          </a:prstGeom>
          <a:solidFill>
            <a:srgbClr val="141B28"/>
          </a:solidFill>
          <a:ln w="9525">
            <a:solidFill>
              <a:srgbClr val="263248"/>
            </a:solidFill>
            <a:prstDash val="solid"/>
          </a:ln>
        </p:spPr>
        <p:txBody>
          <a:bodyPr/>
          <a:lstStyle/>
          <a:p>
            <a:endParaRPr lang="en-IN"/>
          </a:p>
        </p:txBody>
      </p:sp>
      <p:sp>
        <p:nvSpPr>
          <p:cNvPr id="27" name="Shape 23"/>
          <p:cNvSpPr/>
          <p:nvPr/>
        </p:nvSpPr>
        <p:spPr>
          <a:xfrm>
            <a:off x="5989320" y="5001768"/>
            <a:ext cx="146304" cy="146304"/>
          </a:xfrm>
          <a:prstGeom prst="ellipse">
            <a:avLst/>
          </a:prstGeom>
          <a:solidFill>
            <a:srgbClr val="F87171"/>
          </a:solidFill>
          <a:ln w="12700">
            <a:solidFill>
              <a:srgbClr val="F87171"/>
            </a:solidFill>
            <a:prstDash val="solid"/>
          </a:ln>
        </p:spPr>
        <p:txBody>
          <a:bodyPr/>
          <a:lstStyle/>
          <a:p>
            <a:endParaRPr lang="en-IN"/>
          </a:p>
        </p:txBody>
      </p:sp>
      <p:sp>
        <p:nvSpPr>
          <p:cNvPr id="28" name="Text 24"/>
          <p:cNvSpPr txBox="1"/>
          <p:nvPr/>
        </p:nvSpPr>
        <p:spPr>
          <a:xfrm>
            <a:off x="6217920" y="4919472"/>
            <a:ext cx="2286000" cy="32004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CRM never written</a:t>
            </a:r>
            <a:endParaRPr lang="en-US" sz="1400" dirty="0"/>
          </a:p>
        </p:txBody>
      </p:sp>
      <p:sp>
        <p:nvSpPr>
          <p:cNvPr id="29" name="Text 25"/>
          <p:cNvSpPr txBox="1"/>
          <p:nvPr/>
        </p:nvSpPr>
        <p:spPr>
          <a:xfrm>
            <a:off x="5989320" y="5303520"/>
            <a:ext cx="246888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crm_written=false on every entry. Fixing the record is the TL's job.</a:t>
            </a:r>
            <a:endParaRPr lang="en-US" sz="1150" dirty="0"/>
          </a:p>
        </p:txBody>
      </p:sp>
      <p:sp>
        <p:nvSpPr>
          <p:cNvPr id="30" name="Shape 26"/>
          <p:cNvSpPr/>
          <p:nvPr/>
        </p:nvSpPr>
        <p:spPr>
          <a:xfrm>
            <a:off x="8732520" y="4754880"/>
            <a:ext cx="2834640" cy="1298448"/>
          </a:xfrm>
          <a:prstGeom prst="roundRect">
            <a:avLst>
              <a:gd name="adj" fmla="val 7042"/>
            </a:avLst>
          </a:prstGeom>
          <a:solidFill>
            <a:srgbClr val="141B28"/>
          </a:solidFill>
          <a:ln w="9525">
            <a:solidFill>
              <a:srgbClr val="263248"/>
            </a:solidFill>
            <a:prstDash val="solid"/>
          </a:ln>
        </p:spPr>
        <p:txBody>
          <a:bodyPr/>
          <a:lstStyle/>
          <a:p>
            <a:endParaRPr lang="en-IN"/>
          </a:p>
        </p:txBody>
      </p:sp>
      <p:sp>
        <p:nvSpPr>
          <p:cNvPr id="31" name="Shape 27"/>
          <p:cNvSpPr/>
          <p:nvPr/>
        </p:nvSpPr>
        <p:spPr>
          <a:xfrm>
            <a:off x="8961120" y="5001768"/>
            <a:ext cx="146304" cy="146304"/>
          </a:xfrm>
          <a:prstGeom prst="ellipse">
            <a:avLst/>
          </a:prstGeom>
          <a:solidFill>
            <a:srgbClr val="5EEAD4"/>
          </a:solidFill>
          <a:ln w="12700">
            <a:solidFill>
              <a:srgbClr val="5EEAD4"/>
            </a:solidFill>
            <a:prstDash val="solid"/>
          </a:ln>
        </p:spPr>
        <p:txBody>
          <a:bodyPr/>
          <a:lstStyle/>
          <a:p>
            <a:endParaRPr lang="en-IN"/>
          </a:p>
        </p:txBody>
      </p:sp>
      <p:sp>
        <p:nvSpPr>
          <p:cNvPr id="32" name="Text 28"/>
          <p:cNvSpPr txBox="1"/>
          <p:nvPr/>
        </p:nvSpPr>
        <p:spPr>
          <a:xfrm>
            <a:off x="9189720" y="4919472"/>
            <a:ext cx="2286000" cy="320040"/>
          </a:xfrm>
          <a:prstGeom prst="rect">
            <a:avLst/>
          </a:prstGeom>
          <a:noFill/>
          <a:ln/>
        </p:spPr>
        <p:txBody>
          <a:bodyPr wrap="square" lIns="0" tIns="0" rIns="0" bIns="0" rtlCol="0" anchor="t"/>
          <a:lstStyle/>
          <a:p>
            <a:pPr marL="0" indent="0">
              <a:buNone/>
            </a:pPr>
            <a:r>
              <a:rPr lang="en-US" sz="1400" b="1" dirty="0">
                <a:solidFill>
                  <a:srgbClr val="E8EDF6"/>
                </a:solidFill>
                <a:latin typeface="Calibri" pitchFamily="34" charset="0"/>
                <a:ea typeface="Calibri" pitchFamily="34" charset="-122"/>
                <a:cs typeface="Calibri" pitchFamily="34" charset="-120"/>
              </a:rPr>
              <a:t>Coaching can't block</a:t>
            </a:r>
            <a:endParaRPr lang="en-US" sz="1400" dirty="0"/>
          </a:p>
        </p:txBody>
      </p:sp>
      <p:sp>
        <p:nvSpPr>
          <p:cNvPr id="33" name="Text 29"/>
          <p:cNvSpPr txBox="1"/>
          <p:nvPr/>
        </p:nvSpPr>
        <p:spPr>
          <a:xfrm>
            <a:off x="8961120" y="5303520"/>
            <a:ext cx="2468880" cy="73152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Type C notes can't be overridden into a blocking state.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23</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22 · TRACEABILITY</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Every verdict can be rebuilt from one file</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runs/&lt;run_id&gt;.json — the Download audit JSON button.</a:t>
            </a:r>
            <a:endParaRPr lang="en-US" sz="1500" dirty="0"/>
          </a:p>
        </p:txBody>
      </p:sp>
      <p:sp>
        <p:nvSpPr>
          <p:cNvPr id="8" name="Shape 5"/>
          <p:cNvSpPr/>
          <p:nvPr/>
        </p:nvSpPr>
        <p:spPr>
          <a:xfrm>
            <a:off x="548640" y="1783080"/>
            <a:ext cx="4206240" cy="4480560"/>
          </a:xfrm>
          <a:prstGeom prst="roundRect">
            <a:avLst>
              <a:gd name="adj" fmla="val 2174"/>
            </a:avLst>
          </a:prstGeom>
          <a:solidFill>
            <a:srgbClr val="0F1520"/>
          </a:solidFill>
          <a:ln w="9525">
            <a:solidFill>
              <a:srgbClr val="263248"/>
            </a:solidFill>
            <a:prstDash val="solid"/>
          </a:ln>
        </p:spPr>
        <p:txBody>
          <a:bodyPr/>
          <a:lstStyle/>
          <a:p>
            <a:endParaRPr lang="en-IN"/>
          </a:p>
        </p:txBody>
      </p:sp>
      <p:sp>
        <p:nvSpPr>
          <p:cNvPr id="9" name="Text 6"/>
          <p:cNvSpPr txBox="1"/>
          <p:nvPr/>
        </p:nvSpPr>
        <p:spPr>
          <a:xfrm>
            <a:off x="731520" y="1920240"/>
            <a:ext cx="3840480" cy="4206240"/>
          </a:xfrm>
          <a:prstGeom prst="rect">
            <a:avLst/>
          </a:prstGeom>
          <a:noFill/>
          <a:ln/>
        </p:spPr>
        <p:txBody>
          <a:bodyPr wrap="square" lIns="0" tIns="0" rIns="0" bIns="0" rtlCol="0" anchor="t"/>
          <a:lstStyle/>
          <a:p>
            <a:pPr marL="0" indent="0">
              <a:buNone/>
            </a:pPr>
            <a:r>
              <a:rPr lang="en-US" sz="1150" dirty="0">
                <a:solidFill>
                  <a:srgbClr val="6F7C94"/>
                </a:solidFill>
                <a:latin typeface="Courier New" pitchFamily="34" charset="0"/>
                <a:ea typeface="Courier New" pitchFamily="34" charset="-122"/>
                <a:cs typeface="Courier New" pitchFamily="34" charset="-120"/>
              </a:rPr>
              <a:t># every result</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check_id, check_version, effective_from</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status, confidence, blocks_sale</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quote, start_sec, turn_idx, speaker</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guardrails: [G1 ... G8 that fired]</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evidence: extractor, model, prompt_sha256,</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          reference + source, comparison</a:t>
            </a:r>
            <a:endParaRPr lang="en-US" sz="1150" dirty="0"/>
          </a:p>
          <a:p>
            <a:pPr marL="0" indent="0">
              <a:buNone/>
            </a:pPr>
            <a:endParaRPr lang="en-US" sz="1150" dirty="0"/>
          </a:p>
          <a:p>
            <a:pPr marL="0" indent="0">
              <a:buNone/>
            </a:pPr>
            <a:r>
              <a:rPr lang="en-US" sz="1150" dirty="0">
                <a:solidFill>
                  <a:srgbClr val="6F7C94"/>
                </a:solidFill>
                <a:latin typeface="Courier New" pitchFamily="34" charset="0"/>
                <a:ea typeface="Courier New" pitchFamily="34" charset="-122"/>
                <a:cs typeface="Courier New" pitchFamily="34" charset="-120"/>
              </a:rPr>
              <a:t># every run</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checklist version in force</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transcript_sha256 (+ recording sha256)</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crm_snapshot, plan_snapshot</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gate decision + reasons + history</a:t>
            </a:r>
            <a:endParaRPr lang="en-US" sz="1150" dirty="0"/>
          </a:p>
          <a:p>
            <a:pPr marL="0" indent="0">
              <a:buNone/>
            </a:pPr>
            <a:r>
              <a:rPr lang="en-US" sz="1150" dirty="0">
                <a:solidFill>
                  <a:srgbClr val="E8EDF6"/>
                </a:solidFill>
                <a:latin typeface="Courier New" pitchFamily="34" charset="0"/>
                <a:ea typeface="Courier New" pitchFamily="34" charset="-122"/>
                <a:cs typeface="Courier New" pitchFamily="34" charset="-120"/>
              </a:rPr>
              <a:t>override_log, pipeline_trace, config</a:t>
            </a:r>
            <a:endParaRPr lang="en-US" sz="1150" dirty="0"/>
          </a:p>
        </p:txBody>
      </p:sp>
      <p:sp>
        <p:nvSpPr>
          <p:cNvPr id="10" name="Shape 7"/>
          <p:cNvSpPr/>
          <p:nvPr/>
        </p:nvSpPr>
        <p:spPr>
          <a:xfrm>
            <a:off x="4974336" y="1761353"/>
            <a:ext cx="6739128" cy="2420895"/>
          </a:xfrm>
          <a:prstGeom prst="roundRect">
            <a:avLst>
              <a:gd name="adj" fmla="val 3022"/>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11" name="Image 0" descr="C:\Users\adity\AppData\Local\Temp\claude\E--Webneco-Apps-cimet-qa\5d6d9e1f-a3b0-4938-a5a9-44ec7bd4cb64\scratchpad\deck\crops\audit.png"/>
          <p:cNvPicPr>
            <a:picLocks noChangeAspect="1"/>
          </p:cNvPicPr>
          <p:nvPr/>
        </p:nvPicPr>
        <p:blipFill>
          <a:blip r:embed="rId3"/>
          <a:stretch>
            <a:fillRect/>
          </a:stretch>
        </p:blipFill>
        <p:spPr>
          <a:xfrm>
            <a:off x="5029200" y="1816217"/>
            <a:ext cx="6629400" cy="2311167"/>
          </a:xfrm>
          <a:prstGeom prst="rect">
            <a:avLst/>
          </a:prstGeom>
        </p:spPr>
      </p:pic>
      <p:sp>
        <p:nvSpPr>
          <p:cNvPr id="12" name="Shape 8"/>
          <p:cNvSpPr/>
          <p:nvPr/>
        </p:nvSpPr>
        <p:spPr>
          <a:xfrm>
            <a:off x="5029200" y="4389120"/>
            <a:ext cx="6629400" cy="1874520"/>
          </a:xfrm>
          <a:prstGeom prst="roundRect">
            <a:avLst>
              <a:gd name="adj" fmla="val 4878"/>
            </a:avLst>
          </a:prstGeom>
          <a:solidFill>
            <a:srgbClr val="1A2332"/>
          </a:solidFill>
          <a:ln w="9525">
            <a:solidFill>
              <a:srgbClr val="263248"/>
            </a:solidFill>
            <a:prstDash val="solid"/>
          </a:ln>
        </p:spPr>
        <p:txBody>
          <a:bodyPr/>
          <a:lstStyle/>
          <a:p>
            <a:endParaRPr lang="en-IN"/>
          </a:p>
        </p:txBody>
      </p:sp>
      <p:sp>
        <p:nvSpPr>
          <p:cNvPr id="13" name="Text 9"/>
          <p:cNvSpPr txBox="1"/>
          <p:nvPr/>
        </p:nvSpPr>
        <p:spPr>
          <a:xfrm>
            <a:off x="5303520" y="4544568"/>
            <a:ext cx="612648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Rule versions</a:t>
            </a:r>
            <a:endParaRPr lang="en-US" sz="1500" dirty="0"/>
          </a:p>
        </p:txBody>
      </p:sp>
      <p:sp>
        <p:nvSpPr>
          <p:cNvPr id="14" name="Text 10"/>
          <p:cNvSpPr txBox="1"/>
          <p:nvPr/>
        </p:nvSpPr>
        <p:spPr>
          <a:xfrm>
            <a:off x="5303520" y="4919472"/>
            <a:ext cx="6126480" cy="1280160"/>
          </a:xfrm>
          <a:prstGeom prst="rect">
            <a:avLst/>
          </a:prstGeom>
          <a:noFill/>
          <a:ln/>
        </p:spPr>
        <p:txBody>
          <a:bodyPr wrap="square" lIns="0" tIns="0" rIns="0" bIns="0" rtlCol="0" anchor="t"/>
          <a:lstStyle/>
          <a:p>
            <a:pPr marL="203200" indent="-203200">
              <a:spcAft>
                <a:spcPts val="600"/>
              </a:spcAft>
              <a:buSzPct val="100000"/>
              <a:buChar char="•"/>
            </a:pPr>
            <a:r>
              <a:rPr lang="en-US" sz="1250" b="1" dirty="0">
                <a:solidFill>
                  <a:srgbClr val="E8EDF6"/>
                </a:solidFill>
                <a:latin typeface="Calibri" pitchFamily="34" charset="0"/>
                <a:ea typeface="Calibri" pitchFamily="34" charset="-122"/>
                <a:cs typeface="Calibri" pitchFamily="34" charset="-120"/>
              </a:rPr>
              <a:t>Stamped today:</a:t>
            </a:r>
            <a:r>
              <a:rPr lang="en-US" sz="1250" dirty="0">
                <a:solidFill>
                  <a:srgbClr val="A3AEC3"/>
                </a:solidFill>
                <a:latin typeface="Calibri" pitchFamily="34" charset="0"/>
                <a:ea typeface="Calibri" pitchFamily="34" charset="-122"/>
                <a:cs typeface="Calibri" pitchFamily="34" charset="-120"/>
              </a:rPr>
              <a:t> every result carries its check version and the date it took effect.</a:t>
            </a:r>
            <a:endParaRPr lang="en-US" sz="1250" dirty="0"/>
          </a:p>
          <a:p>
            <a:pPr marL="203200" indent="-203200">
              <a:spcAft>
                <a:spcPts val="600"/>
              </a:spcAft>
              <a:buSzPct val="100000"/>
              <a:buChar char="•"/>
            </a:pPr>
            <a:r>
              <a:rPr lang="en-US" sz="1250" b="1" dirty="0">
                <a:solidFill>
                  <a:srgbClr val="E8EDF6"/>
                </a:solidFill>
                <a:latin typeface="Calibri" pitchFamily="34" charset="0"/>
                <a:ea typeface="Calibri" pitchFamily="34" charset="-122"/>
                <a:cs typeface="Calibri" pitchFamily="34" charset="-120"/>
              </a:rPr>
              <a:t>Next step:</a:t>
            </a:r>
            <a:r>
              <a:rPr lang="en-US" sz="1250" dirty="0">
                <a:solidFill>
                  <a:srgbClr val="A3AEC3"/>
                </a:solidFill>
                <a:latin typeface="Calibri" pitchFamily="34" charset="0"/>
                <a:ea typeface="Calibri" pitchFamily="34" charset="-122"/>
                <a:cs typeface="Calibri" pitchFamily="34" charset="-120"/>
              </a:rPr>
              <a:t> resolve each check to the version that was live on the call date, not today's (the brief's requirement).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24</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23 · CONSTRAINTS &amp; GUARDRAILS</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The brief's non-negotiables, built in</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Regulated Australian verticals: the scorer inherits the obligations of the calls it grades.</a:t>
            </a:r>
            <a:endParaRPr lang="en-US" sz="1500" dirty="0"/>
          </a:p>
        </p:txBody>
      </p:sp>
      <p:sp>
        <p:nvSpPr>
          <p:cNvPr id="8" name="Shape 5"/>
          <p:cNvSpPr/>
          <p:nvPr/>
        </p:nvSpPr>
        <p:spPr>
          <a:xfrm>
            <a:off x="548640" y="1874520"/>
            <a:ext cx="3520440" cy="1965960"/>
          </a:xfrm>
          <a:prstGeom prst="roundRect">
            <a:avLst>
              <a:gd name="adj" fmla="val 4651"/>
            </a:avLst>
          </a:prstGeom>
          <a:solidFill>
            <a:srgbClr val="141B28"/>
          </a:solidFill>
          <a:ln w="9525">
            <a:solidFill>
              <a:srgbClr val="263248"/>
            </a:solidFill>
            <a:prstDash val="solid"/>
          </a:ln>
        </p:spPr>
        <p:txBody>
          <a:bodyPr/>
          <a:lstStyle/>
          <a:p>
            <a:endParaRPr lang="en-IN"/>
          </a:p>
        </p:txBody>
      </p:sp>
      <p:sp>
        <p:nvSpPr>
          <p:cNvPr id="9" name="Text 6"/>
          <p:cNvSpPr txBox="1"/>
          <p:nvPr/>
        </p:nvSpPr>
        <p:spPr>
          <a:xfrm>
            <a:off x="822960" y="2130552"/>
            <a:ext cx="1965960" cy="5486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Test data only</a:t>
            </a:r>
            <a:endParaRPr lang="en-US" sz="1500" dirty="0"/>
          </a:p>
        </p:txBody>
      </p:sp>
      <p:sp>
        <p:nvSpPr>
          <p:cNvPr id="10" name="Shape 7"/>
          <p:cNvSpPr/>
          <p:nvPr/>
        </p:nvSpPr>
        <p:spPr>
          <a:xfrm>
            <a:off x="2834640" y="2130552"/>
            <a:ext cx="96012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11" name="Text 8"/>
          <p:cNvSpPr txBox="1"/>
          <p:nvPr/>
        </p:nvSpPr>
        <p:spPr>
          <a:xfrm>
            <a:off x="2834640" y="2130552"/>
            <a:ext cx="96012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In place</a:t>
            </a:r>
            <a:endParaRPr lang="en-US" sz="1050" dirty="0"/>
          </a:p>
        </p:txBody>
      </p:sp>
      <p:sp>
        <p:nvSpPr>
          <p:cNvPr id="12" name="Text 9"/>
          <p:cNvSpPr txBox="1"/>
          <p:nvPr/>
        </p:nvSpPr>
        <p:spPr>
          <a:xfrm>
            <a:off x="822960" y="2743200"/>
            <a:ext cx="2971800" cy="10515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Synthetic leads, the redacted CIMET artefact, and invented test calls. No real customer PII anywhere.</a:t>
            </a:r>
            <a:endParaRPr lang="en-US" sz="1200" dirty="0"/>
          </a:p>
        </p:txBody>
      </p:sp>
      <p:sp>
        <p:nvSpPr>
          <p:cNvPr id="13" name="Shape 10"/>
          <p:cNvSpPr/>
          <p:nvPr/>
        </p:nvSpPr>
        <p:spPr>
          <a:xfrm>
            <a:off x="4297680" y="1874520"/>
            <a:ext cx="3520440" cy="1965960"/>
          </a:xfrm>
          <a:prstGeom prst="roundRect">
            <a:avLst>
              <a:gd name="adj" fmla="val 4651"/>
            </a:avLst>
          </a:prstGeom>
          <a:solidFill>
            <a:srgbClr val="141B28"/>
          </a:solidFill>
          <a:ln w="9525">
            <a:solidFill>
              <a:srgbClr val="263248"/>
            </a:solidFill>
            <a:prstDash val="solid"/>
          </a:ln>
        </p:spPr>
        <p:txBody>
          <a:bodyPr/>
          <a:lstStyle/>
          <a:p>
            <a:endParaRPr lang="en-IN"/>
          </a:p>
        </p:txBody>
      </p:sp>
      <p:sp>
        <p:nvSpPr>
          <p:cNvPr id="14" name="Text 11"/>
          <p:cNvSpPr txBox="1"/>
          <p:nvPr/>
        </p:nvSpPr>
        <p:spPr>
          <a:xfrm>
            <a:off x="4572000" y="2130552"/>
            <a:ext cx="1965960" cy="5486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Consent is a check</a:t>
            </a:r>
            <a:endParaRPr lang="en-US" sz="1500" dirty="0"/>
          </a:p>
        </p:txBody>
      </p:sp>
      <p:sp>
        <p:nvSpPr>
          <p:cNvPr id="15" name="Shape 12"/>
          <p:cNvSpPr/>
          <p:nvPr/>
        </p:nvSpPr>
        <p:spPr>
          <a:xfrm>
            <a:off x="6583680" y="2130552"/>
            <a:ext cx="96012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16" name="Text 13"/>
          <p:cNvSpPr txBox="1"/>
          <p:nvPr/>
        </p:nvSpPr>
        <p:spPr>
          <a:xfrm>
            <a:off x="6583680" y="2130552"/>
            <a:ext cx="96012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In place</a:t>
            </a:r>
            <a:endParaRPr lang="en-US" sz="1050" dirty="0"/>
          </a:p>
        </p:txBody>
      </p:sp>
      <p:sp>
        <p:nvSpPr>
          <p:cNvPr id="17" name="Text 14"/>
          <p:cNvSpPr txBox="1"/>
          <p:nvPr/>
        </p:nvSpPr>
        <p:spPr>
          <a:xfrm>
            <a:off x="4572000" y="2743200"/>
            <a:ext cx="2971800" cy="10515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The recording disclaimer — including “do I have your consent” — is a critical Type A check on every call.</a:t>
            </a:r>
            <a:endParaRPr lang="en-US" sz="1200" dirty="0"/>
          </a:p>
        </p:txBody>
      </p:sp>
      <p:sp>
        <p:nvSpPr>
          <p:cNvPr id="18" name="Shape 15"/>
          <p:cNvSpPr/>
          <p:nvPr/>
        </p:nvSpPr>
        <p:spPr>
          <a:xfrm>
            <a:off x="8046720" y="1874520"/>
            <a:ext cx="3520440" cy="1965960"/>
          </a:xfrm>
          <a:prstGeom prst="roundRect">
            <a:avLst>
              <a:gd name="adj" fmla="val 4651"/>
            </a:avLst>
          </a:prstGeom>
          <a:solidFill>
            <a:srgbClr val="141B28"/>
          </a:solidFill>
          <a:ln w="9525">
            <a:solidFill>
              <a:srgbClr val="263248"/>
            </a:solidFill>
            <a:prstDash val="solid"/>
          </a:ln>
        </p:spPr>
        <p:txBody>
          <a:bodyPr/>
          <a:lstStyle/>
          <a:p>
            <a:endParaRPr lang="en-IN"/>
          </a:p>
        </p:txBody>
      </p:sp>
      <p:sp>
        <p:nvSpPr>
          <p:cNvPr id="19" name="Text 16"/>
          <p:cNvSpPr txBox="1"/>
          <p:nvPr/>
        </p:nvSpPr>
        <p:spPr>
          <a:xfrm>
            <a:off x="8321040" y="2130552"/>
            <a:ext cx="1965960" cy="5486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No card data surfaced</a:t>
            </a:r>
            <a:endParaRPr lang="en-US" sz="1500" dirty="0"/>
          </a:p>
        </p:txBody>
      </p:sp>
      <p:sp>
        <p:nvSpPr>
          <p:cNvPr id="20" name="Shape 17"/>
          <p:cNvSpPr/>
          <p:nvPr/>
        </p:nvSpPr>
        <p:spPr>
          <a:xfrm>
            <a:off x="10332720" y="2130552"/>
            <a:ext cx="96012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21" name="Text 18"/>
          <p:cNvSpPr txBox="1"/>
          <p:nvPr/>
        </p:nvSpPr>
        <p:spPr>
          <a:xfrm>
            <a:off x="10332720" y="2130552"/>
            <a:ext cx="96012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In place</a:t>
            </a:r>
            <a:endParaRPr lang="en-US" sz="1050" dirty="0"/>
          </a:p>
        </p:txBody>
      </p:sp>
      <p:sp>
        <p:nvSpPr>
          <p:cNvPr id="22" name="Text 19"/>
          <p:cNvSpPr txBox="1"/>
          <p:nvPr/>
        </p:nvSpPr>
        <p:spPr>
          <a:xfrm>
            <a:off x="8321040" y="2743200"/>
            <a:ext cx="2971800" cy="10515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13+ digit runs, in digits or spoken words, are masked before scoring, the LLM or disk. NBN checks the mute.</a:t>
            </a:r>
            <a:endParaRPr lang="en-US" sz="1200" dirty="0"/>
          </a:p>
        </p:txBody>
      </p:sp>
      <p:sp>
        <p:nvSpPr>
          <p:cNvPr id="23" name="Shape 20"/>
          <p:cNvSpPr/>
          <p:nvPr/>
        </p:nvSpPr>
        <p:spPr>
          <a:xfrm>
            <a:off x="548640" y="4023360"/>
            <a:ext cx="3520440" cy="1965960"/>
          </a:xfrm>
          <a:prstGeom prst="roundRect">
            <a:avLst>
              <a:gd name="adj" fmla="val 4651"/>
            </a:avLst>
          </a:prstGeom>
          <a:solidFill>
            <a:srgbClr val="141B28"/>
          </a:solidFill>
          <a:ln w="9525">
            <a:solidFill>
              <a:srgbClr val="263248"/>
            </a:solidFill>
            <a:prstDash val="solid"/>
          </a:ln>
        </p:spPr>
        <p:txBody>
          <a:bodyPr/>
          <a:lstStyle/>
          <a:p>
            <a:endParaRPr lang="en-IN"/>
          </a:p>
        </p:txBody>
      </p:sp>
      <p:sp>
        <p:nvSpPr>
          <p:cNvPr id="24" name="Text 21"/>
          <p:cNvSpPr txBox="1"/>
          <p:nvPr/>
        </p:nvSpPr>
        <p:spPr>
          <a:xfrm>
            <a:off x="822960" y="4279392"/>
            <a:ext cx="1965960" cy="5486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No advice, no auto-correction</a:t>
            </a:r>
            <a:endParaRPr lang="en-US" sz="1500" dirty="0"/>
          </a:p>
        </p:txBody>
      </p:sp>
      <p:sp>
        <p:nvSpPr>
          <p:cNvPr id="25" name="Shape 22"/>
          <p:cNvSpPr/>
          <p:nvPr/>
        </p:nvSpPr>
        <p:spPr>
          <a:xfrm>
            <a:off x="2834640" y="4279392"/>
            <a:ext cx="96012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26" name="Text 23"/>
          <p:cNvSpPr txBox="1"/>
          <p:nvPr/>
        </p:nvSpPr>
        <p:spPr>
          <a:xfrm>
            <a:off x="2834640" y="4279392"/>
            <a:ext cx="96012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In place</a:t>
            </a:r>
            <a:endParaRPr lang="en-US" sz="1050" dirty="0"/>
          </a:p>
        </p:txBody>
      </p:sp>
      <p:sp>
        <p:nvSpPr>
          <p:cNvPr id="27" name="Text 24"/>
          <p:cNvSpPr txBox="1"/>
          <p:nvPr/>
        </p:nvSpPr>
        <p:spPr>
          <a:xfrm>
            <a:off x="822960" y="4892040"/>
            <a:ext cx="2971800" cy="10515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The app never writes to the CRM, never contacts the customer. It says what failed and where.</a:t>
            </a:r>
            <a:endParaRPr lang="en-US" sz="1200" dirty="0"/>
          </a:p>
        </p:txBody>
      </p:sp>
      <p:sp>
        <p:nvSpPr>
          <p:cNvPr id="28" name="Shape 25"/>
          <p:cNvSpPr/>
          <p:nvPr/>
        </p:nvSpPr>
        <p:spPr>
          <a:xfrm>
            <a:off x="4297680" y="4023360"/>
            <a:ext cx="3520440" cy="1965960"/>
          </a:xfrm>
          <a:prstGeom prst="roundRect">
            <a:avLst>
              <a:gd name="adj" fmla="val 4651"/>
            </a:avLst>
          </a:prstGeom>
          <a:solidFill>
            <a:srgbClr val="141B28"/>
          </a:solidFill>
          <a:ln w="9525">
            <a:solidFill>
              <a:srgbClr val="263248"/>
            </a:solidFill>
            <a:prstDash val="solid"/>
          </a:ln>
        </p:spPr>
        <p:txBody>
          <a:bodyPr/>
          <a:lstStyle/>
          <a:p>
            <a:endParaRPr lang="en-IN"/>
          </a:p>
        </p:txBody>
      </p:sp>
      <p:sp>
        <p:nvSpPr>
          <p:cNvPr id="29" name="Text 26"/>
          <p:cNvSpPr txBox="1"/>
          <p:nvPr/>
        </p:nvSpPr>
        <p:spPr>
          <a:xfrm>
            <a:off x="4572000" y="4279392"/>
            <a:ext cx="1965960" cy="5486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Rules that were live</a:t>
            </a:r>
            <a:endParaRPr lang="en-US" sz="1500" dirty="0"/>
          </a:p>
        </p:txBody>
      </p:sp>
      <p:sp>
        <p:nvSpPr>
          <p:cNvPr id="30" name="Shape 27"/>
          <p:cNvSpPr/>
          <p:nvPr/>
        </p:nvSpPr>
        <p:spPr>
          <a:xfrm>
            <a:off x="6583680" y="4279392"/>
            <a:ext cx="96012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31" name="Text 28"/>
          <p:cNvSpPr txBox="1"/>
          <p:nvPr/>
        </p:nvSpPr>
        <p:spPr>
          <a:xfrm>
            <a:off x="6583680" y="4279392"/>
            <a:ext cx="96012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Partial</a:t>
            </a:r>
            <a:endParaRPr lang="en-US" sz="1050" dirty="0"/>
          </a:p>
        </p:txBody>
      </p:sp>
      <p:sp>
        <p:nvSpPr>
          <p:cNvPr id="32" name="Text 29"/>
          <p:cNvSpPr txBox="1"/>
          <p:nvPr/>
        </p:nvSpPr>
        <p:spPr>
          <a:xfrm>
            <a:off x="4572000" y="4892040"/>
            <a:ext cx="2971800" cy="10515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Check version + effective date on every result. Resolving by call date is the next step.</a:t>
            </a:r>
            <a:endParaRPr lang="en-US" sz="1200" dirty="0"/>
          </a:p>
        </p:txBody>
      </p:sp>
      <p:sp>
        <p:nvSpPr>
          <p:cNvPr id="33" name="Shape 30"/>
          <p:cNvSpPr/>
          <p:nvPr/>
        </p:nvSpPr>
        <p:spPr>
          <a:xfrm>
            <a:off x="8046720" y="4023360"/>
            <a:ext cx="3520440" cy="1965960"/>
          </a:xfrm>
          <a:prstGeom prst="roundRect">
            <a:avLst>
              <a:gd name="adj" fmla="val 4651"/>
            </a:avLst>
          </a:prstGeom>
          <a:solidFill>
            <a:srgbClr val="141B28"/>
          </a:solidFill>
          <a:ln w="9525">
            <a:solidFill>
              <a:srgbClr val="263248"/>
            </a:solidFill>
            <a:prstDash val="solid"/>
          </a:ln>
        </p:spPr>
        <p:txBody>
          <a:bodyPr/>
          <a:lstStyle/>
          <a:p>
            <a:endParaRPr lang="en-IN"/>
          </a:p>
        </p:txBody>
      </p:sp>
      <p:sp>
        <p:nvSpPr>
          <p:cNvPr id="34" name="Text 31"/>
          <p:cNvSpPr txBox="1"/>
          <p:nvPr/>
        </p:nvSpPr>
        <p:spPr>
          <a:xfrm>
            <a:off x="8321040" y="4279392"/>
            <a:ext cx="1965960" cy="5486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Respect the override</a:t>
            </a:r>
            <a:endParaRPr lang="en-US" sz="1500" dirty="0"/>
          </a:p>
        </p:txBody>
      </p:sp>
      <p:sp>
        <p:nvSpPr>
          <p:cNvPr id="35" name="Shape 32"/>
          <p:cNvSpPr/>
          <p:nvPr/>
        </p:nvSpPr>
        <p:spPr>
          <a:xfrm>
            <a:off x="10332720" y="4279392"/>
            <a:ext cx="96012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36" name="Text 33"/>
          <p:cNvSpPr txBox="1"/>
          <p:nvPr/>
        </p:nvSpPr>
        <p:spPr>
          <a:xfrm>
            <a:off x="10332720" y="4279392"/>
            <a:ext cx="96012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In place</a:t>
            </a:r>
            <a:endParaRPr lang="en-US" sz="1050" dirty="0"/>
          </a:p>
        </p:txBody>
      </p:sp>
      <p:sp>
        <p:nvSpPr>
          <p:cNvPr id="37" name="Text 34"/>
          <p:cNvSpPr txBox="1"/>
          <p:nvPr/>
        </p:nvSpPr>
        <p:spPr>
          <a:xfrm>
            <a:off x="8321040" y="4892040"/>
            <a:ext cx="2971800" cy="105156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Reason required, machine verdict kept, append-only log, gate before → after.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25</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24 · SCORING ACCURACY</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Zero critical false passes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Measured against 12 hand-labelled calls. The scorer never reads the labels.</a:t>
            </a:r>
            <a:endParaRPr lang="en-US" sz="1500" dirty="0"/>
          </a:p>
        </p:txBody>
      </p:sp>
      <p:sp>
        <p:nvSpPr>
          <p:cNvPr id="8" name="Text 5"/>
          <p:cNvSpPr txBox="1"/>
          <p:nvPr/>
        </p:nvSpPr>
        <p:spPr>
          <a:xfrm>
            <a:off x="548640" y="1783080"/>
            <a:ext cx="2377440" cy="731520"/>
          </a:xfrm>
          <a:prstGeom prst="rect">
            <a:avLst/>
          </a:prstGeom>
          <a:noFill/>
          <a:ln/>
        </p:spPr>
        <p:txBody>
          <a:bodyPr wrap="square" lIns="0" tIns="0" rIns="0" bIns="0" rtlCol="0" anchor="ctr"/>
          <a:lstStyle/>
          <a:p>
            <a:pPr marL="0" indent="0">
              <a:buNone/>
            </a:pPr>
            <a:r>
              <a:rPr lang="en-US" sz="4400" b="1" dirty="0">
                <a:solidFill>
                  <a:srgbClr val="34D399"/>
                </a:solidFill>
                <a:latin typeface="Calibri" pitchFamily="34" charset="0"/>
                <a:ea typeface="Calibri" pitchFamily="34" charset="-122"/>
                <a:cs typeface="Calibri" pitchFamily="34" charset="-120"/>
              </a:rPr>
              <a:t>0</a:t>
            </a:r>
            <a:endParaRPr lang="en-US" sz="4400" dirty="0"/>
          </a:p>
        </p:txBody>
      </p:sp>
      <p:sp>
        <p:nvSpPr>
          <p:cNvPr id="9" name="Text 6"/>
          <p:cNvSpPr txBox="1"/>
          <p:nvPr/>
        </p:nvSpPr>
        <p:spPr>
          <a:xfrm>
            <a:off x="548640" y="2514600"/>
            <a:ext cx="237744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critical false passes</a:t>
            </a:r>
            <a:endParaRPr lang="en-US" sz="1250" dirty="0"/>
          </a:p>
        </p:txBody>
      </p:sp>
      <p:sp>
        <p:nvSpPr>
          <p:cNvPr id="10" name="Text 7"/>
          <p:cNvSpPr txBox="1"/>
          <p:nvPr/>
        </p:nvSpPr>
        <p:spPr>
          <a:xfrm>
            <a:off x="3108960" y="1783080"/>
            <a:ext cx="2377440" cy="731520"/>
          </a:xfrm>
          <a:prstGeom prst="rect">
            <a:avLst/>
          </a:prstGeom>
          <a:noFill/>
          <a:ln/>
        </p:spPr>
        <p:txBody>
          <a:bodyPr wrap="square" lIns="0" tIns="0" rIns="0" bIns="0" rtlCol="0" anchor="ctr"/>
          <a:lstStyle/>
          <a:p>
            <a:pPr marL="0" indent="0">
              <a:buNone/>
            </a:pPr>
            <a:r>
              <a:rPr lang="en-US" sz="4400" b="1" dirty="0">
                <a:solidFill>
                  <a:srgbClr val="34D399"/>
                </a:solidFill>
                <a:latin typeface="Calibri" pitchFamily="34" charset="0"/>
                <a:ea typeface="Calibri" pitchFamily="34" charset="-122"/>
                <a:cs typeface="Calibri" pitchFamily="34" charset="-120"/>
              </a:rPr>
              <a:t>0</a:t>
            </a:r>
            <a:endParaRPr lang="en-US" sz="4400" dirty="0"/>
          </a:p>
        </p:txBody>
      </p:sp>
      <p:sp>
        <p:nvSpPr>
          <p:cNvPr id="11" name="Text 8"/>
          <p:cNvSpPr txBox="1"/>
          <p:nvPr/>
        </p:nvSpPr>
        <p:spPr>
          <a:xfrm>
            <a:off x="3108960" y="2514600"/>
            <a:ext cx="237744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sales wrongly submitted</a:t>
            </a:r>
            <a:endParaRPr lang="en-US" sz="1250" dirty="0"/>
          </a:p>
        </p:txBody>
      </p:sp>
      <p:sp>
        <p:nvSpPr>
          <p:cNvPr id="12" name="Text 9"/>
          <p:cNvSpPr txBox="1"/>
          <p:nvPr/>
        </p:nvSpPr>
        <p:spPr>
          <a:xfrm>
            <a:off x="548640" y="3063240"/>
            <a:ext cx="2377440" cy="731520"/>
          </a:xfrm>
          <a:prstGeom prst="rect">
            <a:avLst/>
          </a:prstGeom>
          <a:noFill/>
          <a:ln/>
        </p:spPr>
        <p:txBody>
          <a:bodyPr wrap="square" lIns="0" tIns="0" rIns="0" bIns="0" rtlCol="0" anchor="ctr"/>
          <a:lstStyle/>
          <a:p>
            <a:pPr marL="0" indent="0">
              <a:buNone/>
            </a:pPr>
            <a:r>
              <a:rPr lang="en-US" sz="4400" b="1" dirty="0">
                <a:solidFill>
                  <a:srgbClr val="34D399"/>
                </a:solidFill>
                <a:latin typeface="Calibri" pitchFamily="34" charset="0"/>
                <a:ea typeface="Calibri" pitchFamily="34" charset="-122"/>
                <a:cs typeface="Calibri" pitchFamily="34" charset="-120"/>
              </a:rPr>
              <a:t>0</a:t>
            </a:r>
            <a:endParaRPr lang="en-US" sz="4400" dirty="0"/>
          </a:p>
        </p:txBody>
      </p:sp>
      <p:sp>
        <p:nvSpPr>
          <p:cNvPr id="13" name="Text 10"/>
          <p:cNvSpPr txBox="1"/>
          <p:nvPr/>
        </p:nvSpPr>
        <p:spPr>
          <a:xfrm>
            <a:off x="548640" y="3794760"/>
            <a:ext cx="237744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sales wrongly held</a:t>
            </a:r>
            <a:endParaRPr lang="en-US" sz="1250" dirty="0"/>
          </a:p>
        </p:txBody>
      </p:sp>
      <p:sp>
        <p:nvSpPr>
          <p:cNvPr id="14" name="Text 11"/>
          <p:cNvSpPr txBox="1"/>
          <p:nvPr/>
        </p:nvSpPr>
        <p:spPr>
          <a:xfrm>
            <a:off x="3108960" y="3063240"/>
            <a:ext cx="2377440" cy="731520"/>
          </a:xfrm>
          <a:prstGeom prst="rect">
            <a:avLst/>
          </a:prstGeom>
          <a:noFill/>
          <a:ln/>
        </p:spPr>
        <p:txBody>
          <a:bodyPr wrap="square" lIns="0" tIns="0" rIns="0" bIns="0" rtlCol="0" anchor="ctr"/>
          <a:lstStyle/>
          <a:p>
            <a:pPr marL="0" indent="0">
              <a:buNone/>
            </a:pPr>
            <a:r>
              <a:rPr lang="en-US" sz="4400" b="1" dirty="0">
                <a:solidFill>
                  <a:srgbClr val="6AA8FF"/>
                </a:solidFill>
                <a:latin typeface="Calibri" pitchFamily="34" charset="0"/>
                <a:ea typeface="Calibri" pitchFamily="34" charset="-122"/>
                <a:cs typeface="Calibri" pitchFamily="34" charset="-120"/>
              </a:rPr>
              <a:t>κ 1.0</a:t>
            </a:r>
            <a:endParaRPr lang="en-US" sz="4400" dirty="0"/>
          </a:p>
        </p:txBody>
      </p:sp>
      <p:sp>
        <p:nvSpPr>
          <p:cNvPr id="15" name="Text 12"/>
          <p:cNvSpPr txBox="1"/>
          <p:nvPr/>
        </p:nvSpPr>
        <p:spPr>
          <a:xfrm>
            <a:off x="3108960" y="3794760"/>
            <a:ext cx="2377440" cy="457200"/>
          </a:xfrm>
          <a:prstGeom prst="rect">
            <a:avLst/>
          </a:prstGeom>
          <a:noFill/>
          <a:ln/>
        </p:spPr>
        <p:txBody>
          <a:bodyPr wrap="square" lIns="0" tIns="0" rIns="0" bIns="0" rtlCol="0" anchor="ctr"/>
          <a:lstStyle/>
          <a:p>
            <a:pPr marL="0" indent="0">
              <a:buNone/>
            </a:pPr>
            <a:r>
              <a:rPr lang="en-US" sz="1250" dirty="0">
                <a:solidFill>
                  <a:srgbClr val="A3AEC3"/>
                </a:solidFill>
                <a:latin typeface="Calibri" pitchFamily="34" charset="0"/>
                <a:ea typeface="Calibri" pitchFamily="34" charset="-122"/>
                <a:cs typeface="Calibri" pitchFamily="34" charset="-120"/>
              </a:rPr>
              <a:t>agreement with labels where the machine decided</a:t>
            </a:r>
            <a:endParaRPr lang="en-US" sz="1250" dirty="0"/>
          </a:p>
        </p:txBody>
      </p:sp>
      <p:sp>
        <p:nvSpPr>
          <p:cNvPr id="16" name="Shape 13"/>
          <p:cNvSpPr/>
          <p:nvPr/>
        </p:nvSpPr>
        <p:spPr>
          <a:xfrm>
            <a:off x="548640" y="4434840"/>
            <a:ext cx="4937760" cy="1783080"/>
          </a:xfrm>
          <a:prstGeom prst="roundRect">
            <a:avLst>
              <a:gd name="adj" fmla="val 5128"/>
            </a:avLst>
          </a:prstGeom>
          <a:solidFill>
            <a:srgbClr val="1A2332"/>
          </a:solidFill>
          <a:ln w="9525">
            <a:solidFill>
              <a:srgbClr val="263248"/>
            </a:solidFill>
            <a:prstDash val="solid"/>
          </a:ln>
        </p:spPr>
        <p:txBody>
          <a:bodyPr/>
          <a:lstStyle/>
          <a:p>
            <a:endParaRPr lang="en-IN"/>
          </a:p>
        </p:txBody>
      </p:sp>
      <p:sp>
        <p:nvSpPr>
          <p:cNvPr id="17" name="Text 14"/>
          <p:cNvSpPr txBox="1"/>
          <p:nvPr/>
        </p:nvSpPr>
        <p:spPr>
          <a:xfrm>
            <a:off x="777240" y="4572000"/>
            <a:ext cx="4526280" cy="1600200"/>
          </a:xfrm>
          <a:prstGeom prst="rect">
            <a:avLst/>
          </a:prstGeom>
          <a:noFill/>
          <a:ln/>
        </p:spPr>
        <p:txBody>
          <a:bodyPr wrap="square" lIns="0" tIns="0" rIns="0" bIns="0" rtlCol="0" anchor="t"/>
          <a:lstStyle/>
          <a:p>
            <a:pPr marL="203200" indent="-203200">
              <a:spcAft>
                <a:spcPts val="500"/>
              </a:spcAft>
              <a:buSzPct val="100000"/>
              <a:buChar char="•"/>
            </a:pPr>
            <a:r>
              <a:rPr lang="en-US" sz="1150" b="1" dirty="0">
                <a:solidFill>
                  <a:srgbClr val="E8EDF6"/>
                </a:solidFill>
                <a:latin typeface="Calibri" pitchFamily="34" charset="0"/>
                <a:ea typeface="Calibri" pitchFamily="34" charset="-122"/>
                <a:cs typeface="Calibri" pitchFamily="34" charset="-120"/>
              </a:rPr>
              <a:t>Reference transcripts:</a:t>
            </a:r>
            <a:r>
              <a:rPr lang="en-US" sz="1150" dirty="0">
                <a:solidFill>
                  <a:srgbClr val="A3AEC3"/>
                </a:solidFill>
                <a:latin typeface="Calibri" pitchFamily="34" charset="0"/>
                <a:ea typeface="Calibri" pitchFamily="34" charset="-122"/>
                <a:cs typeface="Calibri" pitchFamily="34" charset="-120"/>
              </a:rPr>
              <a:t> 12 calls — 11 agree, 1 escalated to QA (crosstalk), 1.2% of verdicts routed to a human.</a:t>
            </a:r>
            <a:endParaRPr lang="en-US" sz="1150" dirty="0"/>
          </a:p>
          <a:p>
            <a:pPr marL="203200" indent="-203200">
              <a:spcAft>
                <a:spcPts val="500"/>
              </a:spcAft>
              <a:buSzPct val="100000"/>
              <a:buChar char="•"/>
            </a:pPr>
            <a:r>
              <a:rPr lang="en-US" sz="1150" b="1" dirty="0">
                <a:solidFill>
                  <a:srgbClr val="E8EDF6"/>
                </a:solidFill>
                <a:latin typeface="Calibri" pitchFamily="34" charset="0"/>
                <a:ea typeface="Calibri" pitchFamily="34" charset="-122"/>
                <a:cs typeface="Calibri" pitchFamily="34" charset="-120"/>
              </a:rPr>
              <a:t>Real audio (ElevenLabs Scribe):</a:t>
            </a:r>
            <a:r>
              <a:rPr lang="en-US" sz="1150" dirty="0">
                <a:solidFill>
                  <a:srgbClr val="A3AEC3"/>
                </a:solidFill>
                <a:latin typeface="Calibri" pitchFamily="34" charset="0"/>
                <a:ea typeface="Calibri" pitchFamily="34" charset="-122"/>
                <a:cs typeface="Calibri" pitchFamily="34" charset="-120"/>
              </a:rPr>
              <a:t> 3 calls so far — 0 false passes, 0 wrong gates; 2 emails routed to a human by G7.</a:t>
            </a:r>
            <a:endParaRPr lang="en-US" sz="1150" dirty="0"/>
          </a:p>
          <a:p>
            <a:pPr marL="203200" indent="-203200">
              <a:spcAft>
                <a:spcPts val="500"/>
              </a:spcAft>
              <a:buSzPct val="100000"/>
              <a:buChar char="•"/>
            </a:pPr>
            <a:r>
              <a:rPr lang="en-US" sz="1150" b="1" dirty="0">
                <a:solidFill>
                  <a:srgbClr val="E8EDF6"/>
                </a:solidFill>
                <a:latin typeface="Calibri" pitchFamily="34" charset="0"/>
                <a:ea typeface="Calibri" pitchFamily="34" charset="-122"/>
                <a:cs typeface="Calibri" pitchFamily="34" charset="-120"/>
              </a:rPr>
              <a:t>Caveat:</a:t>
            </a:r>
            <a:r>
              <a:rPr lang="en-US" sz="1150" dirty="0">
                <a:solidFill>
                  <a:srgbClr val="A3AEC3"/>
                </a:solidFill>
                <a:latin typeface="Calibri" pitchFamily="34" charset="0"/>
                <a:ea typeface="Calibri" pitchFamily="34" charset="-122"/>
                <a:cs typeface="Calibri" pitchFamily="34" charset="-120"/>
              </a:rPr>
              <a:t> reference transcripts follow the scripts, so they're a floor; the real test is the recording on the day.</a:t>
            </a:r>
            <a:endParaRPr lang="en-US" sz="1150" dirty="0"/>
          </a:p>
        </p:txBody>
      </p:sp>
      <p:sp>
        <p:nvSpPr>
          <p:cNvPr id="18" name="Shape 15"/>
          <p:cNvSpPr/>
          <p:nvPr/>
        </p:nvSpPr>
        <p:spPr>
          <a:xfrm>
            <a:off x="6457967" y="1728216"/>
            <a:ext cx="5255497" cy="4544568"/>
          </a:xfrm>
          <a:prstGeom prst="roundRect">
            <a:avLst>
              <a:gd name="adj" fmla="val 1610"/>
            </a:avLst>
          </a:prstGeom>
          <a:solidFill>
            <a:srgbClr val="1A2332"/>
          </a:solidFill>
          <a:ln w="9525">
            <a:solidFill>
              <a:srgbClr val="263248"/>
            </a:solidFill>
            <a:prstDash val="solid"/>
          </a:ln>
          <a:effectLst>
            <a:outerShdw blurRad="152400" dist="50800" dir="5400000" algn="bl" rotWithShape="0">
              <a:srgbClr val="000000">
                <a:alpha val="45000"/>
              </a:srgbClr>
            </a:outerShdw>
          </a:effectLst>
        </p:spPr>
        <p:txBody>
          <a:bodyPr/>
          <a:lstStyle/>
          <a:p>
            <a:endParaRPr lang="en-IN"/>
          </a:p>
        </p:txBody>
      </p:sp>
      <p:pic>
        <p:nvPicPr>
          <p:cNvPr id="19" name="Image 0" descr="C:\Users\adity\AppData\Local\Temp\claude\E--Webneco-Apps-cimet-qa\5d6d9e1f-a3b0-4938-a5a9-44ec7bd4cb64\scratchpad\deck\crops\accfix.png"/>
          <p:cNvPicPr>
            <a:picLocks noChangeAspect="1"/>
          </p:cNvPicPr>
          <p:nvPr/>
        </p:nvPicPr>
        <p:blipFill>
          <a:blip r:embed="rId3"/>
          <a:stretch>
            <a:fillRect/>
          </a:stretch>
        </p:blipFill>
        <p:spPr>
          <a:xfrm>
            <a:off x="6512831" y="1783080"/>
            <a:ext cx="5145769" cy="44348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26</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25 · HOW WE TESTED IT</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Proof, not claims</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Everything below runs from the repo with one command each.</a:t>
            </a:r>
            <a:endParaRPr lang="en-US" sz="1500" dirty="0"/>
          </a:p>
        </p:txBody>
      </p:sp>
      <p:sp>
        <p:nvSpPr>
          <p:cNvPr id="8" name="Shape 5"/>
          <p:cNvSpPr/>
          <p:nvPr/>
        </p:nvSpPr>
        <p:spPr>
          <a:xfrm>
            <a:off x="548640" y="1874520"/>
            <a:ext cx="5440680" cy="2011680"/>
          </a:xfrm>
          <a:prstGeom prst="roundRect">
            <a:avLst>
              <a:gd name="adj" fmla="val 4545"/>
            </a:avLst>
          </a:prstGeom>
          <a:solidFill>
            <a:srgbClr val="141B28"/>
          </a:solidFill>
          <a:ln w="9525">
            <a:solidFill>
              <a:srgbClr val="263248"/>
            </a:solidFill>
            <a:prstDash val="solid"/>
          </a:ln>
        </p:spPr>
        <p:txBody>
          <a:bodyPr/>
          <a:lstStyle/>
          <a:p>
            <a:endParaRPr lang="en-IN"/>
          </a:p>
        </p:txBody>
      </p:sp>
      <p:sp>
        <p:nvSpPr>
          <p:cNvPr id="9" name="Text 6"/>
          <p:cNvSpPr txBox="1"/>
          <p:nvPr/>
        </p:nvSpPr>
        <p:spPr>
          <a:xfrm>
            <a:off x="822960" y="2075688"/>
            <a:ext cx="1463040" cy="594360"/>
          </a:xfrm>
          <a:prstGeom prst="rect">
            <a:avLst/>
          </a:prstGeom>
          <a:noFill/>
          <a:ln/>
        </p:spPr>
        <p:txBody>
          <a:bodyPr wrap="square" lIns="0" tIns="0" rIns="0" bIns="0" rtlCol="0" anchor="ctr"/>
          <a:lstStyle/>
          <a:p>
            <a:pPr marL="0" indent="0">
              <a:buNone/>
            </a:pPr>
            <a:r>
              <a:rPr lang="en-US" sz="3000" b="1" dirty="0">
                <a:solidFill>
                  <a:srgbClr val="34D399"/>
                </a:solidFill>
                <a:latin typeface="Calibri" pitchFamily="34" charset="0"/>
                <a:ea typeface="Calibri" pitchFamily="34" charset="-122"/>
                <a:cs typeface="Calibri" pitchFamily="34" charset="-120"/>
              </a:rPr>
              <a:t>93</a:t>
            </a:r>
            <a:endParaRPr lang="en-US" sz="3000" dirty="0"/>
          </a:p>
        </p:txBody>
      </p:sp>
      <p:sp>
        <p:nvSpPr>
          <p:cNvPr id="10" name="Text 7"/>
          <p:cNvSpPr txBox="1"/>
          <p:nvPr/>
        </p:nvSpPr>
        <p:spPr>
          <a:xfrm>
            <a:off x="2331720" y="2203704"/>
            <a:ext cx="3429000"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self-test assertions</a:t>
            </a:r>
            <a:endParaRPr lang="en-US" sz="1500" dirty="0"/>
          </a:p>
        </p:txBody>
      </p:sp>
      <p:sp>
        <p:nvSpPr>
          <p:cNvPr id="11" name="Text 8"/>
          <p:cNvSpPr txBox="1"/>
          <p:nvPr/>
        </p:nvSpPr>
        <p:spPr>
          <a:xfrm>
            <a:off x="822960" y="2743200"/>
            <a:ext cx="4892040" cy="68580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Offline, ~1s: worked example, messy audio, redaction, overrides, leak guard, dialler path, G7, G8, NBN pack.</a:t>
            </a:r>
            <a:endParaRPr lang="en-US" sz="1150" dirty="0"/>
          </a:p>
        </p:txBody>
      </p:sp>
      <p:sp>
        <p:nvSpPr>
          <p:cNvPr id="12" name="Text 9"/>
          <p:cNvSpPr txBox="1"/>
          <p:nvPr/>
        </p:nvSpPr>
        <p:spPr>
          <a:xfrm>
            <a:off x="822960" y="3447288"/>
            <a:ext cx="4892040" cy="274320"/>
          </a:xfrm>
          <a:prstGeom prst="rect">
            <a:avLst/>
          </a:prstGeom>
          <a:noFill/>
          <a:ln/>
        </p:spPr>
        <p:txBody>
          <a:bodyPr wrap="square" lIns="0" tIns="0" rIns="0" bIns="0" rtlCol="0" anchor="ctr"/>
          <a:lstStyle/>
          <a:p>
            <a:pPr marL="0" indent="0">
              <a:buNone/>
            </a:pPr>
            <a:r>
              <a:rPr lang="en-US" sz="1050" dirty="0">
                <a:solidFill>
                  <a:srgbClr val="6F7C94"/>
                </a:solidFill>
                <a:latin typeface="Courier New" pitchFamily="34" charset="0"/>
                <a:ea typeface="Courier New" pitchFamily="34" charset="-122"/>
                <a:cs typeface="Courier New" pitchFamily="34" charset="-120"/>
              </a:rPr>
              <a:t>python run.py --selftest</a:t>
            </a:r>
            <a:endParaRPr lang="en-US" sz="1050" dirty="0"/>
          </a:p>
        </p:txBody>
      </p:sp>
      <p:sp>
        <p:nvSpPr>
          <p:cNvPr id="13" name="Shape 10"/>
          <p:cNvSpPr/>
          <p:nvPr/>
        </p:nvSpPr>
        <p:spPr>
          <a:xfrm>
            <a:off x="6153912" y="1874520"/>
            <a:ext cx="5440680" cy="2011680"/>
          </a:xfrm>
          <a:prstGeom prst="roundRect">
            <a:avLst>
              <a:gd name="adj" fmla="val 4545"/>
            </a:avLst>
          </a:prstGeom>
          <a:solidFill>
            <a:srgbClr val="141B28"/>
          </a:solidFill>
          <a:ln w="9525">
            <a:solidFill>
              <a:srgbClr val="263248"/>
            </a:solidFill>
            <a:prstDash val="solid"/>
          </a:ln>
        </p:spPr>
        <p:txBody>
          <a:bodyPr/>
          <a:lstStyle/>
          <a:p>
            <a:endParaRPr lang="en-IN"/>
          </a:p>
        </p:txBody>
      </p:sp>
      <p:sp>
        <p:nvSpPr>
          <p:cNvPr id="14" name="Text 11"/>
          <p:cNvSpPr txBox="1"/>
          <p:nvPr/>
        </p:nvSpPr>
        <p:spPr>
          <a:xfrm>
            <a:off x="6428232" y="2075688"/>
            <a:ext cx="1463040" cy="594360"/>
          </a:xfrm>
          <a:prstGeom prst="rect">
            <a:avLst/>
          </a:prstGeom>
          <a:noFill/>
          <a:ln/>
        </p:spPr>
        <p:txBody>
          <a:bodyPr wrap="square" lIns="0" tIns="0" rIns="0" bIns="0" rtlCol="0" anchor="ctr"/>
          <a:lstStyle/>
          <a:p>
            <a:pPr marL="0" indent="0">
              <a:buNone/>
            </a:pPr>
            <a:r>
              <a:rPr lang="en-US" sz="3000" b="1" dirty="0">
                <a:solidFill>
                  <a:srgbClr val="6AA8FF"/>
                </a:solidFill>
                <a:latin typeface="Calibri" pitchFamily="34" charset="0"/>
                <a:ea typeface="Calibri" pitchFamily="34" charset="-122"/>
                <a:cs typeface="Calibri" pitchFamily="34" charset="-120"/>
              </a:rPr>
              <a:t>12</a:t>
            </a:r>
            <a:endParaRPr lang="en-US" sz="3000" dirty="0"/>
          </a:p>
        </p:txBody>
      </p:sp>
      <p:sp>
        <p:nvSpPr>
          <p:cNvPr id="15" name="Text 12"/>
          <p:cNvSpPr txBox="1"/>
          <p:nvPr/>
        </p:nvSpPr>
        <p:spPr>
          <a:xfrm>
            <a:off x="7936992" y="2203704"/>
            <a:ext cx="3429000"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labelled test calls</a:t>
            </a:r>
            <a:endParaRPr lang="en-US" sz="1500" dirty="0"/>
          </a:p>
        </p:txBody>
      </p:sp>
      <p:sp>
        <p:nvSpPr>
          <p:cNvPr id="16" name="Text 13"/>
          <p:cNvSpPr txBox="1"/>
          <p:nvPr/>
        </p:nvSpPr>
        <p:spPr>
          <a:xfrm>
            <a:off x="6428232" y="2743200"/>
            <a:ext cx="4892040" cy="68580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Wrong rate, CRM email typo, skipped disclaimer, paraphrased DMO, no authority, card read aloud, dead air, NMI mismatch, crosstalk, two criticals…</a:t>
            </a:r>
            <a:endParaRPr lang="en-US" sz="1150" dirty="0"/>
          </a:p>
        </p:txBody>
      </p:sp>
      <p:sp>
        <p:nvSpPr>
          <p:cNvPr id="17" name="Text 14"/>
          <p:cNvSpPr txBox="1"/>
          <p:nvPr/>
        </p:nvSpPr>
        <p:spPr>
          <a:xfrm>
            <a:off x="6428232" y="3447288"/>
            <a:ext cx="4892040" cy="274320"/>
          </a:xfrm>
          <a:prstGeom prst="rect">
            <a:avLst/>
          </a:prstGeom>
          <a:noFill/>
          <a:ln/>
        </p:spPr>
        <p:txBody>
          <a:bodyPr wrap="square" lIns="0" tIns="0" rIns="0" bIns="0" rtlCol="0" anchor="ctr"/>
          <a:lstStyle/>
          <a:p>
            <a:pPr marL="0" indent="0">
              <a:buNone/>
            </a:pPr>
            <a:r>
              <a:rPr lang="en-US" sz="1050" dirty="0">
                <a:solidFill>
                  <a:srgbClr val="6F7C94"/>
                </a:solidFill>
                <a:latin typeface="Courier New" pitchFamily="34" charset="0"/>
                <a:ea typeface="Courier New" pitchFamily="34" charset="-122"/>
                <a:cs typeface="Courier New" pitchFamily="34" charset="-120"/>
              </a:rPr>
              <a:t>python tools/synth_calls.py</a:t>
            </a:r>
            <a:endParaRPr lang="en-US" sz="1050" dirty="0"/>
          </a:p>
        </p:txBody>
      </p:sp>
      <p:sp>
        <p:nvSpPr>
          <p:cNvPr id="18" name="Shape 15"/>
          <p:cNvSpPr/>
          <p:nvPr/>
        </p:nvSpPr>
        <p:spPr>
          <a:xfrm>
            <a:off x="548640" y="4069080"/>
            <a:ext cx="5440680" cy="2011680"/>
          </a:xfrm>
          <a:prstGeom prst="roundRect">
            <a:avLst>
              <a:gd name="adj" fmla="val 4545"/>
            </a:avLst>
          </a:prstGeom>
          <a:solidFill>
            <a:srgbClr val="141B28"/>
          </a:solidFill>
          <a:ln w="9525">
            <a:solidFill>
              <a:srgbClr val="263248"/>
            </a:solidFill>
            <a:prstDash val="solid"/>
          </a:ln>
        </p:spPr>
        <p:txBody>
          <a:bodyPr/>
          <a:lstStyle/>
          <a:p>
            <a:endParaRPr lang="en-IN"/>
          </a:p>
        </p:txBody>
      </p:sp>
      <p:sp>
        <p:nvSpPr>
          <p:cNvPr id="19" name="Text 16"/>
          <p:cNvSpPr txBox="1"/>
          <p:nvPr/>
        </p:nvSpPr>
        <p:spPr>
          <a:xfrm>
            <a:off x="822960" y="4270248"/>
            <a:ext cx="1463040" cy="594360"/>
          </a:xfrm>
          <a:prstGeom prst="rect">
            <a:avLst/>
          </a:prstGeom>
          <a:noFill/>
          <a:ln/>
        </p:spPr>
        <p:txBody>
          <a:bodyPr wrap="square" lIns="0" tIns="0" rIns="0" bIns="0" rtlCol="0" anchor="ctr"/>
          <a:lstStyle/>
          <a:p>
            <a:pPr marL="0" indent="0">
              <a:buNone/>
            </a:pPr>
            <a:r>
              <a:rPr lang="en-US" sz="3000" b="1" dirty="0">
                <a:solidFill>
                  <a:srgbClr val="FBBF24"/>
                </a:solidFill>
                <a:latin typeface="Calibri" pitchFamily="34" charset="0"/>
                <a:ea typeface="Calibri" pitchFamily="34" charset="-122"/>
                <a:cs typeface="Calibri" pitchFamily="34" charset="-120"/>
              </a:rPr>
              <a:t>8 kHz</a:t>
            </a:r>
            <a:endParaRPr lang="en-US" sz="3000" dirty="0"/>
          </a:p>
        </p:txBody>
      </p:sp>
      <p:sp>
        <p:nvSpPr>
          <p:cNvPr id="20" name="Text 17"/>
          <p:cNvSpPr txBox="1"/>
          <p:nvPr/>
        </p:nvSpPr>
        <p:spPr>
          <a:xfrm>
            <a:off x="2331720" y="4398264"/>
            <a:ext cx="3429000"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phone-quality audio</a:t>
            </a:r>
            <a:endParaRPr lang="en-US" sz="1500" dirty="0"/>
          </a:p>
        </p:txBody>
      </p:sp>
      <p:sp>
        <p:nvSpPr>
          <p:cNvPr id="21" name="Text 18"/>
          <p:cNvSpPr txBox="1"/>
          <p:nvPr/>
        </p:nvSpPr>
        <p:spPr>
          <a:xfrm>
            <a:off x="822960" y="4937760"/>
            <a:ext cx="4892040" cy="68580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ElevenLabs voices or free Windows voices; 300–3400 Hz band, line noise, real overlap, real silence.</a:t>
            </a:r>
            <a:endParaRPr lang="en-US" sz="1150" dirty="0"/>
          </a:p>
        </p:txBody>
      </p:sp>
      <p:sp>
        <p:nvSpPr>
          <p:cNvPr id="22" name="Text 19"/>
          <p:cNvSpPr txBox="1"/>
          <p:nvPr/>
        </p:nvSpPr>
        <p:spPr>
          <a:xfrm>
            <a:off x="822960" y="5641848"/>
            <a:ext cx="4892040" cy="274320"/>
          </a:xfrm>
          <a:prstGeom prst="rect">
            <a:avLst/>
          </a:prstGeom>
          <a:noFill/>
          <a:ln/>
        </p:spPr>
        <p:txBody>
          <a:bodyPr wrap="square" lIns="0" tIns="0" rIns="0" bIns="0" rtlCol="0" anchor="ctr"/>
          <a:lstStyle/>
          <a:p>
            <a:pPr marL="0" indent="0">
              <a:buNone/>
            </a:pPr>
            <a:r>
              <a:rPr lang="en-US" sz="1050" dirty="0">
                <a:solidFill>
                  <a:srgbClr val="6F7C94"/>
                </a:solidFill>
                <a:latin typeface="Courier New" pitchFamily="34" charset="0"/>
                <a:ea typeface="Courier New" pitchFamily="34" charset="-122"/>
                <a:cs typeface="Courier New" pitchFamily="34" charset="-120"/>
              </a:rPr>
              <a:t>python tools/make_audio.py</a:t>
            </a:r>
            <a:endParaRPr lang="en-US" sz="1050" dirty="0"/>
          </a:p>
        </p:txBody>
      </p:sp>
      <p:sp>
        <p:nvSpPr>
          <p:cNvPr id="23" name="Shape 20"/>
          <p:cNvSpPr/>
          <p:nvPr/>
        </p:nvSpPr>
        <p:spPr>
          <a:xfrm>
            <a:off x="6153912" y="4069080"/>
            <a:ext cx="5440680" cy="2011680"/>
          </a:xfrm>
          <a:prstGeom prst="roundRect">
            <a:avLst>
              <a:gd name="adj" fmla="val 4545"/>
            </a:avLst>
          </a:prstGeom>
          <a:solidFill>
            <a:srgbClr val="141B28"/>
          </a:solidFill>
          <a:ln w="9525">
            <a:solidFill>
              <a:srgbClr val="263248"/>
            </a:solidFill>
            <a:prstDash val="solid"/>
          </a:ln>
        </p:spPr>
        <p:txBody>
          <a:bodyPr/>
          <a:lstStyle/>
          <a:p>
            <a:endParaRPr lang="en-IN"/>
          </a:p>
        </p:txBody>
      </p:sp>
      <p:sp>
        <p:nvSpPr>
          <p:cNvPr id="24" name="Text 21"/>
          <p:cNvSpPr txBox="1"/>
          <p:nvPr/>
        </p:nvSpPr>
        <p:spPr>
          <a:xfrm>
            <a:off x="6428232" y="4270248"/>
            <a:ext cx="1463040" cy="594360"/>
          </a:xfrm>
          <a:prstGeom prst="rect">
            <a:avLst/>
          </a:prstGeom>
          <a:noFill/>
          <a:ln/>
        </p:spPr>
        <p:txBody>
          <a:bodyPr wrap="square" lIns="0" tIns="0" rIns="0" bIns="0" rtlCol="0" anchor="ctr"/>
          <a:lstStyle/>
          <a:p>
            <a:pPr marL="0" indent="0">
              <a:buNone/>
            </a:pPr>
            <a:r>
              <a:rPr lang="en-US" sz="3000" b="1" dirty="0">
                <a:solidFill>
                  <a:srgbClr val="B9A4FF"/>
                </a:solidFill>
                <a:latin typeface="Calibri" pitchFamily="34" charset="0"/>
                <a:ea typeface="Calibri" pitchFamily="34" charset="-122"/>
                <a:cs typeface="Calibri" pitchFamily="34" charset="-120"/>
              </a:rPr>
              <a:t>E2E</a:t>
            </a:r>
            <a:endParaRPr lang="en-US" sz="3000" dirty="0"/>
          </a:p>
        </p:txBody>
      </p:sp>
      <p:sp>
        <p:nvSpPr>
          <p:cNvPr id="25" name="Text 22"/>
          <p:cNvSpPr txBox="1"/>
          <p:nvPr/>
        </p:nvSpPr>
        <p:spPr>
          <a:xfrm>
            <a:off x="7936992" y="4398264"/>
            <a:ext cx="3429000" cy="36576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through the real webhook</a:t>
            </a:r>
            <a:endParaRPr lang="en-US" sz="1500" dirty="0"/>
          </a:p>
        </p:txBody>
      </p:sp>
      <p:sp>
        <p:nvSpPr>
          <p:cNvPr id="26" name="Text 23"/>
          <p:cNvSpPr txBox="1"/>
          <p:nvPr/>
        </p:nvSpPr>
        <p:spPr>
          <a:xfrm>
            <a:off x="6428232" y="4937760"/>
            <a:ext cx="4892040" cy="685800"/>
          </a:xfrm>
          <a:prstGeom prst="rect">
            <a:avLst/>
          </a:prstGeom>
          <a:noFill/>
          <a:ln/>
        </p:spPr>
        <p:txBody>
          <a:bodyPr wrap="square" lIns="0" tIns="0" rIns="0" bIns="0" rtlCol="0" anchor="t"/>
          <a:lstStyle/>
          <a:p>
            <a:pPr marL="0" indent="0">
              <a:buNone/>
            </a:pPr>
            <a:r>
              <a:rPr lang="en-US" sz="1150" dirty="0">
                <a:solidFill>
                  <a:srgbClr val="A3AEC3"/>
                </a:solidFill>
                <a:latin typeface="Calibri" pitchFamily="34" charset="0"/>
                <a:ea typeface="Calibri" pitchFamily="34" charset="-122"/>
                <a:cs typeface="Calibri" pitchFamily="34" charset="-120"/>
              </a:rPr>
              <a:t>A dialler simulator pushes each recording, Scribe transcribes, the gate scores, the eval compares to labels.</a:t>
            </a:r>
            <a:endParaRPr lang="en-US" sz="1150" dirty="0"/>
          </a:p>
        </p:txBody>
      </p:sp>
      <p:sp>
        <p:nvSpPr>
          <p:cNvPr id="27" name="Text 24"/>
          <p:cNvSpPr txBox="1"/>
          <p:nvPr/>
        </p:nvSpPr>
        <p:spPr>
          <a:xfrm>
            <a:off x="6428232" y="5641848"/>
            <a:ext cx="4892040" cy="274320"/>
          </a:xfrm>
          <a:prstGeom prst="rect">
            <a:avLst/>
          </a:prstGeom>
          <a:noFill/>
          <a:ln/>
        </p:spPr>
        <p:txBody>
          <a:bodyPr wrap="square" lIns="0" tIns="0" rIns="0" bIns="0" rtlCol="0" anchor="ctr"/>
          <a:lstStyle/>
          <a:p>
            <a:pPr marL="0" indent="0">
              <a:buNone/>
            </a:pPr>
            <a:r>
              <a:rPr lang="en-US" sz="1050" dirty="0">
                <a:solidFill>
                  <a:srgbClr val="6F7C94"/>
                </a:solidFill>
                <a:latin typeface="Courier New" pitchFamily="34" charset="0"/>
                <a:ea typeface="Courier New" pitchFamily="34" charset="-122"/>
                <a:cs typeface="Courier New" pitchFamily="34" charset="-120"/>
              </a:rPr>
              <a:t>python tools/dialler_sim.py --all --eval</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27</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26 · HOW IT MAPS TO THE JUDGING</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Built against the five criteria</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The proof is a real lead scored live — held or passed, with the exact reasoning shown.</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4133088"/>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708392">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lgn="ctr">
                        <a:buNone/>
                      </a:pPr>
                      <a:r>
                        <a:rPr lang="en-US" sz="1100" b="1" dirty="0">
                          <a:solidFill>
                            <a:srgbClr val="6F7C94"/>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What we show</a:t>
                      </a:r>
                      <a:endParaRPr lang="en-US" sz="11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E8EDF6"/>
                          </a:solidFill>
                          <a:latin typeface="Calibri" pitchFamily="34" charset="0"/>
                          <a:ea typeface="Calibri" pitchFamily="34" charset="-122"/>
                          <a:cs typeface="Calibri" pitchFamily="34" charset="-120"/>
                        </a:rPr>
                        <a:t>Scoring accuracy</a:t>
                      </a:r>
                      <a:endParaRPr lang="en-US" sz="14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lgn="ctr">
                        <a:buNone/>
                      </a:pPr>
                      <a:r>
                        <a:rPr lang="en-US" sz="1800" b="1" dirty="0">
                          <a:solidFill>
                            <a:srgbClr val="6AA8FF"/>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Eval panel: 0 critical false passes, 0 wrong gates, κ 1.0 on 12 labelled calls; per-check agreement; real Scribe audio tested.</a:t>
                      </a:r>
                      <a:endParaRPr lang="en-US" sz="125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E8EDF6"/>
                          </a:solidFill>
                          <a:latin typeface="Calibri" pitchFamily="34" charset="0"/>
                          <a:ea typeface="Calibri" pitchFamily="34" charset="-122"/>
                          <a:cs typeface="Calibri" pitchFamily="34" charset="-120"/>
                        </a:rPr>
                        <a:t>Coverage</a:t>
                      </a:r>
                      <a:endParaRPr lang="en-US" sz="14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lgn="ctr">
                        <a:buNone/>
                      </a:pPr>
                      <a:r>
                        <a:rPr lang="en-US" sz="1800" b="1" dirty="0">
                          <a:solidFill>
                            <a:srgbClr val="6AA8FF"/>
                          </a:solidFill>
                          <a:latin typeface="Calibri" pitchFamily="34" charset="0"/>
                          <a:ea typeface="Calibri" pitchFamily="34" charset="-122"/>
                          <a:cs typeface="Calibri" pitchFamily="34" charset="-120"/>
                        </a:rPr>
                        <a:t>25%</a:t>
                      </a:r>
                      <a:endParaRPr lang="en-US" sz="18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Types A, B and C running end to end on the full Retailer 1 checklist (9 checks) and a second NBN-QA pack (12).</a:t>
                      </a:r>
                      <a:endParaRPr lang="en-US" sz="125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E8EDF6"/>
                          </a:solidFill>
                          <a:latin typeface="Calibri" pitchFamily="34" charset="0"/>
                          <a:ea typeface="Calibri" pitchFamily="34" charset="-122"/>
                          <a:cs typeface="Calibri" pitchFamily="34" charset="-120"/>
                        </a:rPr>
                        <a:t>Traceability</a:t>
                      </a:r>
                      <a:endParaRPr lang="en-US" sz="14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lgn="ctr">
                        <a:buNone/>
                      </a:pPr>
                      <a:r>
                        <a:rPr lang="en-US" sz="1800" b="1" dirty="0">
                          <a:solidFill>
                            <a:srgbClr val="6AA8FF"/>
                          </a:solidFill>
                          <a:latin typeface="Calibri" pitchFamily="34" charset="0"/>
                          <a:ea typeface="Calibri" pitchFamily="34" charset="-122"/>
                          <a:cs typeface="Calibri" pitchFamily="34" charset="-120"/>
                        </a:rPr>
                        <a:t>20%</a:t>
                      </a:r>
                      <a:endParaRPr lang="en-US" sz="18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Quote, timestamp and check version on every result; click-to-play; one audit JSON per run; version-by-call-date next.</a:t>
                      </a:r>
                      <a:endParaRPr lang="en-US" sz="125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E8EDF6"/>
                          </a:solidFill>
                          <a:latin typeface="Calibri" pitchFamily="34" charset="0"/>
                          <a:ea typeface="Calibri" pitchFamily="34" charset="-122"/>
                          <a:cs typeface="Calibri" pitchFamily="34" charset="-120"/>
                        </a:rPr>
                        <a:t>Gate &amp; escalation</a:t>
                      </a:r>
                      <a:endParaRPr lang="en-US" sz="14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lgn="ctr">
                        <a:buNone/>
                      </a:pPr>
                      <a:r>
                        <a:rPr lang="en-US" sz="1800" b="1" dirty="0">
                          <a:solidFill>
                            <a:srgbClr val="6AA8FF"/>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Critical fail → HELD; unsure or &lt; 0.60 → QA; nothing uncertain auto-passes; 5% of clean calls sampled.</a:t>
                      </a:r>
                      <a:endParaRPr lang="en-US" sz="125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E8EDF6"/>
                          </a:solidFill>
                          <a:latin typeface="Calibri" pitchFamily="34" charset="0"/>
                          <a:ea typeface="Calibri" pitchFamily="34" charset="-122"/>
                          <a:cs typeface="Calibri" pitchFamily="34" charset="-120"/>
                        </a:rPr>
                        <a:t>Guardrails &amp; judgment</a:t>
                      </a:r>
                      <a:endParaRPr lang="en-US" sz="14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lgn="ctr">
                        <a:buNone/>
                      </a:pPr>
                      <a:r>
                        <a:rPr lang="en-US" sz="1800" b="1" dirty="0">
                          <a:solidFill>
                            <a:srgbClr val="6AA8FF"/>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50" dirty="0">
                          <a:solidFill>
                            <a:srgbClr val="A3AEC3"/>
                          </a:solidFill>
                          <a:latin typeface="Calibri" pitchFamily="34" charset="0"/>
                          <a:ea typeface="Calibri" pitchFamily="34" charset="-122"/>
                          <a:cs typeface="Calibri" pitchFamily="34" charset="-120"/>
                        </a:rPr>
                        <a:t>G1–G8: silence, crosstalk, mishears and screen conflicts never manufacture a false critical.</a:t>
                      </a:r>
                      <a:endParaRPr lang="en-US" sz="1250" dirty="0">
                        <a:latin typeface="Calibri" charset="0"/>
                        <a:ea typeface="Calibri" charset="0"/>
                        <a:cs typeface="Calibri" charset="0"/>
                      </a:endParaRPr>
                    </a:p>
                  </a:txBody>
                  <a:tcPr marL="127000" marR="1270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28</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27 · TECH &amp; SETUP</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One command. No framework, no database.</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Runs locally on 127.0.0.1; every external service is optional.</a:t>
            </a:r>
            <a:endParaRPr lang="en-US" sz="1500" dirty="0"/>
          </a:p>
        </p:txBody>
      </p:sp>
      <p:sp>
        <p:nvSpPr>
          <p:cNvPr id="8" name="Shape 5"/>
          <p:cNvSpPr/>
          <p:nvPr/>
        </p:nvSpPr>
        <p:spPr>
          <a:xfrm>
            <a:off x="548640" y="1783080"/>
            <a:ext cx="5577840" cy="2743200"/>
          </a:xfrm>
          <a:prstGeom prst="roundRect">
            <a:avLst>
              <a:gd name="adj" fmla="val 3333"/>
            </a:avLst>
          </a:prstGeom>
          <a:solidFill>
            <a:srgbClr val="0F1520"/>
          </a:solidFill>
          <a:ln w="9525">
            <a:solidFill>
              <a:srgbClr val="263248"/>
            </a:solidFill>
            <a:prstDash val="solid"/>
          </a:ln>
        </p:spPr>
        <p:txBody>
          <a:bodyPr/>
          <a:lstStyle/>
          <a:p>
            <a:endParaRPr lang="en-IN"/>
          </a:p>
        </p:txBody>
      </p:sp>
      <p:sp>
        <p:nvSpPr>
          <p:cNvPr id="9" name="Text 6"/>
          <p:cNvSpPr txBox="1"/>
          <p:nvPr/>
        </p:nvSpPr>
        <p:spPr>
          <a:xfrm>
            <a:off x="731520" y="1920240"/>
            <a:ext cx="5212080" cy="2468880"/>
          </a:xfrm>
          <a:prstGeom prst="rect">
            <a:avLst/>
          </a:prstGeom>
          <a:noFill/>
          <a:ln/>
        </p:spPr>
        <p:txBody>
          <a:bodyPr wrap="square" lIns="0" tIns="0" rIns="0" bIns="0" rtlCol="0" anchor="t"/>
          <a:lstStyle/>
          <a:p>
            <a:pPr marL="0" indent="0">
              <a:buNone/>
            </a:pPr>
            <a:r>
              <a:rPr lang="en-US" sz="1250" dirty="0">
                <a:solidFill>
                  <a:srgbClr val="E8EDF6"/>
                </a:solidFill>
                <a:latin typeface="Courier New" pitchFamily="34" charset="0"/>
                <a:ea typeface="Courier New" pitchFamily="34" charset="-122"/>
                <a:cs typeface="Courier New" pitchFamily="34" charset="-120"/>
              </a:rPr>
              <a:t>$ python run.py</a:t>
            </a:r>
            <a:endParaRPr lang="en-US" sz="1250" dirty="0"/>
          </a:p>
          <a:p>
            <a:pPr marL="0" indent="0">
              <a:buNone/>
            </a:pPr>
            <a:endParaRPr lang="en-US" sz="1250" dirty="0"/>
          </a:p>
          <a:p>
            <a:pPr marL="0" indent="0">
              <a:buNone/>
            </a:pPr>
            <a:r>
              <a:rPr lang="en-US" sz="1250" dirty="0">
                <a:solidFill>
                  <a:srgbClr val="E8EDF6"/>
                </a:solidFill>
                <a:latin typeface="Courier New" pitchFamily="34" charset="0"/>
                <a:ea typeface="Courier New" pitchFamily="34" charset="-122"/>
                <a:cs typeface="Courier New" pitchFamily="34" charset="-120"/>
              </a:rPr>
              <a:t>  CIMET QA Gate</a:t>
            </a:r>
            <a:endParaRPr lang="en-US" sz="1250" dirty="0"/>
          </a:p>
          <a:p>
            <a:pPr marL="0" indent="0">
              <a:buNone/>
            </a:pPr>
            <a:r>
              <a:rPr lang="en-US" sz="1250" dirty="0">
                <a:solidFill>
                  <a:srgbClr val="E8EDF6"/>
                </a:solidFill>
                <a:latin typeface="Courier New" pitchFamily="34" charset="0"/>
                <a:ea typeface="Courier New" pitchFamily="34" charset="-122"/>
                <a:cs typeface="Courier New" pitchFamily="34" charset="-120"/>
              </a:rPr>
              <a:t>  http://127.0.0.1:8787/</a:t>
            </a:r>
            <a:endParaRPr lang="en-US" sz="1250" dirty="0"/>
          </a:p>
          <a:p>
            <a:pPr marL="0" indent="0">
              <a:buNone/>
            </a:pPr>
            <a:r>
              <a:rPr lang="en-US" sz="1250" dirty="0">
                <a:solidFill>
                  <a:srgbClr val="E8EDF6"/>
                </a:solidFill>
                <a:latin typeface="Courier New" pitchFamily="34" charset="0"/>
                <a:ea typeface="Courier New" pitchFamily="34" charset="-122"/>
                <a:cs typeface="Courier New" pitchFamily="34" charset="-120"/>
              </a:rPr>
              <a:t>  Retailer 1 checklist R1-2026.09 | 9 checks</a:t>
            </a:r>
            <a:endParaRPr lang="en-US" sz="1250" dirty="0"/>
          </a:p>
          <a:p>
            <a:pPr marL="0" indent="0">
              <a:buNone/>
            </a:pPr>
            <a:r>
              <a:rPr lang="en-US" sz="1250" dirty="0">
                <a:solidFill>
                  <a:srgbClr val="E8EDF6"/>
                </a:solidFill>
                <a:latin typeface="Courier New" pitchFamily="34" charset="0"/>
                <a:ea typeface="Courier New" pitchFamily="34" charset="-122"/>
                <a:cs typeface="Courier New" pitchFamily="34" charset="-120"/>
              </a:rPr>
              <a:t>  Type B: llm:claude-opus-5</a:t>
            </a:r>
            <a:endParaRPr lang="en-US" sz="1250" dirty="0"/>
          </a:p>
          <a:p>
            <a:pPr marL="0" indent="0">
              <a:buNone/>
            </a:pPr>
            <a:r>
              <a:rPr lang="en-US" sz="1250" dirty="0">
                <a:solidFill>
                  <a:srgbClr val="E8EDF6"/>
                </a:solidFill>
                <a:latin typeface="Courier New" pitchFamily="34" charset="0"/>
                <a:ea typeface="Courier New" pitchFamily="34" charset="-122"/>
                <a:cs typeface="Courier New" pitchFamily="34" charset="-120"/>
              </a:rPr>
              <a:t>  ASR:    elevenlabs</a:t>
            </a:r>
            <a:endParaRPr lang="en-US" sz="1250" dirty="0"/>
          </a:p>
          <a:p>
            <a:pPr marL="0" indent="0">
              <a:buNone/>
            </a:pPr>
            <a:r>
              <a:rPr lang="en-US" sz="1250" dirty="0">
                <a:solidFill>
                  <a:srgbClr val="E8EDF6"/>
                </a:solidFill>
                <a:latin typeface="Courier New" pitchFamily="34" charset="0"/>
                <a:ea typeface="Courier New" pitchFamily="34" charset="-122"/>
                <a:cs typeface="Courier New" pitchFamily="34" charset="-120"/>
              </a:rPr>
              <a:t>  Dialler webhook: POST /api/dialler/recording</a:t>
            </a:r>
            <a:endParaRPr lang="en-US" sz="1250" dirty="0"/>
          </a:p>
        </p:txBody>
      </p:sp>
      <p:sp>
        <p:nvSpPr>
          <p:cNvPr id="10" name="Text 7"/>
          <p:cNvSpPr txBox="1"/>
          <p:nvPr/>
        </p:nvSpPr>
        <p:spPr>
          <a:xfrm>
            <a:off x="548640" y="4754880"/>
            <a:ext cx="5577840" cy="1645920"/>
          </a:xfrm>
          <a:prstGeom prst="rect">
            <a:avLst/>
          </a:prstGeom>
          <a:noFill/>
          <a:ln/>
        </p:spPr>
        <p:txBody>
          <a:bodyPr wrap="square" lIns="0" tIns="0" rIns="0" bIns="0" rtlCol="0" anchor="t"/>
          <a:lstStyle/>
          <a:p>
            <a:pPr marL="203200" indent="-203200">
              <a:spcAft>
                <a:spcPts val="400"/>
              </a:spcAft>
              <a:buSzPct val="100000"/>
              <a:buChar char="•"/>
            </a:pPr>
            <a:r>
              <a:rPr lang="en-US" sz="1250" b="1" dirty="0">
                <a:solidFill>
                  <a:srgbClr val="E8EDF6"/>
                </a:solidFill>
                <a:latin typeface="Calibri" pitchFamily="34" charset="0"/>
                <a:ea typeface="Calibri" pitchFamily="34" charset="-122"/>
                <a:cs typeface="Calibri" pitchFamily="34" charset="-120"/>
              </a:rPr>
              <a:t>Python 3.10+, standard library only</a:t>
            </a:r>
            <a:r>
              <a:rPr lang="en-US" sz="1250" dirty="0">
                <a:solidFill>
                  <a:srgbClr val="A3AEC3"/>
                </a:solidFill>
                <a:latin typeface="Calibri" pitchFamily="34" charset="0"/>
                <a:ea typeface="Calibri" pitchFamily="34" charset="-122"/>
                <a:cs typeface="Calibri" pitchFamily="34" charset="-120"/>
              </a:rPr>
              <a:t> for the server, scoring engine and console.</a:t>
            </a:r>
            <a:endParaRPr lang="en-US" sz="1250" dirty="0"/>
          </a:p>
          <a:p>
            <a:pPr marL="203200" indent="-203200">
              <a:spcAft>
                <a:spcPts val="400"/>
              </a:spcAft>
              <a:buSzPct val="100000"/>
              <a:buChar char="•"/>
            </a:pPr>
            <a:r>
              <a:rPr lang="en-US" sz="1250" b="1" dirty="0">
                <a:solidFill>
                  <a:srgbClr val="E8EDF6"/>
                </a:solidFill>
                <a:latin typeface="Calibri" pitchFamily="34" charset="0"/>
                <a:ea typeface="Calibri" pitchFamily="34" charset="-122"/>
                <a:cs typeface="Calibri" pitchFamily="34" charset="-120"/>
              </a:rPr>
              <a:t>Plain HTML, CSS, JavaScript</a:t>
            </a:r>
            <a:r>
              <a:rPr lang="en-US" sz="1250" dirty="0">
                <a:solidFill>
                  <a:srgbClr val="A3AEC3"/>
                </a:solidFill>
                <a:latin typeface="Calibri" pitchFamily="34" charset="0"/>
                <a:ea typeface="Calibri" pitchFamily="34" charset="-122"/>
                <a:cs typeface="Calibri" pitchFamily="34" charset="-120"/>
              </a:rPr>
              <a:t> — no build step, no framework.</a:t>
            </a:r>
            <a:endParaRPr lang="en-US" sz="1250" dirty="0"/>
          </a:p>
          <a:p>
            <a:pPr marL="203200" indent="-203200">
              <a:spcAft>
                <a:spcPts val="400"/>
              </a:spcAft>
              <a:buSzPct val="100000"/>
              <a:buChar char="•"/>
            </a:pPr>
            <a:r>
              <a:rPr lang="en-US" sz="1250" b="1" dirty="0">
                <a:solidFill>
                  <a:srgbClr val="E8EDF6"/>
                </a:solidFill>
                <a:latin typeface="Calibri" pitchFamily="34" charset="0"/>
                <a:ea typeface="Calibri" pitchFamily="34" charset="-122"/>
                <a:cs typeface="Calibri" pitchFamily="34" charset="-120"/>
              </a:rPr>
              <a:t>Claude (claude-opus-5)</a:t>
            </a:r>
            <a:r>
              <a:rPr lang="en-US" sz="1250" dirty="0">
                <a:solidFill>
                  <a:srgbClr val="A3AEC3"/>
                </a:solidFill>
                <a:latin typeface="Calibri" pitchFamily="34" charset="0"/>
                <a:ea typeface="Calibri" pitchFamily="34" charset="-122"/>
                <a:cs typeface="Calibri" pitchFamily="34" charset="-120"/>
              </a:rPr>
              <a:t> extracts Type B values; comparisons are code.</a:t>
            </a:r>
            <a:endParaRPr lang="en-US" sz="1250" dirty="0"/>
          </a:p>
          <a:p>
            <a:pPr marL="203200" indent="-203200">
              <a:spcAft>
                <a:spcPts val="400"/>
              </a:spcAft>
              <a:buSzPct val="100000"/>
              <a:buChar char="•"/>
            </a:pPr>
            <a:r>
              <a:rPr lang="en-US" sz="1250" b="1" dirty="0">
                <a:solidFill>
                  <a:srgbClr val="E8EDF6"/>
                </a:solidFill>
                <a:latin typeface="Calibri" pitchFamily="34" charset="0"/>
                <a:ea typeface="Calibri" pitchFamily="34" charset="-122"/>
                <a:cs typeface="Calibri" pitchFamily="34" charset="-120"/>
              </a:rPr>
              <a:t>ElevenLabs Scribe or Deepgram</a:t>
            </a:r>
            <a:r>
              <a:rPr lang="en-US" sz="1250" dirty="0">
                <a:solidFill>
                  <a:srgbClr val="A3AEC3"/>
                </a:solidFill>
                <a:latin typeface="Calibri" pitchFamily="34" charset="0"/>
                <a:ea typeface="Calibri" pitchFamily="34" charset="-122"/>
                <a:cs typeface="Calibri" pitchFamily="34" charset="-120"/>
              </a:rPr>
              <a:t> for speech-to-text, with speaker separation.</a:t>
            </a:r>
            <a:endParaRPr lang="en-US" sz="1250" dirty="0"/>
          </a:p>
          <a:p>
            <a:pPr marL="203200" indent="-203200">
              <a:spcAft>
                <a:spcPts val="400"/>
              </a:spcAft>
              <a:buSzPct val="100000"/>
              <a:buChar char="•"/>
            </a:pPr>
            <a:r>
              <a:rPr lang="en-US" sz="1250" b="1" dirty="0">
                <a:solidFill>
                  <a:srgbClr val="E8EDF6"/>
                </a:solidFill>
                <a:latin typeface="Calibri" pitchFamily="34" charset="0"/>
                <a:ea typeface="Calibri" pitchFamily="34" charset="-122"/>
                <a:cs typeface="Calibri" pitchFamily="34" charset="-120"/>
              </a:rPr>
              <a:t>No keys?</a:t>
            </a:r>
            <a:r>
              <a:rPr lang="en-US" sz="1250" dirty="0">
                <a:solidFill>
                  <a:srgbClr val="A3AEC3"/>
                </a:solidFill>
                <a:latin typeface="Calibri" pitchFamily="34" charset="0"/>
                <a:ea typeface="Calibri" pitchFamily="34" charset="-122"/>
                <a:cs typeface="Calibri" pitchFamily="34" charset="-120"/>
              </a:rPr>
              <a:t> Still runs end to end on the deterministic extractor — and says so.</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0" y="1783080"/>
          <a:ext cx="5239512" cy="3803904"/>
        </p:xfrm>
        <a:graphic>
          <a:graphicData uri="http://schemas.openxmlformats.org/drawingml/2006/table">
            <a:tbl>
              <a:tblPr/>
              <a:tblGrid>
                <a:gridCol w="2926080">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tblGrid>
              <a:tr h="475488">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100" b="1" dirty="0">
                          <a:solidFill>
                            <a:srgbClr val="6F7C94"/>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0"/>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ANTHROPIC_API_KEY</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LLM extraction for Type B</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1"/>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CIMET_MODEL</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default claude-opus-5</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2"/>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ELEVENLABS_API_KEY / DEEPGRAM_API_KEY</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dialler webhook (ASR)</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3"/>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CIMET_CONFIDENCE_FLOOR</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critical floor, default 0.60</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4"/>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CIMET_SAMPLE_AUDIT_RATE</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default 0.05</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5"/>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CIMET_DIALLER_TOKEN</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require X-Dialler-Token</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6"/>
                  </a:ext>
                </a:extLst>
              </a:tr>
              <a:tr h="475488">
                <a:tc>
                  <a:txBody>
                    <a:bodyPr/>
                    <a:lstStyle/>
                    <a:p>
                      <a:pPr marL="0" indent="0">
                        <a:buNone/>
                      </a:pPr>
                      <a:r>
                        <a:rPr lang="en-US" sz="1000" dirty="0">
                          <a:solidFill>
                            <a:srgbClr val="E8EDF6"/>
                          </a:solidFill>
                          <a:latin typeface="Courier New" pitchFamily="34" charset="0"/>
                          <a:ea typeface="Courier New" pitchFamily="34" charset="-122"/>
                          <a:cs typeface="Courier New" pitchFamily="34" charset="-120"/>
                        </a:rPr>
                        <a:t>CIMET_PRESCORE</a:t>
                      </a:r>
                      <a:endParaRPr lang="en-US" sz="1000" dirty="0">
                        <a:latin typeface="Courier New" charset="0"/>
                        <a:ea typeface="Courier New" charset="0"/>
                        <a:cs typeface="Courier New"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tc>
                  <a:txBody>
                    <a:bodyPr/>
                    <a:lstStyle/>
                    <a:p>
                      <a:pPr marL="0" indent="0">
                        <a:buNone/>
                      </a:pPr>
                      <a:r>
                        <a:rPr lang="en-US" sz="1200" dirty="0">
                          <a:solidFill>
                            <a:srgbClr val="A3AEC3"/>
                          </a:solidFill>
                          <a:latin typeface="Calibri" pitchFamily="34" charset="0"/>
                          <a:ea typeface="Calibri" pitchFamily="34" charset="-122"/>
                          <a:cs typeface="Calibri" pitchFamily="34" charset="-120"/>
                        </a:rPr>
                        <a:t>score new leads at startup</a:t>
                      </a:r>
                      <a:endParaRPr lang="en-US" sz="1200" dirty="0">
                        <a:latin typeface="Calibri" charset="0"/>
                        <a:ea typeface="Calibri" charset="0"/>
                        <a:cs typeface="Calibri" charset="0"/>
                      </a:endParaRPr>
                    </a:p>
                  </a:txBody>
                  <a:tcPr marL="101600" marR="101600" marT="50800" marB="50800" anchor="ctr">
                    <a:lnL w="6350" cap="flat" cmpd="sng" algn="ctr">
                      <a:solidFill>
                        <a:srgbClr val="263248"/>
                      </a:solidFill>
                      <a:prstDash val="solid"/>
                      <a:round/>
                      <a:headEnd type="none" w="med" len="med"/>
                      <a:tailEnd type="none" w="med" len="med"/>
                    </a:lnL>
                    <a:lnR w="6350" cap="flat" cmpd="sng" algn="ctr">
                      <a:solidFill>
                        <a:srgbClr val="263248"/>
                      </a:solidFill>
                      <a:prstDash val="solid"/>
                      <a:round/>
                      <a:headEnd type="none" w="med" len="med"/>
                      <a:tailEnd type="none" w="med" len="med"/>
                    </a:lnR>
                    <a:lnT w="6350" cap="flat" cmpd="sng" algn="ctr">
                      <a:solidFill>
                        <a:srgbClr val="263248"/>
                      </a:solidFill>
                      <a:prstDash val="solid"/>
                      <a:round/>
                      <a:headEnd type="none" w="med" len="med"/>
                      <a:tailEnd type="none" w="med" len="med"/>
                    </a:lnT>
                    <a:lnB w="6350" cap="flat" cmpd="sng" algn="ctr">
                      <a:solidFill>
                        <a:srgbClr val="263248"/>
                      </a:solidFill>
                      <a:prstDash val="solid"/>
                      <a:round/>
                      <a:headEnd type="none" w="med" len="med"/>
                      <a:tailEnd type="none" w="med" len="med"/>
                    </a:lnB>
                    <a:solidFill>
                      <a:srgbClr val="141B2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29</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28 · KNOWN LIMITS &amp; NEXT STEPS</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What's next, stated plainly</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Deliberate trade-offs for a solo 12-hour build.</a:t>
            </a:r>
            <a:endParaRPr lang="en-US" sz="1500" dirty="0"/>
          </a:p>
        </p:txBody>
      </p:sp>
      <p:sp>
        <p:nvSpPr>
          <p:cNvPr id="8" name="Shape 5"/>
          <p:cNvSpPr/>
          <p:nvPr/>
        </p:nvSpPr>
        <p:spPr>
          <a:xfrm>
            <a:off x="548640" y="187452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822960" y="2148840"/>
            <a:ext cx="146304" cy="146304"/>
          </a:xfrm>
          <a:prstGeom prst="ellipse">
            <a:avLst/>
          </a:prstGeom>
          <a:solidFill>
            <a:srgbClr val="6AA8FF"/>
          </a:solidFill>
          <a:ln w="12700">
            <a:solidFill>
              <a:srgbClr val="6AA8FF"/>
            </a:solidFill>
            <a:prstDash val="solid"/>
          </a:ln>
        </p:spPr>
        <p:txBody>
          <a:bodyPr/>
          <a:lstStyle/>
          <a:p>
            <a:endParaRPr lang="en-IN"/>
          </a:p>
        </p:txBody>
      </p:sp>
      <p:sp>
        <p:nvSpPr>
          <p:cNvPr id="10" name="Text 7"/>
          <p:cNvSpPr txBox="1"/>
          <p:nvPr/>
        </p:nvSpPr>
        <p:spPr>
          <a:xfrm>
            <a:off x="1097280" y="2057400"/>
            <a:ext cx="46177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Dashboards</a:t>
            </a:r>
            <a:endParaRPr lang="en-US" sz="1500" dirty="0"/>
          </a:p>
        </p:txBody>
      </p:sp>
      <p:sp>
        <p:nvSpPr>
          <p:cNvPr id="11" name="Text 8"/>
          <p:cNvSpPr txBox="1"/>
          <p:nvPr/>
        </p:nvSpPr>
        <p:spPr>
          <a:xfrm>
            <a:off x="1097280" y="2423160"/>
            <a:ext cx="4617720" cy="68580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Agent-wise daily / weekly / monthly, first-pass yield, repeat offences (3+ in 7 days). Every run's audit JSON already holds the data.</a:t>
            </a:r>
            <a:endParaRPr lang="en-US" sz="1200" dirty="0"/>
          </a:p>
        </p:txBody>
      </p:sp>
      <p:sp>
        <p:nvSpPr>
          <p:cNvPr id="12" name="Shape 9"/>
          <p:cNvSpPr/>
          <p:nvPr/>
        </p:nvSpPr>
        <p:spPr>
          <a:xfrm>
            <a:off x="6153912" y="187452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13" name="Shape 10"/>
          <p:cNvSpPr/>
          <p:nvPr/>
        </p:nvSpPr>
        <p:spPr>
          <a:xfrm>
            <a:off x="6428232" y="2148840"/>
            <a:ext cx="146304" cy="146304"/>
          </a:xfrm>
          <a:prstGeom prst="ellipse">
            <a:avLst/>
          </a:prstGeom>
          <a:solidFill>
            <a:srgbClr val="FBBF24"/>
          </a:solidFill>
          <a:ln w="12700">
            <a:solidFill>
              <a:srgbClr val="FBBF24"/>
            </a:solidFill>
            <a:prstDash val="solid"/>
          </a:ln>
        </p:spPr>
        <p:txBody>
          <a:bodyPr/>
          <a:lstStyle/>
          <a:p>
            <a:endParaRPr lang="en-IN"/>
          </a:p>
        </p:txBody>
      </p:sp>
      <p:sp>
        <p:nvSpPr>
          <p:cNvPr id="14" name="Text 11"/>
          <p:cNvSpPr txBox="1"/>
          <p:nvPr/>
        </p:nvSpPr>
        <p:spPr>
          <a:xfrm>
            <a:off x="6702552" y="2057400"/>
            <a:ext cx="46177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Rules live on the call date</a:t>
            </a:r>
            <a:endParaRPr lang="en-US" sz="1500" dirty="0"/>
          </a:p>
        </p:txBody>
      </p:sp>
      <p:sp>
        <p:nvSpPr>
          <p:cNvPr id="15" name="Text 12"/>
          <p:cNvSpPr txBox="1"/>
          <p:nvPr/>
        </p:nvSpPr>
        <p:spPr>
          <a:xfrm>
            <a:off x="6702552" y="2423160"/>
            <a:ext cx="4617720" cy="68580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Versions and effective dates are stamped; resolving each check by the call date is next.</a:t>
            </a:r>
            <a:endParaRPr lang="en-US" sz="1200" dirty="0"/>
          </a:p>
        </p:txBody>
      </p:sp>
      <p:sp>
        <p:nvSpPr>
          <p:cNvPr id="16" name="Shape 13"/>
          <p:cNvSpPr/>
          <p:nvPr/>
        </p:nvSpPr>
        <p:spPr>
          <a:xfrm>
            <a:off x="548640" y="329184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17" name="Shape 14"/>
          <p:cNvSpPr/>
          <p:nvPr/>
        </p:nvSpPr>
        <p:spPr>
          <a:xfrm>
            <a:off x="822960" y="3566160"/>
            <a:ext cx="146304" cy="146304"/>
          </a:xfrm>
          <a:prstGeom prst="ellipse">
            <a:avLst/>
          </a:prstGeom>
          <a:solidFill>
            <a:srgbClr val="5EEAD4"/>
          </a:solidFill>
          <a:ln w="12700">
            <a:solidFill>
              <a:srgbClr val="5EEAD4"/>
            </a:solidFill>
            <a:prstDash val="solid"/>
          </a:ln>
        </p:spPr>
        <p:txBody>
          <a:bodyPr/>
          <a:lstStyle/>
          <a:p>
            <a:endParaRPr lang="en-IN"/>
          </a:p>
        </p:txBody>
      </p:sp>
      <p:sp>
        <p:nvSpPr>
          <p:cNvPr id="18" name="Text 15"/>
          <p:cNvSpPr txBox="1"/>
          <p:nvPr/>
        </p:nvSpPr>
        <p:spPr>
          <a:xfrm>
            <a:off x="1097280" y="3474720"/>
            <a:ext cx="46177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Stereo recordings</a:t>
            </a:r>
            <a:endParaRPr lang="en-US" sz="1500" dirty="0"/>
          </a:p>
        </p:txBody>
      </p:sp>
      <p:sp>
        <p:nvSpPr>
          <p:cNvPr id="19" name="Text 16"/>
          <p:cNvSpPr txBox="1"/>
          <p:nvPr/>
        </p:nvSpPr>
        <p:spPr>
          <a:xfrm>
            <a:off x="1097280" y="3840480"/>
            <a:ext cx="4617720" cy="68580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Split agent and customer by channel for certain speaker labels (mono uses diarisation today).</a:t>
            </a:r>
            <a:endParaRPr lang="en-US" sz="1200" dirty="0"/>
          </a:p>
        </p:txBody>
      </p:sp>
      <p:sp>
        <p:nvSpPr>
          <p:cNvPr id="20" name="Shape 17"/>
          <p:cNvSpPr/>
          <p:nvPr/>
        </p:nvSpPr>
        <p:spPr>
          <a:xfrm>
            <a:off x="6153912" y="329184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21" name="Shape 18"/>
          <p:cNvSpPr/>
          <p:nvPr/>
        </p:nvSpPr>
        <p:spPr>
          <a:xfrm>
            <a:off x="6428232" y="3566160"/>
            <a:ext cx="146304" cy="146304"/>
          </a:xfrm>
          <a:prstGeom prst="ellipse">
            <a:avLst/>
          </a:prstGeom>
          <a:solidFill>
            <a:srgbClr val="B9A4FF"/>
          </a:solidFill>
          <a:ln w="12700">
            <a:solidFill>
              <a:srgbClr val="B9A4FF"/>
            </a:solidFill>
            <a:prstDash val="solid"/>
          </a:ln>
        </p:spPr>
        <p:txBody>
          <a:bodyPr/>
          <a:lstStyle/>
          <a:p>
            <a:endParaRPr lang="en-IN"/>
          </a:p>
        </p:txBody>
      </p:sp>
      <p:sp>
        <p:nvSpPr>
          <p:cNvPr id="22" name="Text 19"/>
          <p:cNvSpPr txBox="1"/>
          <p:nvPr/>
        </p:nvSpPr>
        <p:spPr>
          <a:xfrm>
            <a:off x="6702552" y="3474720"/>
            <a:ext cx="46177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Durable job queue</a:t>
            </a:r>
            <a:endParaRPr lang="en-US" sz="1500" dirty="0"/>
          </a:p>
        </p:txBody>
      </p:sp>
      <p:sp>
        <p:nvSpPr>
          <p:cNvPr id="23" name="Text 20"/>
          <p:cNvSpPr txBox="1"/>
          <p:nvPr/>
        </p:nvSpPr>
        <p:spPr>
          <a:xfrm>
            <a:off x="6702552" y="3840480"/>
            <a:ext cx="4617720" cy="68580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The dialler queue is in memory; recordings and transcripts are already on disk.</a:t>
            </a:r>
            <a:endParaRPr lang="en-US" sz="1200" dirty="0"/>
          </a:p>
        </p:txBody>
      </p:sp>
      <p:sp>
        <p:nvSpPr>
          <p:cNvPr id="24" name="Shape 21"/>
          <p:cNvSpPr/>
          <p:nvPr/>
        </p:nvSpPr>
        <p:spPr>
          <a:xfrm>
            <a:off x="548640" y="470916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25" name="Shape 22"/>
          <p:cNvSpPr/>
          <p:nvPr/>
        </p:nvSpPr>
        <p:spPr>
          <a:xfrm>
            <a:off x="822960" y="4983480"/>
            <a:ext cx="146304" cy="146304"/>
          </a:xfrm>
          <a:prstGeom prst="ellipse">
            <a:avLst/>
          </a:prstGeom>
          <a:solidFill>
            <a:srgbClr val="F87171"/>
          </a:solidFill>
          <a:ln w="12700">
            <a:solidFill>
              <a:srgbClr val="F87171"/>
            </a:solidFill>
            <a:prstDash val="solid"/>
          </a:ln>
        </p:spPr>
        <p:txBody>
          <a:bodyPr/>
          <a:lstStyle/>
          <a:p>
            <a:endParaRPr lang="en-IN"/>
          </a:p>
        </p:txBody>
      </p:sp>
      <p:sp>
        <p:nvSpPr>
          <p:cNvPr id="26" name="Text 23"/>
          <p:cNvSpPr txBox="1"/>
          <p:nvPr/>
        </p:nvSpPr>
        <p:spPr>
          <a:xfrm>
            <a:off x="1097280" y="4892040"/>
            <a:ext cx="46177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LLM availability</a:t>
            </a:r>
            <a:endParaRPr lang="en-US" sz="1500" dirty="0"/>
          </a:p>
        </p:txBody>
      </p:sp>
      <p:sp>
        <p:nvSpPr>
          <p:cNvPr id="27" name="Text 24"/>
          <p:cNvSpPr txBox="1"/>
          <p:nvPr/>
        </p:nvSpPr>
        <p:spPr>
          <a:xfrm>
            <a:off x="1097280" y="5257800"/>
            <a:ext cx="4617720" cy="68580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If the API fails (e.g. credit runs out), Type B falls back to the deterministic extractor and records why on every result.</a:t>
            </a:r>
            <a:endParaRPr lang="en-US" sz="1200" dirty="0"/>
          </a:p>
        </p:txBody>
      </p:sp>
      <p:sp>
        <p:nvSpPr>
          <p:cNvPr id="28" name="Shape 25"/>
          <p:cNvSpPr/>
          <p:nvPr/>
        </p:nvSpPr>
        <p:spPr>
          <a:xfrm>
            <a:off x="6153912" y="470916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29" name="Shape 26"/>
          <p:cNvSpPr/>
          <p:nvPr/>
        </p:nvSpPr>
        <p:spPr>
          <a:xfrm>
            <a:off x="6428232" y="4983480"/>
            <a:ext cx="146304" cy="146304"/>
          </a:xfrm>
          <a:prstGeom prst="ellipse">
            <a:avLst/>
          </a:prstGeom>
          <a:solidFill>
            <a:srgbClr val="34D399"/>
          </a:solidFill>
          <a:ln w="12700">
            <a:solidFill>
              <a:srgbClr val="34D399"/>
            </a:solidFill>
            <a:prstDash val="solid"/>
          </a:ln>
        </p:spPr>
        <p:txBody>
          <a:bodyPr/>
          <a:lstStyle/>
          <a:p>
            <a:endParaRPr lang="en-IN"/>
          </a:p>
        </p:txBody>
      </p:sp>
      <p:sp>
        <p:nvSpPr>
          <p:cNvPr id="30" name="Text 27"/>
          <p:cNvSpPr txBox="1"/>
          <p:nvPr/>
        </p:nvSpPr>
        <p:spPr>
          <a:xfrm>
            <a:off x="6702552" y="4892040"/>
            <a:ext cx="461772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Wording drift</a:t>
            </a:r>
            <a:endParaRPr lang="en-US" sz="1500" dirty="0"/>
          </a:p>
        </p:txBody>
      </p:sp>
      <p:sp>
        <p:nvSpPr>
          <p:cNvPr id="31" name="Text 28"/>
          <p:cNvSpPr txBox="1"/>
          <p:nvPr/>
        </p:nvSpPr>
        <p:spPr>
          <a:xfrm>
            <a:off x="6702552" y="5257800"/>
            <a:ext cx="4617720" cy="68580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Synthetic calls follow the checklist wording; the real recording on the day is the better test.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30</a:t>
            </a:r>
            <a:endParaRPr lang="en-US" sz="900" dirty="0"/>
          </a:p>
        </p:txBody>
      </p:sp>
      <p:sp>
        <p:nvSpPr>
          <p:cNvPr id="5" name="Text 2"/>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100" b="1" kern="0" spc="300" dirty="0">
                <a:solidFill>
                  <a:srgbClr val="6AA8FF"/>
                </a:solidFill>
                <a:latin typeface="Calibri" pitchFamily="34" charset="0"/>
                <a:ea typeface="Calibri" pitchFamily="34" charset="-122"/>
                <a:cs typeface="Calibri" pitchFamily="34" charset="-120"/>
              </a:rPr>
              <a:t>29 · LIVE DEMO</a:t>
            </a:r>
            <a:endParaRPr lang="en-US" sz="1100" dirty="0"/>
          </a:p>
        </p:txBody>
      </p:sp>
      <p:sp>
        <p:nvSpPr>
          <p:cNvPr id="6" name="Text 3"/>
          <p:cNvSpPr txBox="1"/>
          <p:nvPr/>
        </p:nvSpPr>
        <p:spPr>
          <a:xfrm>
            <a:off x="548640" y="658368"/>
            <a:ext cx="11094415" cy="658368"/>
          </a:xfrm>
          <a:prstGeom prst="rect">
            <a:avLst/>
          </a:prstGeom>
          <a:noFill/>
          <a:ln/>
        </p:spPr>
        <p:txBody>
          <a:bodyPr wrap="square" lIns="0" tIns="0" rIns="0" bIns="0" rtlCol="0" anchor="t"/>
          <a:lstStyle/>
          <a:p>
            <a:pPr marL="0" indent="0">
              <a:buNone/>
            </a:pPr>
            <a:r>
              <a:rPr lang="en-US" sz="3200" b="1" dirty="0">
                <a:solidFill>
                  <a:srgbClr val="E8EDF6"/>
                </a:solidFill>
                <a:latin typeface="Calibri" pitchFamily="34" charset="0"/>
                <a:ea typeface="Calibri" pitchFamily="34" charset="-122"/>
                <a:cs typeface="Calibri" pitchFamily="34" charset="-120"/>
              </a:rPr>
              <a:t>The three-minute demo</a:t>
            </a:r>
            <a:endParaRPr lang="en-US" sz="3200" dirty="0"/>
          </a:p>
        </p:txBody>
      </p:sp>
      <p:sp>
        <p:nvSpPr>
          <p:cNvPr id="7" name="Text 4"/>
          <p:cNvSpPr txBox="1"/>
          <p:nvPr/>
        </p:nvSpPr>
        <p:spPr>
          <a:xfrm>
            <a:off x="548640" y="1298448"/>
            <a:ext cx="11094415" cy="365760"/>
          </a:xfrm>
          <a:prstGeom prst="rect">
            <a:avLst/>
          </a:prstGeom>
          <a:noFill/>
          <a:ln/>
        </p:spPr>
        <p:txBody>
          <a:bodyPr wrap="square" lIns="0" tIns="0" rIns="0" bIns="0" rtlCol="0" anchor="ctr"/>
          <a:lstStyle/>
          <a:p>
            <a:pPr marL="0" indent="0">
              <a:buNone/>
            </a:pPr>
            <a:r>
              <a:rPr lang="en-US" sz="1500" dirty="0">
                <a:solidFill>
                  <a:srgbClr val="A3AEC3"/>
                </a:solidFill>
                <a:latin typeface="Calibri" pitchFamily="34" charset="0"/>
                <a:ea typeface="Calibri" pitchFamily="34" charset="-122"/>
                <a:cs typeface="Calibri" pitchFamily="34" charset="-120"/>
              </a:rPr>
              <a:t>A real lead scored live — held or passed, with the exact reasoning shown.</a:t>
            </a:r>
            <a:endParaRPr lang="en-US" sz="1500" dirty="0"/>
          </a:p>
        </p:txBody>
      </p:sp>
      <p:sp>
        <p:nvSpPr>
          <p:cNvPr id="8" name="Shape 5"/>
          <p:cNvSpPr/>
          <p:nvPr/>
        </p:nvSpPr>
        <p:spPr>
          <a:xfrm>
            <a:off x="548640" y="187452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9" name="Shape 6"/>
          <p:cNvSpPr/>
          <p:nvPr/>
        </p:nvSpPr>
        <p:spPr>
          <a:xfrm>
            <a:off x="822960" y="2148840"/>
            <a:ext cx="384048" cy="384048"/>
          </a:xfrm>
          <a:prstGeom prst="ellipse">
            <a:avLst/>
          </a:prstGeom>
          <a:solidFill>
            <a:srgbClr val="6AA8FF"/>
          </a:solidFill>
          <a:ln w="12700">
            <a:solidFill>
              <a:srgbClr val="6AA8FF"/>
            </a:solidFill>
            <a:prstDash val="solid"/>
          </a:ln>
        </p:spPr>
        <p:txBody>
          <a:bodyPr/>
          <a:lstStyle/>
          <a:p>
            <a:endParaRPr lang="en-IN"/>
          </a:p>
        </p:txBody>
      </p:sp>
      <p:sp>
        <p:nvSpPr>
          <p:cNvPr id="10" name="Text 7"/>
          <p:cNvSpPr txBox="1"/>
          <p:nvPr/>
        </p:nvSpPr>
        <p:spPr>
          <a:xfrm>
            <a:off x="822960" y="2148840"/>
            <a:ext cx="384048" cy="384048"/>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417320" y="2103120"/>
            <a:ext cx="35204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3613790 opens HELD</a:t>
            </a:r>
            <a:endParaRPr lang="en-US" sz="1500" dirty="0"/>
          </a:p>
        </p:txBody>
      </p:sp>
      <p:sp>
        <p:nvSpPr>
          <p:cNvPr id="12" name="Text 9"/>
          <p:cNvSpPr txBox="1"/>
          <p:nvPr/>
        </p:nvSpPr>
        <p:spPr>
          <a:xfrm>
            <a:off x="5029200" y="2103120"/>
            <a:ext cx="731520" cy="274320"/>
          </a:xfrm>
          <a:prstGeom prst="rect">
            <a:avLst/>
          </a:prstGeom>
          <a:noFill/>
          <a:ln/>
        </p:spPr>
        <p:txBody>
          <a:bodyPr wrap="square" lIns="0" tIns="0" rIns="0" bIns="0" rtlCol="0" anchor="ctr"/>
          <a:lstStyle/>
          <a:p>
            <a:pPr marL="0" indent="0" algn="r">
              <a:buNone/>
            </a:pPr>
            <a:r>
              <a:rPr lang="en-US" sz="1200" dirty="0">
                <a:solidFill>
                  <a:srgbClr val="6F7C94"/>
                </a:solidFill>
                <a:latin typeface="Courier New" pitchFamily="34" charset="0"/>
                <a:ea typeface="Courier New" pitchFamily="34" charset="-122"/>
                <a:cs typeface="Courier New" pitchFamily="34" charset="-120"/>
              </a:rPr>
              <a:t>0:00</a:t>
            </a:r>
            <a:endParaRPr lang="en-US" sz="1200" dirty="0"/>
          </a:p>
        </p:txBody>
      </p:sp>
      <p:sp>
        <p:nvSpPr>
          <p:cNvPr id="13" name="Text 10"/>
          <p:cNvSpPr txBox="1"/>
          <p:nvPr/>
        </p:nvSpPr>
        <p:spPr>
          <a:xfrm>
            <a:off x="1417320" y="2468880"/>
            <a:ext cx="4297680" cy="64008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The brief's worked example: two critical fails, said vs expected on each card.</a:t>
            </a:r>
            <a:endParaRPr lang="en-US" sz="1200" dirty="0"/>
          </a:p>
        </p:txBody>
      </p:sp>
      <p:sp>
        <p:nvSpPr>
          <p:cNvPr id="14" name="Shape 11"/>
          <p:cNvSpPr/>
          <p:nvPr/>
        </p:nvSpPr>
        <p:spPr>
          <a:xfrm>
            <a:off x="6153912" y="187452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15" name="Shape 12"/>
          <p:cNvSpPr/>
          <p:nvPr/>
        </p:nvSpPr>
        <p:spPr>
          <a:xfrm>
            <a:off x="6428232" y="2148840"/>
            <a:ext cx="384048" cy="384048"/>
          </a:xfrm>
          <a:prstGeom prst="ellipse">
            <a:avLst/>
          </a:prstGeom>
          <a:solidFill>
            <a:srgbClr val="6AA8FF"/>
          </a:solidFill>
          <a:ln w="12700">
            <a:solidFill>
              <a:srgbClr val="6AA8FF"/>
            </a:solidFill>
            <a:prstDash val="solid"/>
          </a:ln>
        </p:spPr>
        <p:txBody>
          <a:bodyPr/>
          <a:lstStyle/>
          <a:p>
            <a:endParaRPr lang="en-IN"/>
          </a:p>
        </p:txBody>
      </p:sp>
      <p:sp>
        <p:nvSpPr>
          <p:cNvPr id="16" name="Text 13"/>
          <p:cNvSpPr txBox="1"/>
          <p:nvPr/>
        </p:nvSpPr>
        <p:spPr>
          <a:xfrm>
            <a:off x="6428232" y="2148840"/>
            <a:ext cx="384048" cy="384048"/>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7022592" y="2103120"/>
            <a:ext cx="35204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Click 14:02</a:t>
            </a:r>
            <a:endParaRPr lang="en-US" sz="1500" dirty="0"/>
          </a:p>
        </p:txBody>
      </p:sp>
      <p:sp>
        <p:nvSpPr>
          <p:cNvPr id="18" name="Text 15"/>
          <p:cNvSpPr txBox="1"/>
          <p:nvPr/>
        </p:nvSpPr>
        <p:spPr>
          <a:xfrm>
            <a:off x="10634472" y="2103120"/>
            <a:ext cx="731520" cy="274320"/>
          </a:xfrm>
          <a:prstGeom prst="rect">
            <a:avLst/>
          </a:prstGeom>
          <a:noFill/>
          <a:ln/>
        </p:spPr>
        <p:txBody>
          <a:bodyPr wrap="square" lIns="0" tIns="0" rIns="0" bIns="0" rtlCol="0" anchor="ctr"/>
          <a:lstStyle/>
          <a:p>
            <a:pPr marL="0" indent="0" algn="r">
              <a:buNone/>
            </a:pPr>
            <a:r>
              <a:rPr lang="en-US" sz="1200" dirty="0">
                <a:solidFill>
                  <a:srgbClr val="6F7C94"/>
                </a:solidFill>
                <a:latin typeface="Courier New" pitchFamily="34" charset="0"/>
                <a:ea typeface="Courier New" pitchFamily="34" charset="-122"/>
                <a:cs typeface="Courier New" pitchFamily="34" charset="-120"/>
              </a:rPr>
              <a:t>0:30</a:t>
            </a:r>
            <a:endParaRPr lang="en-US" sz="1200" dirty="0"/>
          </a:p>
        </p:txBody>
      </p:sp>
      <p:sp>
        <p:nvSpPr>
          <p:cNvPr id="19" name="Text 16"/>
          <p:cNvSpPr txBox="1"/>
          <p:nvPr/>
        </p:nvSpPr>
        <p:spPr>
          <a:xfrm>
            <a:off x="7022592" y="2468880"/>
            <a:ext cx="4297680" cy="64008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Transcript jumps to the line; the evidence shows the quote, the plan value and the leak guard.</a:t>
            </a:r>
            <a:endParaRPr lang="en-US" sz="1200" dirty="0"/>
          </a:p>
        </p:txBody>
      </p:sp>
      <p:sp>
        <p:nvSpPr>
          <p:cNvPr id="20" name="Shape 17"/>
          <p:cNvSpPr/>
          <p:nvPr/>
        </p:nvSpPr>
        <p:spPr>
          <a:xfrm>
            <a:off x="548640" y="329184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21" name="Shape 18"/>
          <p:cNvSpPr/>
          <p:nvPr/>
        </p:nvSpPr>
        <p:spPr>
          <a:xfrm>
            <a:off x="822960" y="3566160"/>
            <a:ext cx="384048" cy="384048"/>
          </a:xfrm>
          <a:prstGeom prst="ellipse">
            <a:avLst/>
          </a:prstGeom>
          <a:solidFill>
            <a:srgbClr val="6AA8FF"/>
          </a:solidFill>
          <a:ln w="12700">
            <a:solidFill>
              <a:srgbClr val="6AA8FF"/>
            </a:solidFill>
            <a:prstDash val="solid"/>
          </a:ln>
        </p:spPr>
        <p:txBody>
          <a:bodyPr/>
          <a:lstStyle/>
          <a:p>
            <a:endParaRPr lang="en-IN"/>
          </a:p>
        </p:txBody>
      </p:sp>
      <p:sp>
        <p:nvSpPr>
          <p:cNvPr id="22" name="Text 19"/>
          <p:cNvSpPr txBox="1"/>
          <p:nvPr/>
        </p:nvSpPr>
        <p:spPr>
          <a:xfrm>
            <a:off x="822960" y="3566160"/>
            <a:ext cx="384048" cy="384048"/>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1417320" y="3520440"/>
            <a:ext cx="35204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Override the rate</a:t>
            </a:r>
            <a:endParaRPr lang="en-US" sz="1500" dirty="0"/>
          </a:p>
        </p:txBody>
      </p:sp>
      <p:sp>
        <p:nvSpPr>
          <p:cNvPr id="24" name="Text 21"/>
          <p:cNvSpPr txBox="1"/>
          <p:nvPr/>
        </p:nvSpPr>
        <p:spPr>
          <a:xfrm>
            <a:off x="5029200" y="3520440"/>
            <a:ext cx="731520" cy="274320"/>
          </a:xfrm>
          <a:prstGeom prst="rect">
            <a:avLst/>
          </a:prstGeom>
          <a:noFill/>
          <a:ln/>
        </p:spPr>
        <p:txBody>
          <a:bodyPr wrap="square" lIns="0" tIns="0" rIns="0" bIns="0" rtlCol="0" anchor="ctr"/>
          <a:lstStyle/>
          <a:p>
            <a:pPr marL="0" indent="0" algn="r">
              <a:buNone/>
            </a:pPr>
            <a:r>
              <a:rPr lang="en-US" sz="1200" dirty="0">
                <a:solidFill>
                  <a:srgbClr val="6F7C94"/>
                </a:solidFill>
                <a:latin typeface="Courier New" pitchFamily="34" charset="0"/>
                <a:ea typeface="Courier New" pitchFamily="34" charset="-122"/>
                <a:cs typeface="Courier New" pitchFamily="34" charset="-120"/>
              </a:rPr>
              <a:t>1:00</a:t>
            </a:r>
            <a:endParaRPr lang="en-US" sz="1200" dirty="0"/>
          </a:p>
        </p:txBody>
      </p:sp>
      <p:sp>
        <p:nvSpPr>
          <p:cNvPr id="25" name="Text 22"/>
          <p:cNvSpPr txBox="1"/>
          <p:nvPr/>
        </p:nvSpPr>
        <p:spPr>
          <a:xfrm>
            <a:off x="1417320" y="3886200"/>
            <a:ext cx="4297680" cy="64008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Reason required. Gate stays HELD until the email clears too — then SUBMITTED.</a:t>
            </a:r>
            <a:endParaRPr lang="en-US" sz="1200" dirty="0"/>
          </a:p>
        </p:txBody>
      </p:sp>
      <p:sp>
        <p:nvSpPr>
          <p:cNvPr id="26" name="Shape 23"/>
          <p:cNvSpPr/>
          <p:nvPr/>
        </p:nvSpPr>
        <p:spPr>
          <a:xfrm>
            <a:off x="6153912" y="329184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27" name="Shape 24"/>
          <p:cNvSpPr/>
          <p:nvPr/>
        </p:nvSpPr>
        <p:spPr>
          <a:xfrm>
            <a:off x="6428232" y="3566160"/>
            <a:ext cx="384048" cy="384048"/>
          </a:xfrm>
          <a:prstGeom prst="ellipse">
            <a:avLst/>
          </a:prstGeom>
          <a:solidFill>
            <a:srgbClr val="6AA8FF"/>
          </a:solidFill>
          <a:ln w="12700">
            <a:solidFill>
              <a:srgbClr val="6AA8FF"/>
            </a:solidFill>
            <a:prstDash val="solid"/>
          </a:ln>
        </p:spPr>
        <p:txBody>
          <a:bodyPr/>
          <a:lstStyle/>
          <a:p>
            <a:endParaRPr lang="en-IN"/>
          </a:p>
        </p:txBody>
      </p:sp>
      <p:sp>
        <p:nvSpPr>
          <p:cNvPr id="28" name="Text 25"/>
          <p:cNvSpPr txBox="1"/>
          <p:nvPr/>
        </p:nvSpPr>
        <p:spPr>
          <a:xfrm>
            <a:off x="6428232" y="3566160"/>
            <a:ext cx="384048" cy="384048"/>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4</a:t>
            </a:r>
            <a:endParaRPr lang="en-US" sz="1300" dirty="0"/>
          </a:p>
        </p:txBody>
      </p:sp>
      <p:sp>
        <p:nvSpPr>
          <p:cNvPr id="29" name="Text 26"/>
          <p:cNvSpPr txBox="1"/>
          <p:nvPr/>
        </p:nvSpPr>
        <p:spPr>
          <a:xfrm>
            <a:off x="7022592" y="3520440"/>
            <a:ext cx="35204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Switch to 3613792</a:t>
            </a:r>
            <a:endParaRPr lang="en-US" sz="1500" dirty="0"/>
          </a:p>
        </p:txBody>
      </p:sp>
      <p:sp>
        <p:nvSpPr>
          <p:cNvPr id="30" name="Text 27"/>
          <p:cNvSpPr txBox="1"/>
          <p:nvPr/>
        </p:nvSpPr>
        <p:spPr>
          <a:xfrm>
            <a:off x="10634472" y="3520440"/>
            <a:ext cx="731520" cy="274320"/>
          </a:xfrm>
          <a:prstGeom prst="rect">
            <a:avLst/>
          </a:prstGeom>
          <a:noFill/>
          <a:ln/>
        </p:spPr>
        <p:txBody>
          <a:bodyPr wrap="square" lIns="0" tIns="0" rIns="0" bIns="0" rtlCol="0" anchor="ctr"/>
          <a:lstStyle/>
          <a:p>
            <a:pPr marL="0" indent="0" algn="r">
              <a:buNone/>
            </a:pPr>
            <a:r>
              <a:rPr lang="en-US" sz="1200" dirty="0">
                <a:solidFill>
                  <a:srgbClr val="6F7C94"/>
                </a:solidFill>
                <a:latin typeface="Courier New" pitchFamily="34" charset="0"/>
                <a:ea typeface="Courier New" pitchFamily="34" charset="-122"/>
                <a:cs typeface="Courier New" pitchFamily="34" charset="-120"/>
              </a:rPr>
              <a:t>1:40</a:t>
            </a:r>
            <a:endParaRPr lang="en-US" sz="1200" dirty="0"/>
          </a:p>
        </p:txBody>
      </p:sp>
      <p:sp>
        <p:nvSpPr>
          <p:cNvPr id="31" name="Text 28"/>
          <p:cNvSpPr txBox="1"/>
          <p:nvPr/>
        </p:nvSpPr>
        <p:spPr>
          <a:xfrm>
            <a:off x="7022592" y="3886200"/>
            <a:ext cx="4297680" cy="64008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Crosstalk and [inaudible]: QA, not HELD. G1 and G2 on the cards.</a:t>
            </a:r>
            <a:endParaRPr lang="en-US" sz="1200" dirty="0"/>
          </a:p>
        </p:txBody>
      </p:sp>
      <p:sp>
        <p:nvSpPr>
          <p:cNvPr id="32" name="Shape 29"/>
          <p:cNvSpPr/>
          <p:nvPr/>
        </p:nvSpPr>
        <p:spPr>
          <a:xfrm>
            <a:off x="548640" y="470916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33" name="Shape 30"/>
          <p:cNvSpPr/>
          <p:nvPr/>
        </p:nvSpPr>
        <p:spPr>
          <a:xfrm>
            <a:off x="822960" y="4983480"/>
            <a:ext cx="384048" cy="384048"/>
          </a:xfrm>
          <a:prstGeom prst="ellipse">
            <a:avLst/>
          </a:prstGeom>
          <a:solidFill>
            <a:srgbClr val="6AA8FF"/>
          </a:solidFill>
          <a:ln w="12700">
            <a:solidFill>
              <a:srgbClr val="6AA8FF"/>
            </a:solidFill>
            <a:prstDash val="solid"/>
          </a:ln>
        </p:spPr>
        <p:txBody>
          <a:bodyPr/>
          <a:lstStyle/>
          <a:p>
            <a:endParaRPr lang="en-IN"/>
          </a:p>
        </p:txBody>
      </p:sp>
      <p:sp>
        <p:nvSpPr>
          <p:cNvPr id="34" name="Text 31"/>
          <p:cNvSpPr txBox="1"/>
          <p:nvPr/>
        </p:nvSpPr>
        <p:spPr>
          <a:xfrm>
            <a:off x="822960" y="4983480"/>
            <a:ext cx="384048" cy="384048"/>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5</a:t>
            </a:r>
            <a:endParaRPr lang="en-US" sz="1300" dirty="0"/>
          </a:p>
        </p:txBody>
      </p:sp>
      <p:sp>
        <p:nvSpPr>
          <p:cNvPr id="35" name="Text 32"/>
          <p:cNvSpPr txBox="1"/>
          <p:nvPr/>
        </p:nvSpPr>
        <p:spPr>
          <a:xfrm>
            <a:off x="1417320" y="4937760"/>
            <a:ext cx="35204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Open 3613793 (NBN)</a:t>
            </a:r>
            <a:endParaRPr lang="en-US" sz="1500" dirty="0"/>
          </a:p>
        </p:txBody>
      </p:sp>
      <p:sp>
        <p:nvSpPr>
          <p:cNvPr id="36" name="Text 33"/>
          <p:cNvSpPr txBox="1"/>
          <p:nvPr/>
        </p:nvSpPr>
        <p:spPr>
          <a:xfrm>
            <a:off x="5029200" y="4937760"/>
            <a:ext cx="731520" cy="274320"/>
          </a:xfrm>
          <a:prstGeom prst="rect">
            <a:avLst/>
          </a:prstGeom>
          <a:noFill/>
          <a:ln/>
        </p:spPr>
        <p:txBody>
          <a:bodyPr wrap="square" lIns="0" tIns="0" rIns="0" bIns="0" rtlCol="0" anchor="ctr"/>
          <a:lstStyle/>
          <a:p>
            <a:pPr marL="0" indent="0" algn="r">
              <a:buNone/>
            </a:pPr>
            <a:r>
              <a:rPr lang="en-US" sz="1200" dirty="0">
                <a:solidFill>
                  <a:srgbClr val="6F7C94"/>
                </a:solidFill>
                <a:latin typeface="Courier New" pitchFamily="34" charset="0"/>
                <a:ea typeface="Courier New" pitchFamily="34" charset="-122"/>
                <a:cs typeface="Courier New" pitchFamily="34" charset="-120"/>
              </a:rPr>
              <a:t>2:10</a:t>
            </a:r>
            <a:endParaRPr lang="en-US" sz="1200" dirty="0"/>
          </a:p>
        </p:txBody>
      </p:sp>
      <p:sp>
        <p:nvSpPr>
          <p:cNvPr id="37" name="Text 34"/>
          <p:cNvSpPr txBox="1"/>
          <p:nvPr/>
        </p:nvSpPr>
        <p:spPr>
          <a:xfrm>
            <a:off x="1417320" y="5303520"/>
            <a:ext cx="4297680" cy="64008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The official artefact: $42.90 said vs $317 on screen, G8 → QA.</a:t>
            </a:r>
            <a:endParaRPr lang="en-US" sz="1200" dirty="0"/>
          </a:p>
        </p:txBody>
      </p:sp>
      <p:sp>
        <p:nvSpPr>
          <p:cNvPr id="38" name="Shape 35"/>
          <p:cNvSpPr/>
          <p:nvPr/>
        </p:nvSpPr>
        <p:spPr>
          <a:xfrm>
            <a:off x="6153912" y="4709160"/>
            <a:ext cx="5440680" cy="1261872"/>
          </a:xfrm>
          <a:prstGeom prst="roundRect">
            <a:avLst>
              <a:gd name="adj" fmla="val 7246"/>
            </a:avLst>
          </a:prstGeom>
          <a:solidFill>
            <a:srgbClr val="141B28"/>
          </a:solidFill>
          <a:ln w="9525">
            <a:solidFill>
              <a:srgbClr val="263248"/>
            </a:solidFill>
            <a:prstDash val="solid"/>
          </a:ln>
        </p:spPr>
        <p:txBody>
          <a:bodyPr/>
          <a:lstStyle/>
          <a:p>
            <a:endParaRPr lang="en-IN"/>
          </a:p>
        </p:txBody>
      </p:sp>
      <p:sp>
        <p:nvSpPr>
          <p:cNvPr id="39" name="Shape 36"/>
          <p:cNvSpPr/>
          <p:nvPr/>
        </p:nvSpPr>
        <p:spPr>
          <a:xfrm>
            <a:off x="6428232" y="4983480"/>
            <a:ext cx="384048" cy="384048"/>
          </a:xfrm>
          <a:prstGeom prst="ellipse">
            <a:avLst/>
          </a:prstGeom>
          <a:solidFill>
            <a:srgbClr val="6AA8FF"/>
          </a:solidFill>
          <a:ln w="12700">
            <a:solidFill>
              <a:srgbClr val="6AA8FF"/>
            </a:solidFill>
            <a:prstDash val="solid"/>
          </a:ln>
        </p:spPr>
        <p:txBody>
          <a:bodyPr/>
          <a:lstStyle/>
          <a:p>
            <a:endParaRPr lang="en-IN"/>
          </a:p>
        </p:txBody>
      </p:sp>
      <p:sp>
        <p:nvSpPr>
          <p:cNvPr id="40" name="Text 37"/>
          <p:cNvSpPr txBox="1"/>
          <p:nvPr/>
        </p:nvSpPr>
        <p:spPr>
          <a:xfrm>
            <a:off x="6428232" y="4983480"/>
            <a:ext cx="384048" cy="384048"/>
          </a:xfrm>
          <a:prstGeom prst="rect">
            <a:avLst/>
          </a:prstGeom>
          <a:noFill/>
          <a:ln/>
        </p:spPr>
        <p:txBody>
          <a:bodyPr wrap="square" lIns="0" tIns="0" rIns="0" bIns="0" rtlCol="0" anchor="ctr"/>
          <a:lstStyle/>
          <a:p>
            <a:pPr marL="0" indent="0" algn="ctr">
              <a:buNone/>
            </a:pPr>
            <a:r>
              <a:rPr lang="en-US" sz="1300" b="1" dirty="0">
                <a:solidFill>
                  <a:srgbClr val="0B0F17"/>
                </a:solidFill>
                <a:latin typeface="Calibri" pitchFamily="34" charset="0"/>
                <a:ea typeface="Calibri" pitchFamily="34" charset="-122"/>
                <a:cs typeface="Calibri" pitchFamily="34" charset="-120"/>
              </a:rPr>
              <a:t>6</a:t>
            </a:r>
            <a:endParaRPr lang="en-US" sz="1300" dirty="0"/>
          </a:p>
        </p:txBody>
      </p:sp>
      <p:sp>
        <p:nvSpPr>
          <p:cNvPr id="41" name="Text 38"/>
          <p:cNvSpPr txBox="1"/>
          <p:nvPr/>
        </p:nvSpPr>
        <p:spPr>
          <a:xfrm>
            <a:off x="7022592" y="4937760"/>
            <a:ext cx="3520440" cy="320040"/>
          </a:xfrm>
          <a:prstGeom prst="rect">
            <a:avLst/>
          </a:prstGeom>
          <a:noFill/>
          <a:ln/>
        </p:spPr>
        <p:txBody>
          <a:bodyPr wrap="square" lIns="0" tIns="0" rIns="0" bIns="0" rtlCol="0" anchor="t"/>
          <a:lstStyle/>
          <a:p>
            <a:pPr marL="0" indent="0">
              <a:buNone/>
            </a:pPr>
            <a:r>
              <a:rPr lang="en-US" sz="1500" b="1" dirty="0">
                <a:solidFill>
                  <a:srgbClr val="E8EDF6"/>
                </a:solidFill>
                <a:latin typeface="Calibri" pitchFamily="34" charset="0"/>
                <a:ea typeface="Calibri" pitchFamily="34" charset="-122"/>
                <a:cs typeface="Calibri" pitchFamily="34" charset="-120"/>
              </a:rPr>
              <a:t>Accuracy</a:t>
            </a:r>
            <a:endParaRPr lang="en-US" sz="1500" dirty="0"/>
          </a:p>
        </p:txBody>
      </p:sp>
      <p:sp>
        <p:nvSpPr>
          <p:cNvPr id="42" name="Text 39"/>
          <p:cNvSpPr txBox="1"/>
          <p:nvPr/>
        </p:nvSpPr>
        <p:spPr>
          <a:xfrm>
            <a:off x="10634472" y="4937760"/>
            <a:ext cx="731520" cy="274320"/>
          </a:xfrm>
          <a:prstGeom prst="rect">
            <a:avLst/>
          </a:prstGeom>
          <a:noFill/>
          <a:ln/>
        </p:spPr>
        <p:txBody>
          <a:bodyPr wrap="square" lIns="0" tIns="0" rIns="0" bIns="0" rtlCol="0" anchor="ctr"/>
          <a:lstStyle/>
          <a:p>
            <a:pPr marL="0" indent="0" algn="r">
              <a:buNone/>
            </a:pPr>
            <a:r>
              <a:rPr lang="en-US" sz="1200" dirty="0">
                <a:solidFill>
                  <a:srgbClr val="6F7C94"/>
                </a:solidFill>
                <a:latin typeface="Courier New" pitchFamily="34" charset="0"/>
                <a:ea typeface="Courier New" pitchFamily="34" charset="-122"/>
                <a:cs typeface="Courier New" pitchFamily="34" charset="-120"/>
              </a:rPr>
              <a:t>2:40</a:t>
            </a:r>
            <a:endParaRPr lang="en-US" sz="1200" dirty="0"/>
          </a:p>
        </p:txBody>
      </p:sp>
      <p:sp>
        <p:nvSpPr>
          <p:cNvPr id="43" name="Text 40"/>
          <p:cNvSpPr txBox="1"/>
          <p:nvPr/>
        </p:nvSpPr>
        <p:spPr>
          <a:xfrm>
            <a:off x="7022592" y="5303520"/>
            <a:ext cx="4297680" cy="640080"/>
          </a:xfrm>
          <a:prstGeom prst="rect">
            <a:avLst/>
          </a:prstGeom>
          <a:noFill/>
          <a:ln/>
        </p:spPr>
        <p:txBody>
          <a:bodyPr wrap="square" lIns="0" tIns="0" rIns="0" bIns="0" rtlCol="0" anchor="t"/>
          <a:lstStyle/>
          <a:p>
            <a:pPr marL="0" indent="0">
              <a:buNone/>
            </a:pPr>
            <a:r>
              <a:rPr lang="en-US" sz="1200" dirty="0">
                <a:solidFill>
                  <a:srgbClr val="A3AEC3"/>
                </a:solidFill>
                <a:latin typeface="Calibri" pitchFamily="34" charset="0"/>
                <a:ea typeface="Calibri" pitchFamily="34" charset="-122"/>
                <a:cs typeface="Calibri" pitchFamily="34" charset="-120"/>
              </a:rPr>
              <a:t>0 critical false passes, κ 1.0 — on reference and real audio.</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2743200" cy="228600"/>
          </a:xfrm>
          <a:prstGeom prst="rect">
            <a:avLst/>
          </a:prstGeom>
          <a:noFill/>
          <a:ln/>
        </p:spPr>
        <p:txBody>
          <a:bodyPr wrap="square" lIns="0" tIns="0" rIns="0" bIns="0" rtlCol="0" anchor="ctr"/>
          <a:lstStyle/>
          <a:p>
            <a:pPr marL="0" indent="0">
              <a:buNone/>
            </a:pPr>
            <a:r>
              <a:rPr lang="en-US" sz="900" dirty="0">
                <a:solidFill>
                  <a:srgbClr val="6F7C94"/>
                </a:solidFill>
                <a:latin typeface="Calibri" pitchFamily="34" charset="0"/>
                <a:ea typeface="Calibri" pitchFamily="34" charset="-122"/>
                <a:cs typeface="Calibri" pitchFamily="34" charset="-120"/>
              </a:rPr>
              <a:t>CIMET QA Gate</a:t>
            </a:r>
            <a:endParaRPr lang="en-US" sz="9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marL="0" indent="0" algn="r">
              <a:buNone/>
            </a:pPr>
            <a:r>
              <a:rPr lang="en-US" sz="900" dirty="0">
                <a:solidFill>
                  <a:srgbClr val="6F7C94"/>
                </a:solidFill>
                <a:latin typeface="Calibri" pitchFamily="34" charset="0"/>
                <a:ea typeface="Calibri" pitchFamily="34" charset="-122"/>
                <a:cs typeface="Calibri" pitchFamily="34" charset="-120"/>
              </a:rPr>
              <a:t>31</a:t>
            </a:r>
            <a:endParaRPr lang="en-US" sz="900" dirty="0"/>
          </a:p>
        </p:txBody>
      </p:sp>
      <p:sp>
        <p:nvSpPr>
          <p:cNvPr id="5" name="Text 2"/>
          <p:cNvSpPr txBox="1"/>
          <p:nvPr/>
        </p:nvSpPr>
        <p:spPr>
          <a:xfrm>
            <a:off x="548640" y="1828800"/>
            <a:ext cx="7315200" cy="320040"/>
          </a:xfrm>
          <a:prstGeom prst="rect">
            <a:avLst/>
          </a:prstGeom>
          <a:noFill/>
          <a:ln/>
        </p:spPr>
        <p:txBody>
          <a:bodyPr wrap="square" lIns="0" tIns="0" rIns="0" bIns="0" rtlCol="0" anchor="ctr"/>
          <a:lstStyle/>
          <a:p>
            <a:pPr marL="0" indent="0">
              <a:buNone/>
            </a:pPr>
            <a:r>
              <a:rPr lang="en-US" sz="1300" b="1" kern="0" spc="300" dirty="0">
                <a:solidFill>
                  <a:srgbClr val="6AA8FF"/>
                </a:solidFill>
                <a:latin typeface="Calibri" pitchFamily="34" charset="0"/>
                <a:ea typeface="Calibri" pitchFamily="34" charset="-122"/>
                <a:cs typeface="Calibri" pitchFamily="34" charset="-120"/>
              </a:rPr>
              <a:t>THE ASK, ONE MORE TIME</a:t>
            </a:r>
            <a:endParaRPr lang="en-US" sz="1300" dirty="0"/>
          </a:p>
        </p:txBody>
      </p:sp>
      <p:sp>
        <p:nvSpPr>
          <p:cNvPr id="6" name="Text 3"/>
          <p:cNvSpPr txBox="1"/>
          <p:nvPr/>
        </p:nvSpPr>
        <p:spPr>
          <a:xfrm>
            <a:off x="548640" y="2286000"/>
            <a:ext cx="10972800" cy="1005840"/>
          </a:xfrm>
          <a:prstGeom prst="rect">
            <a:avLst/>
          </a:prstGeom>
          <a:noFill/>
          <a:ln/>
        </p:spPr>
        <p:txBody>
          <a:bodyPr wrap="square" lIns="0" tIns="0" rIns="0" bIns="0" rtlCol="0" anchor="ctr"/>
          <a:lstStyle/>
          <a:p>
            <a:pPr marL="0" indent="0">
              <a:buNone/>
            </a:pPr>
            <a:r>
              <a:rPr lang="en-US" sz="5400" b="1" dirty="0">
                <a:solidFill>
                  <a:srgbClr val="F87171"/>
                </a:solidFill>
                <a:latin typeface="Calibri" pitchFamily="34" charset="0"/>
                <a:ea typeface="Calibri" pitchFamily="34" charset="-122"/>
                <a:cs typeface="Calibri" pitchFamily="34" charset="-120"/>
              </a:rPr>
              <a:t>No sale ships unscored.</a:t>
            </a:r>
            <a:endParaRPr lang="en-US" sz="5400" dirty="0"/>
          </a:p>
        </p:txBody>
      </p:sp>
      <p:sp>
        <p:nvSpPr>
          <p:cNvPr id="7" name="Text 4"/>
          <p:cNvSpPr txBox="1"/>
          <p:nvPr/>
        </p:nvSpPr>
        <p:spPr>
          <a:xfrm>
            <a:off x="548640" y="3337560"/>
            <a:ext cx="10972800" cy="731520"/>
          </a:xfrm>
          <a:prstGeom prst="rect">
            <a:avLst/>
          </a:prstGeom>
          <a:noFill/>
          <a:ln/>
        </p:spPr>
        <p:txBody>
          <a:bodyPr wrap="square" lIns="0" tIns="0" rIns="0" bIns="0" rtlCol="0" anchor="ctr"/>
          <a:lstStyle/>
          <a:p>
            <a:pPr marL="0" indent="0">
              <a:buNone/>
            </a:pPr>
            <a:r>
              <a:rPr lang="en-US" sz="3000" b="1" dirty="0">
                <a:solidFill>
                  <a:srgbClr val="E8EDF6"/>
                </a:solidFill>
                <a:latin typeface="Calibri" pitchFamily="34" charset="0"/>
                <a:ea typeface="Calibri" pitchFamily="34" charset="-122"/>
                <a:cs typeface="Calibri" pitchFamily="34" charset="-120"/>
              </a:rPr>
              <a:t>Then explain exactly why, in seconds — not minutes.</a:t>
            </a:r>
            <a:endParaRPr lang="en-US" sz="3000" dirty="0"/>
          </a:p>
        </p:txBody>
      </p:sp>
      <p:sp>
        <p:nvSpPr>
          <p:cNvPr id="8" name="Shape 5"/>
          <p:cNvSpPr/>
          <p:nvPr/>
        </p:nvSpPr>
        <p:spPr>
          <a:xfrm>
            <a:off x="548640" y="4434840"/>
            <a:ext cx="1417320" cy="274320"/>
          </a:xfrm>
          <a:prstGeom prst="roundRect">
            <a:avLst>
              <a:gd name="adj" fmla="val 50000"/>
            </a:avLst>
          </a:prstGeom>
          <a:solidFill>
            <a:srgbClr val="F87171">
              <a:alpha val="18000"/>
            </a:srgbClr>
          </a:solidFill>
          <a:ln w="9525">
            <a:solidFill>
              <a:srgbClr val="F87171"/>
            </a:solidFill>
            <a:prstDash val="solid"/>
          </a:ln>
        </p:spPr>
        <p:txBody>
          <a:bodyPr/>
          <a:lstStyle/>
          <a:p>
            <a:endParaRPr lang="en-IN"/>
          </a:p>
        </p:txBody>
      </p:sp>
      <p:sp>
        <p:nvSpPr>
          <p:cNvPr id="9" name="Text 6"/>
          <p:cNvSpPr txBox="1"/>
          <p:nvPr/>
        </p:nvSpPr>
        <p:spPr>
          <a:xfrm>
            <a:off x="548640" y="4434840"/>
            <a:ext cx="1417320" cy="274320"/>
          </a:xfrm>
          <a:prstGeom prst="rect">
            <a:avLst/>
          </a:prstGeom>
          <a:noFill/>
          <a:ln/>
        </p:spPr>
        <p:txBody>
          <a:bodyPr wrap="square" lIns="0" tIns="0" rIns="0" bIns="0"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HELD</a:t>
            </a:r>
            <a:endParaRPr lang="en-US" sz="1050" dirty="0"/>
          </a:p>
        </p:txBody>
      </p:sp>
      <p:sp>
        <p:nvSpPr>
          <p:cNvPr id="10" name="Shape 7"/>
          <p:cNvSpPr/>
          <p:nvPr/>
        </p:nvSpPr>
        <p:spPr>
          <a:xfrm>
            <a:off x="2148840" y="4434840"/>
            <a:ext cx="1417320" cy="274320"/>
          </a:xfrm>
          <a:prstGeom prst="roundRect">
            <a:avLst>
              <a:gd name="adj" fmla="val 50000"/>
            </a:avLst>
          </a:prstGeom>
          <a:solidFill>
            <a:srgbClr val="FBBF24">
              <a:alpha val="18000"/>
            </a:srgbClr>
          </a:solidFill>
          <a:ln w="9525">
            <a:solidFill>
              <a:srgbClr val="FBBF24"/>
            </a:solidFill>
            <a:prstDash val="solid"/>
          </a:ln>
        </p:spPr>
        <p:txBody>
          <a:bodyPr/>
          <a:lstStyle/>
          <a:p>
            <a:endParaRPr lang="en-IN"/>
          </a:p>
        </p:txBody>
      </p:sp>
      <p:sp>
        <p:nvSpPr>
          <p:cNvPr id="11" name="Text 8"/>
          <p:cNvSpPr txBox="1"/>
          <p:nvPr/>
        </p:nvSpPr>
        <p:spPr>
          <a:xfrm>
            <a:off x="2148840" y="4434840"/>
            <a:ext cx="1417320" cy="274320"/>
          </a:xfrm>
          <a:prstGeom prst="rect">
            <a:avLst/>
          </a:prstGeom>
          <a:noFill/>
          <a:ln/>
        </p:spPr>
        <p:txBody>
          <a:bodyPr wrap="square" lIns="0" tIns="0" rIns="0" bIns="0"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QA</a:t>
            </a:r>
            <a:endParaRPr lang="en-US" sz="1050" dirty="0"/>
          </a:p>
        </p:txBody>
      </p:sp>
      <p:sp>
        <p:nvSpPr>
          <p:cNvPr id="12" name="Shape 9"/>
          <p:cNvSpPr/>
          <p:nvPr/>
        </p:nvSpPr>
        <p:spPr>
          <a:xfrm>
            <a:off x="3749040" y="4434840"/>
            <a:ext cx="1417320" cy="274320"/>
          </a:xfrm>
          <a:prstGeom prst="roundRect">
            <a:avLst>
              <a:gd name="adj" fmla="val 50000"/>
            </a:avLst>
          </a:prstGeom>
          <a:solidFill>
            <a:srgbClr val="34D399">
              <a:alpha val="18000"/>
            </a:srgbClr>
          </a:solidFill>
          <a:ln w="9525">
            <a:solidFill>
              <a:srgbClr val="34D399"/>
            </a:solidFill>
            <a:prstDash val="solid"/>
          </a:ln>
        </p:spPr>
        <p:txBody>
          <a:bodyPr/>
          <a:lstStyle/>
          <a:p>
            <a:endParaRPr lang="en-IN"/>
          </a:p>
        </p:txBody>
      </p:sp>
      <p:sp>
        <p:nvSpPr>
          <p:cNvPr id="13" name="Text 10"/>
          <p:cNvSpPr txBox="1"/>
          <p:nvPr/>
        </p:nvSpPr>
        <p:spPr>
          <a:xfrm>
            <a:off x="3749040" y="4434840"/>
            <a:ext cx="1417320" cy="274320"/>
          </a:xfrm>
          <a:prstGeom prst="rect">
            <a:avLst/>
          </a:prstGeom>
          <a:noFill/>
          <a:ln/>
        </p:spPr>
        <p:txBody>
          <a:bodyPr wrap="square" lIns="0" tIns="0" rIns="0" bIns="0"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SUBMITTED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7200</Words>
  <Application>Microsoft Office PowerPoint</Application>
  <PresentationFormat>Widescreen</PresentationFormat>
  <Paragraphs>726</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Webneco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CIMET QA Gate</dc:title>
  <dc:subject>PptxGenJS Presentation</dc:subject>
  <dc:creator>PptxGenJS</dc:creator>
  <cp:lastModifiedBy>Aditya</cp:lastModifiedBy>
  <cp:revision>2</cp:revision>
  <dcterms:created xsi:type="dcterms:W3CDTF">2026-09-19T09:07:05Z</dcterms:created>
  <dcterms:modified xsi:type="dcterms:W3CDTF">2026-09-19T09:10:54Z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2026-09-19T09:10:51Z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1d66a3df-565c-4207-95fc-5e0dd26269d3</vt:lpwstr>
  </property>
  <property fmtid="{D5CDD505-2E9C-101B-9397-08002B2CF9AE}" pid="7" name="MSIP_Label_defa4170-0d19-0005-0004-bc88714345d2_ActionId">
    <vt:lpwstr>274b9753-c194-4e32-873a-d021c3a0fe4b</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